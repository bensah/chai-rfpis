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Lst>
  <p:notesMasterIdLst>
    <p:notesMasterId r:id="rId2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613533c3-e9ac-2197-00ab-ba2c306a6bac}">
          <p14:sldIdLst>
            <p14:sldId id="256"/>
            <p14:sldId id="257"/>
          </p14:sldIdLst>
        </p14:section>
        <p14:section name="How RFPIS works" id="{b9b72414-4e5f-ca22-2ab9-5d4013e90325}">
          <p14:sldIdLst>
            <p14:sldId id="258"/>
            <p14:sldId id="259"/>
            <p14:sldId id="260"/>
            <p14:sldId id="261"/>
          </p14:sldIdLst>
        </p14:section>
        <p14:section name="Getting started" id="{51209560-cbcf-60cd-2563-d60ccf95884e}">
          <p14:sldIdLst>
            <p14:sldId id="262"/>
            <p14:sldId id="263"/>
            <p14:sldId id="264"/>
            <p14:sldId id="265"/>
          </p14:sldIdLst>
        </p14:section>
        <p14:section name="Screening &amp; decisions" id="{9a442cf3-d746-4a5b-83ba-011fde45fccf}">
          <p14:sldIdLst>
            <p14:sldId id="266"/>
            <p14:sldId id="267"/>
            <p14:sldId id="268"/>
            <p14:sldId id="269"/>
            <p14:sldId id="270"/>
          </p14:sldIdLst>
        </p14:section>
        <p14:section name="Finding more" id="{21290829-973f-6a1b-5c60-ce321d807999}">
          <p14:sldIdLst>
            <p14:sldId id="271"/>
            <p14:sldId id="272"/>
            <p14:sldId id="273"/>
          </p14:sldIdLst>
        </p14:section>
        <p14:section name="Team meetings" id="{90e7ba4a-498c-9475-9b2a-05e532595a62}">
          <p14:sldIdLst>
            <p14:sldId id="274"/>
            <p14:sldId id="275"/>
            <p14:sldId id="276"/>
            <p14:sldId id="277"/>
          </p14:sldIdLst>
        </p14:section>
        <p14:section name="Reports &amp; help" id="{faee17b6-3bf2-8f46-8a3a-26fafe4012f5}">
          <p14:sldIdLst>
            <p14:sldId id="278"/>
            <p14:sldId id="279"/>
            <p14:sldId id="280"/>
            <p14:sldId id="281"/>
            <p14:sldId id="28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notesMaster" Target="notesMasters/notesMaster1.xml"/><Relationship Id="rId30" Type="http://schemas.openxmlformats.org/officeDocument/2006/relationships/presProps" Target="presProps.xml"/><Relationship Id="rId31" Type="http://schemas.openxmlformats.org/officeDocument/2006/relationships/viewProps" Target="viewProps.xml"/><Relationship Id="rId32" Type="http://schemas.openxmlformats.org/officeDocument/2006/relationships/theme" Target="theme/theme1.xml"/><Relationship Id="rId3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This session takes about 45 minutes. By the end everyone should be able to run the Eligibility Scan, update a decision, search, submit an RFP the scan missed, and capture meeting notes and actions. The full user manual is under Help in the app.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parts. The two the team will use most are Screening &amp; decisions, and Team meetings.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separate jobs. Collecting is done for us: the Super User runs a separate extraction elsewhere, and the Friday cron at 06:00 UTC crawls again. When raw records are ready you get alerted in the bell (and the admin may email). Then it's on us to run the Eligibility Scan.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Anchor the week: Friday scan, weekend screening and submissions, Monday team call, mid-week follow-through.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 of the team are Contributors or Reviewers. Important: adding meeting notes needs Reviewer or above. If you are the note-taker and the Add a note button is grey, ask an admin.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Nobody signs themselves up — admins create accounts and RFPIS emails the invitation. A session lasts about 8 hours.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Click the double-arrow at the top of the sidebar to expand labels. Most pages have tabs along the top — that's where the detail lives.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how you know raw records are ready. Your administrator may also email the team.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Any team member can run this. It doesn't crawl the web — it screens the shared store of raw records against our organisation's eligibility rules. The full Extraction is different: it takes 20-40 minutes and only the Super User runs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what the chair puts on screen at the start of the Monday call.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 scored” means the call said nothing — it takes the Park midpoint instead of counting against us. A fatal gate is a structural ineligibility that can't be fixed before the deadline.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team member can update a decision. Deleting an RFP is admin-only — decline it instead.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Search first before submitting anything — it may already be in RFPIS.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calls forwarded by colleagues or published on a partner's microsite. It goes straight into our pipeline, tagged to this review week, and joins the shared pool for everyone else.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rota (note-taker, presenter, chair) is set in Actions → Schedule and shows in the bell.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Saved notes can't be edited here; an admin can fix them under Settings → Records → Data → Meeting Logs.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Anyone can log engagements and resolve pending items.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address bar holds a shareable link after Generate report. The first PDF after a restart can take a couple of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everyone at Help. The manual covers every page step by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Hands-on. Walk the room. Don't save decisions on real RFPs unless the team agreed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Questions. Remind everyone where the manual 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_TITLE">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148840"/>
            <a:ext cx="8412480" cy="1371600"/>
          </a:xfrm>
          <a:prstGeom prst="rect">
            <a:avLst/>
          </a:prstGeom>
          <a:noFill/>
          <a:ln/>
        </p:spPr>
        <p:txBody>
          <a:bodyPr wrap="square" rtlCol="0"/>
          <a:lstStyle>
            <a:lvl1pPr algn="l" indent="0" marL="0">
              <a:buNone/>
              <a:defRPr lang="en-US" sz="4800" b="1" dirty="0">
                <a:solidFill>
                  <a:schemeClr val="bg1"/>
                </a:solidFill>
              </a:defRPr>
            </a:lvl1pPr>
          </a:lstStyle>
          <a:p>
            <a:pPr algn="l" indent="0" marL="0">
              <a:buNone/>
            </a:pPr>
            <a:r>
              <a:rPr lang="en-US" sz="4800" b="1" dirty="0">
                <a:solidFill>
                  <a:schemeClr val="bg1"/>
                </a:solidFill>
              </a:rPr>
              <a:t>Title</a:t>
            </a:r>
            <a:endParaRPr lang="en-US" sz="4800" dirty="0"/>
          </a:p>
        </p:txBody>
      </p:sp>
      <p:sp>
        <p:nvSpPr>
          <p:cNvPr id="3" name="Text 0"/>
          <p:cNvSpPr/>
          <p:nvPr>
            <p:ph idx="101" type="body" hasCustomPrompt="1"/>
          </p:nvPr>
        </p:nvSpPr>
        <p:spPr>
          <a:xfrm>
            <a:off x="731520" y="3657600"/>
            <a:ext cx="8412480" cy="1280160"/>
          </a:xfrm>
          <a:prstGeom prst="rect">
            <a:avLst/>
          </a:prstGeom>
          <a:noFill/>
          <a:ln/>
        </p:spPr>
        <p:txBody>
          <a:bodyPr wrap="square" rtlCol="0"/>
          <a:lstStyle>
            <a:lvl1pPr algn="l" indent="0" marL="0">
              <a:buNone/>
              <a:defRPr lang="en-US" sz="2000" dirty="0">
                <a:solidFill>
                  <a:schemeClr val="accent6"/>
                </a:solidFill>
              </a:defRPr>
            </a:lvl1pPr>
          </a:lstStyle>
          <a:p>
            <a:pPr algn="l" indent="0" marL="0">
              <a:buNone/>
            </a:pPr>
            <a:r>
              <a:rPr lang="en-US" sz="2000" dirty="0">
                <a:solidFill>
                  <a:schemeClr val="accent6"/>
                </a:solidFill>
              </a:rPr>
              <a:t>Subtitle</a:t>
            </a: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solidFill>
          <a:schemeClr val="accent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651760"/>
            <a:ext cx="10515600" cy="109728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r>
              <a:rPr lang="en-US" sz="4000" b="1" dirty="0">
                <a:solidFill>
                  <a:schemeClr val="bg1"/>
                </a:solidFill>
              </a:rPr>
              <a:t>Section</a:t>
            </a:r>
            <a:endParaRPr lang="en-US" sz="4000" dirty="0"/>
          </a:p>
        </p:txBody>
      </p:sp>
      <p:sp>
        <p:nvSpPr>
          <p:cNvPr id="3" name="Text 0"/>
          <p:cNvSpPr/>
          <p:nvPr>
            <p:ph idx="101" type="body" hasCustomPrompt="1"/>
          </p:nvPr>
        </p:nvSpPr>
        <p:spPr>
          <a:xfrm>
            <a:off x="731520" y="3794760"/>
            <a:ext cx="10515600" cy="822960"/>
          </a:xfrm>
          <a:prstGeom prst="rect">
            <a:avLst/>
          </a:prstGeom>
          <a:noFill/>
          <a:ln/>
        </p:spPr>
        <p:txBody>
          <a:bodyPr wrap="square" rtlCol="0"/>
          <a:lstStyle>
            <a:lvl1pPr algn="l" indent="0" marL="0">
              <a:buNone/>
              <a:defRPr lang="en-US" sz="2000" dirty="0">
                <a:solidFill>
                  <a:schemeClr val="bg1"/>
                </a:solidFill>
              </a:defRPr>
            </a:lvl1pPr>
          </a:lstStyle>
          <a:p>
            <a:pPr algn="l" indent="0" marL="0">
              <a:buNone/>
            </a:pPr>
            <a:r>
              <a:rPr lang="en-US" sz="2000" dirty="0">
                <a:solidFill>
                  <a:schemeClr val="bg1"/>
                </a:solidFill>
              </a:rPr>
              <a:t>What this part covers</a:t>
            </a:r>
            <a:endParaRPr lang="en-US" sz="20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lstStyle>
            <a:lvl1pPr algn="l" indent="0" marL="0">
              <a:buNone/>
              <a:defRPr lang="en-US" sz="3200" b="1" dirty="0">
                <a:solidFill>
                  <a:schemeClr val="tx2"/>
                </a:solidFill>
              </a:defRPr>
            </a:lvl1pPr>
          </a:lstStyle>
          <a:p>
            <a:pPr algn="l" indent="0" marL="0">
              <a:buNone/>
            </a:pPr>
            <a:r>
              <a:rPr lang="en-US" sz="3200" b="1" dirty="0">
                <a:solidFill>
                  <a:schemeClr val="tx2"/>
                </a:solidFill>
              </a:rPr>
              <a:t>Title</a:t>
            </a:r>
            <a:endParaRPr lang="en-US" sz="3200" dirty="0"/>
          </a:p>
        </p:txBody>
      </p:sp>
      <p:sp>
        <p:nvSpPr>
          <p:cNvPr id="3" name="Text 0"/>
          <p:cNvSpPr/>
          <p:nvPr/>
        </p:nvSpPr>
        <p:spPr>
          <a:xfrm>
            <a:off x="548640" y="6400800"/>
            <a:ext cx="4572000" cy="274320"/>
          </a:xfrm>
          <a:prstGeom prst="rect">
            <a:avLst/>
          </a:prstGeom>
          <a:noFill/>
          <a:ln/>
        </p:spPr>
        <p:txBody>
          <a:bodyPr wrap="square" lIns="0" tIns="0" rIns="0" bIns="0" rtlCol="0" anchor="ctr"/>
          <a:lstStyle/>
          <a:p>
            <a:pPr indent="0" marL="0">
              <a:buNone/>
            </a:pPr>
            <a:r>
              <a:rPr lang="en-US" sz="1000" dirty="0">
                <a:solidFill>
                  <a:srgbClr val="8A94A3"/>
                </a:solidFill>
              </a:rPr>
              <a:t>RFPIS · Team training</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slideLayout" Target="../slideLayouts/slideLayout4.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slideLayout" Target="../slideLayouts/slideLayout4.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slideLayout" Target="../slideLayouts/slideLayout4.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slideLayout" Target="../slideLayouts/slideLayout4.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g"/><Relationship Id="rId2" Type="http://schemas.openxmlformats.org/officeDocument/2006/relationships/slideLayout" Target="../slideLayouts/slideLayout4.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jpg"/><Relationship Id="rId2" Type="http://schemas.openxmlformats.org/officeDocument/2006/relationships/slideLayout" Target="../slideLayouts/slideLayout4.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jpg"/><Relationship Id="rId2" Type="http://schemas.openxmlformats.org/officeDocument/2006/relationships/slideLayout" Target="../slideLayouts/slideLayout4.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g"/><Relationship Id="rId2" Type="http://schemas.openxmlformats.org/officeDocument/2006/relationships/slideLayout" Target="../slideLayouts/slideLayout4.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jpg"/><Relationship Id="rId2" Type="http://schemas.openxmlformats.org/officeDocument/2006/relationships/slideLayout" Target="../slideLayouts/slideLayout4.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g"/><Relationship Id="rId2" Type="http://schemas.openxmlformats.org/officeDocument/2006/relationships/slideLayout" Target="../slideLayouts/slideLayout4.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g"/><Relationship Id="rId2" Type="http://schemas.openxmlformats.org/officeDocument/2006/relationships/image" Target="../media/image-22-2.jpg"/><Relationship Id="rId3" Type="http://schemas.openxmlformats.org/officeDocument/2006/relationships/slideLayout" Target="../slideLayouts/slideLayout4.xml"/><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jpg"/><Relationship Id="rId2" Type="http://schemas.openxmlformats.org/officeDocument/2006/relationships/slideLayout" Target="../slideLayouts/slideLayout4.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slideLayout" Target="../slideLayouts/slideLayout4.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2148840"/>
            <a:ext cx="8412480" cy="1371600"/>
          </a:xfrm>
          <a:prstGeom prst="rect">
            <a:avLst/>
          </a:prstGeom>
          <a:noFill/>
          <a:ln/>
        </p:spPr>
        <p:txBody>
          <a:bodyPr wrap="square" lIns="0" tIns="0" rIns="0" bIns="0" rtlCol="0" anchor="b"/>
          <a:lstStyle/>
          <a:p>
            <a:pPr algn="l" indent="0" marL="0">
              <a:buNone/>
            </a:pPr>
            <a:r>
              <a:rPr lang="en-US" sz="4800" b="1" dirty="0">
                <a:solidFill>
                  <a:schemeClr val="bg1"/>
                </a:solidFill>
              </a:rPr>
              <a:t>RFPIS Team Training</a:t>
            </a:r>
            <a:endParaRPr lang="en-US" sz="4800" dirty="0"/>
          </a:p>
        </p:txBody>
      </p:sp>
      <p:sp>
        <p:nvSpPr>
          <p:cNvPr id="3" name="Text 0"/>
          <p:cNvSpPr/>
          <p:nvPr>
            <p:ph idx="101" type="body" hasCustomPrompt="1"/>
          </p:nvPr>
        </p:nvSpPr>
        <p:spPr>
          <a:xfrm>
            <a:off x="731520" y="3657600"/>
            <a:ext cx="8412480" cy="1280160"/>
          </a:xfrm>
          <a:prstGeom prst="rect">
            <a:avLst/>
          </a:prstGeom>
          <a:noFill/>
          <a:ln/>
        </p:spPr>
        <p:txBody>
          <a:bodyPr wrap="square" lIns="0" tIns="0" rIns="0" bIns="0" rtlCol="0" anchor="t"/>
          <a:lstStyle/>
          <a:p>
            <a:pPr algn="l" indent="0" marL="0">
              <a:buNone/>
            </a:pPr>
            <a:r>
              <a:rPr lang="en-US" sz="2000" dirty="0">
                <a:solidFill>
                  <a:schemeClr val="accent6"/>
                </a:solidFill>
              </a:rPr>
              <a:t>Find, screen and decide on funding opportunities — together, every week.</a:t>
            </a:r>
            <a:endParaRPr lang="en-US" sz="2000" dirty="0"/>
          </a:p>
        </p:txBody>
      </p:sp>
      <p:sp>
        <p:nvSpPr>
          <p:cNvPr id="4" name="ring-0"/>
          <p:cNvSpPr/>
          <p:nvPr/>
        </p:nvSpPr>
        <p:spPr>
          <a:xfrm>
            <a:off x="8229600" y="548640"/>
            <a:ext cx="2926080" cy="2926080"/>
          </a:xfrm>
          <a:prstGeom prst="ellipse">
            <a:avLst/>
          </a:prstGeom>
          <a:ln w="19050">
            <a:solidFill>
              <a:schemeClr val="accent6">
                <a:alpha val="60000"/>
              </a:schemeClr>
            </a:solidFill>
            <a:prstDash val="solid"/>
          </a:ln>
        </p:spPr>
      </p:sp>
      <p:sp>
        <p:nvSpPr>
          <p:cNvPr id="5" name="ring-1"/>
          <p:cNvSpPr/>
          <p:nvPr/>
        </p:nvSpPr>
        <p:spPr>
          <a:xfrm>
            <a:off x="8595360" y="914400"/>
            <a:ext cx="2194560" cy="2194560"/>
          </a:xfrm>
          <a:prstGeom prst="ellipse">
            <a:avLst/>
          </a:prstGeom>
          <a:ln w="19050">
            <a:solidFill>
              <a:schemeClr val="accent6">
                <a:alpha val="50000"/>
              </a:schemeClr>
            </a:solidFill>
            <a:prstDash val="solid"/>
          </a:ln>
        </p:spPr>
      </p:sp>
      <p:sp>
        <p:nvSpPr>
          <p:cNvPr id="6" name="ring-2"/>
          <p:cNvSpPr/>
          <p:nvPr/>
        </p:nvSpPr>
        <p:spPr>
          <a:xfrm>
            <a:off x="8961120" y="1280160"/>
            <a:ext cx="1463040" cy="1463040"/>
          </a:xfrm>
          <a:prstGeom prst="ellipse">
            <a:avLst/>
          </a:prstGeom>
          <a:ln w="19050">
            <a:solidFill>
              <a:schemeClr val="accent6">
                <a:alpha val="40000"/>
              </a:schemeClr>
            </a:solidFill>
            <a:prstDash val="solid"/>
          </a:ln>
        </p:spPr>
      </p:sp>
      <p:sp>
        <p:nvSpPr>
          <p:cNvPr id="7" name="ring-core"/>
          <p:cNvSpPr/>
          <p:nvPr/>
        </p:nvSpPr>
        <p:spPr>
          <a:xfrm>
            <a:off x="9326880" y="1645920"/>
            <a:ext cx="731520" cy="731520"/>
          </a:xfrm>
          <a:prstGeom prst="ellipse">
            <a:avLst/>
          </a:prstGeom>
          <a:solidFill>
            <a:schemeClr val="accent6">
              <a:alpha val="80000"/>
            </a:schemeClr>
          </a:solidFill>
          <a:ln w="12700">
            <a:solidFill>
              <a:schemeClr val="accent6">
                <a:alpha val="80000"/>
              </a:schemeClr>
            </a:solidFill>
            <a:prstDash val="solid"/>
          </a:ln>
        </p:spPr>
      </p:sp>
      <p:sp>
        <p:nvSpPr>
          <p:cNvPr id="8" name="Text 6"/>
          <p:cNvSpPr txBox="1"/>
          <p:nvPr/>
        </p:nvSpPr>
        <p:spPr>
          <a:xfrm>
            <a:off x="731520" y="5852160"/>
            <a:ext cx="7315200" cy="365760"/>
          </a:xfrm>
          <a:prstGeom prst="rect">
            <a:avLst/>
          </a:prstGeom>
          <a:noFill/>
          <a:ln/>
        </p:spPr>
        <p:txBody>
          <a:bodyPr wrap="square" lIns="0" tIns="0" rIns="0" bIns="0" rtlCol="0" anchor="ctr"/>
          <a:lstStyle/>
          <a:p>
            <a:pPr indent="0" marL="0">
              <a:buNone/>
            </a:pPr>
            <a:r>
              <a:rPr lang="en-US" sz="1400" b="1" spc="200" kern="0" dirty="0">
                <a:solidFill>
                  <a:schemeClr val="accent6"/>
                </a:solidFill>
              </a:rPr>
              <a:t>RFPIS · RFP Intelligence System</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rPr>
              <a:t>What we'll cover today</a:t>
            </a:r>
            <a:endParaRPr lang="en-US" sz="3200" dirty="0"/>
          </a:p>
        </p:txBody>
      </p:sp>
      <p:sp>
        <p:nvSpPr>
          <p:cNvPr id="3" name="agenda-1"/>
          <p:cNvSpPr/>
          <p:nvPr/>
        </p:nvSpPr>
        <p:spPr>
          <a:xfrm>
            <a:off x="548640" y="1417320"/>
            <a:ext cx="3474720" cy="2103120"/>
          </a:xfrm>
          <a:prstGeom prst="roundRect">
            <a:avLst>
              <a:gd name="adj" fmla="val 5217"/>
            </a:avLst>
          </a:prstGeom>
          <a:solidFill>
            <a:schemeClr val="bg2"/>
          </a:solidFill>
          <a:ln w="12700">
            <a:solidFill>
              <a:srgbClr val="E3E7EC"/>
            </a:solidFill>
            <a:prstDash val="solid"/>
          </a:ln>
        </p:spPr>
      </p:sp>
      <p:sp>
        <p:nvSpPr>
          <p:cNvPr id="4" name="Shape 2"/>
          <p:cNvSpPr/>
          <p:nvPr/>
        </p:nvSpPr>
        <p:spPr>
          <a:xfrm>
            <a:off x="777240" y="1645920"/>
            <a:ext cx="502920" cy="502920"/>
          </a:xfrm>
          <a:prstGeom prst="ellipse">
            <a:avLst/>
          </a:prstGeom>
          <a:solidFill>
            <a:schemeClr val="accent1"/>
          </a:solidFill>
          <a:ln w="12700">
            <a:solidFill>
              <a:schemeClr val="accent1"/>
            </a:solidFill>
            <a:prstDash val="solid"/>
          </a:ln>
        </p:spPr>
      </p:sp>
      <p:sp>
        <p:nvSpPr>
          <p:cNvPr id="5" name="Text 3"/>
          <p:cNvSpPr txBox="1"/>
          <p:nvPr/>
        </p:nvSpPr>
        <p:spPr>
          <a:xfrm>
            <a:off x="777240" y="1645920"/>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6" name="Text 4"/>
          <p:cNvSpPr txBox="1"/>
          <p:nvPr/>
        </p:nvSpPr>
        <p:spPr>
          <a:xfrm>
            <a:off x="777240" y="2286000"/>
            <a:ext cx="3017520" cy="411480"/>
          </a:xfrm>
          <a:prstGeom prst="rect">
            <a:avLst/>
          </a:prstGeom>
          <a:noFill/>
          <a:ln/>
        </p:spPr>
        <p:txBody>
          <a:bodyPr wrap="square" lIns="0" tIns="0" rIns="0" bIns="0" rtlCol="0" anchor="ctr"/>
          <a:lstStyle/>
          <a:p>
            <a:pPr indent="0" marL="0">
              <a:buNone/>
            </a:pPr>
            <a:r>
              <a:rPr lang="en-US" sz="1900" b="1" dirty="0">
                <a:solidFill>
                  <a:schemeClr val="tx2"/>
                </a:solidFill>
              </a:rPr>
              <a:t>How RFPIS works</a:t>
            </a:r>
            <a:endParaRPr lang="en-US" sz="1900" dirty="0"/>
          </a:p>
        </p:txBody>
      </p:sp>
      <p:sp>
        <p:nvSpPr>
          <p:cNvPr id="7" name="Text 5"/>
          <p:cNvSpPr txBox="1"/>
          <p:nvPr/>
        </p:nvSpPr>
        <p:spPr>
          <a:xfrm>
            <a:off x="777240" y="2697480"/>
            <a:ext cx="3017520" cy="685800"/>
          </a:xfrm>
          <a:prstGeom prst="rect">
            <a:avLst/>
          </a:prstGeom>
          <a:noFill/>
          <a:ln/>
        </p:spPr>
        <p:txBody>
          <a:bodyPr wrap="square" lIns="0" tIns="0" rIns="0" bIns="0" rtlCol="0" anchor="t"/>
          <a:lstStyle/>
          <a:p>
            <a:pPr indent="0" marL="0">
              <a:buNone/>
            </a:pPr>
            <a:r>
              <a:rPr lang="en-US" sz="1400" dirty="0">
                <a:solidFill>
                  <a:srgbClr val="5B6573"/>
                </a:solidFill>
              </a:rPr>
              <a:t>Where opportunities come from, and your part in it</a:t>
            </a:r>
            <a:endParaRPr lang="en-US" sz="1400" dirty="0"/>
          </a:p>
        </p:txBody>
      </p:sp>
      <p:sp>
        <p:nvSpPr>
          <p:cNvPr id="8" name="agenda-2"/>
          <p:cNvSpPr/>
          <p:nvPr/>
        </p:nvSpPr>
        <p:spPr>
          <a:xfrm>
            <a:off x="4297680" y="1417320"/>
            <a:ext cx="3474720" cy="2103120"/>
          </a:xfrm>
          <a:prstGeom prst="roundRect">
            <a:avLst>
              <a:gd name="adj" fmla="val 5217"/>
            </a:avLst>
          </a:prstGeom>
          <a:solidFill>
            <a:schemeClr val="bg2"/>
          </a:solidFill>
          <a:ln w="12700">
            <a:solidFill>
              <a:srgbClr val="E3E7EC"/>
            </a:solidFill>
            <a:prstDash val="solid"/>
          </a:ln>
        </p:spPr>
      </p:sp>
      <p:sp>
        <p:nvSpPr>
          <p:cNvPr id="9" name="Shape 7"/>
          <p:cNvSpPr/>
          <p:nvPr/>
        </p:nvSpPr>
        <p:spPr>
          <a:xfrm>
            <a:off x="4526280" y="1645920"/>
            <a:ext cx="502920" cy="502920"/>
          </a:xfrm>
          <a:prstGeom prst="ellipse">
            <a:avLst/>
          </a:prstGeom>
          <a:solidFill>
            <a:schemeClr val="accent1"/>
          </a:solidFill>
          <a:ln w="12700">
            <a:solidFill>
              <a:schemeClr val="accent1"/>
            </a:solidFill>
            <a:prstDash val="solid"/>
          </a:ln>
        </p:spPr>
      </p:sp>
      <p:sp>
        <p:nvSpPr>
          <p:cNvPr id="10" name="Text 8"/>
          <p:cNvSpPr txBox="1"/>
          <p:nvPr/>
        </p:nvSpPr>
        <p:spPr>
          <a:xfrm>
            <a:off x="4526280" y="1645920"/>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11" name="Text 9"/>
          <p:cNvSpPr txBox="1"/>
          <p:nvPr/>
        </p:nvSpPr>
        <p:spPr>
          <a:xfrm>
            <a:off x="4526280" y="2286000"/>
            <a:ext cx="3017520" cy="411480"/>
          </a:xfrm>
          <a:prstGeom prst="rect">
            <a:avLst/>
          </a:prstGeom>
          <a:noFill/>
          <a:ln/>
        </p:spPr>
        <p:txBody>
          <a:bodyPr wrap="square" lIns="0" tIns="0" rIns="0" bIns="0" rtlCol="0" anchor="ctr"/>
          <a:lstStyle/>
          <a:p>
            <a:pPr indent="0" marL="0">
              <a:buNone/>
            </a:pPr>
            <a:r>
              <a:rPr lang="en-US" sz="1900" b="1" dirty="0">
                <a:solidFill>
                  <a:schemeClr val="tx2"/>
                </a:solidFill>
              </a:rPr>
              <a:t>Getting started</a:t>
            </a:r>
            <a:endParaRPr lang="en-US" sz="1900" dirty="0"/>
          </a:p>
        </p:txBody>
      </p:sp>
      <p:sp>
        <p:nvSpPr>
          <p:cNvPr id="12" name="Text 10"/>
          <p:cNvSpPr txBox="1"/>
          <p:nvPr/>
        </p:nvSpPr>
        <p:spPr>
          <a:xfrm>
            <a:off x="4526280" y="2697480"/>
            <a:ext cx="3017520" cy="685800"/>
          </a:xfrm>
          <a:prstGeom prst="rect">
            <a:avLst/>
          </a:prstGeom>
          <a:noFill/>
          <a:ln/>
        </p:spPr>
        <p:txBody>
          <a:bodyPr wrap="square" lIns="0" tIns="0" rIns="0" bIns="0" rtlCol="0" anchor="t"/>
          <a:lstStyle/>
          <a:p>
            <a:pPr indent="0" marL="0">
              <a:buNone/>
            </a:pPr>
            <a:r>
              <a:rPr lang="en-US" sz="1400" dirty="0">
                <a:solidFill>
                  <a:srgbClr val="5B6573"/>
                </a:solidFill>
              </a:rPr>
              <a:t>Sign in, find your way around, read the alerts</a:t>
            </a:r>
            <a:endParaRPr lang="en-US" sz="1400" dirty="0"/>
          </a:p>
        </p:txBody>
      </p:sp>
      <p:sp>
        <p:nvSpPr>
          <p:cNvPr id="13" name="agenda-3"/>
          <p:cNvSpPr/>
          <p:nvPr/>
        </p:nvSpPr>
        <p:spPr>
          <a:xfrm>
            <a:off x="8046720" y="1417320"/>
            <a:ext cx="3474720" cy="2103120"/>
          </a:xfrm>
          <a:prstGeom prst="roundRect">
            <a:avLst>
              <a:gd name="adj" fmla="val 5217"/>
            </a:avLst>
          </a:prstGeom>
          <a:solidFill>
            <a:schemeClr val="bg2"/>
          </a:solidFill>
          <a:ln w="12700">
            <a:solidFill>
              <a:srgbClr val="E3E7EC"/>
            </a:solidFill>
            <a:prstDash val="solid"/>
          </a:ln>
        </p:spPr>
      </p:sp>
      <p:sp>
        <p:nvSpPr>
          <p:cNvPr id="14" name="Shape 12"/>
          <p:cNvSpPr/>
          <p:nvPr/>
        </p:nvSpPr>
        <p:spPr>
          <a:xfrm>
            <a:off x="8275320" y="1645920"/>
            <a:ext cx="502920" cy="502920"/>
          </a:xfrm>
          <a:prstGeom prst="ellipse">
            <a:avLst/>
          </a:prstGeom>
          <a:solidFill>
            <a:schemeClr val="accent1"/>
          </a:solidFill>
          <a:ln w="12700">
            <a:solidFill>
              <a:schemeClr val="accent1"/>
            </a:solidFill>
            <a:prstDash val="solid"/>
          </a:ln>
        </p:spPr>
      </p:sp>
      <p:sp>
        <p:nvSpPr>
          <p:cNvPr id="15" name="Text 13"/>
          <p:cNvSpPr txBox="1"/>
          <p:nvPr/>
        </p:nvSpPr>
        <p:spPr>
          <a:xfrm>
            <a:off x="8275320" y="1645920"/>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16" name="Text 14"/>
          <p:cNvSpPr txBox="1"/>
          <p:nvPr/>
        </p:nvSpPr>
        <p:spPr>
          <a:xfrm>
            <a:off x="8275320" y="2286000"/>
            <a:ext cx="3017520" cy="411480"/>
          </a:xfrm>
          <a:prstGeom prst="rect">
            <a:avLst/>
          </a:prstGeom>
          <a:noFill/>
          <a:ln/>
        </p:spPr>
        <p:txBody>
          <a:bodyPr wrap="square" lIns="0" tIns="0" rIns="0" bIns="0" rtlCol="0" anchor="ctr"/>
          <a:lstStyle/>
          <a:p>
            <a:pPr indent="0" marL="0">
              <a:buNone/>
            </a:pPr>
            <a:r>
              <a:rPr lang="en-US" sz="1900" b="1" dirty="0">
                <a:solidFill>
                  <a:schemeClr val="tx2"/>
                </a:solidFill>
              </a:rPr>
              <a:t>Screening &amp; decisions</a:t>
            </a:r>
            <a:endParaRPr lang="en-US" sz="1900" dirty="0"/>
          </a:p>
        </p:txBody>
      </p:sp>
      <p:sp>
        <p:nvSpPr>
          <p:cNvPr id="17" name="Text 15"/>
          <p:cNvSpPr txBox="1"/>
          <p:nvPr/>
        </p:nvSpPr>
        <p:spPr>
          <a:xfrm>
            <a:off x="8275320" y="2697480"/>
            <a:ext cx="3017520" cy="685800"/>
          </a:xfrm>
          <a:prstGeom prst="rect">
            <a:avLst/>
          </a:prstGeom>
          <a:noFill/>
          <a:ln/>
        </p:spPr>
        <p:txBody>
          <a:bodyPr wrap="square" lIns="0" tIns="0" rIns="0" bIns="0" rtlCol="0" anchor="t"/>
          <a:lstStyle/>
          <a:p>
            <a:pPr indent="0" marL="0">
              <a:buNone/>
            </a:pPr>
            <a:r>
              <a:rPr lang="en-US" sz="1400" dirty="0">
                <a:solidFill>
                  <a:srgbClr val="5B6573"/>
                </a:solidFill>
              </a:rPr>
              <a:t>Run the Eligibility Scan, review, update a decision</a:t>
            </a:r>
            <a:endParaRPr lang="en-US" sz="1400" dirty="0"/>
          </a:p>
        </p:txBody>
      </p:sp>
      <p:sp>
        <p:nvSpPr>
          <p:cNvPr id="18" name="agenda-4"/>
          <p:cNvSpPr/>
          <p:nvPr/>
        </p:nvSpPr>
        <p:spPr>
          <a:xfrm>
            <a:off x="548640" y="3794760"/>
            <a:ext cx="3474720" cy="2103120"/>
          </a:xfrm>
          <a:prstGeom prst="roundRect">
            <a:avLst>
              <a:gd name="adj" fmla="val 5217"/>
            </a:avLst>
          </a:prstGeom>
          <a:solidFill>
            <a:schemeClr val="bg2"/>
          </a:solidFill>
          <a:ln w="12700">
            <a:solidFill>
              <a:srgbClr val="E3E7EC"/>
            </a:solidFill>
            <a:prstDash val="solid"/>
          </a:ln>
        </p:spPr>
      </p:sp>
      <p:sp>
        <p:nvSpPr>
          <p:cNvPr id="19" name="Shape 17"/>
          <p:cNvSpPr/>
          <p:nvPr/>
        </p:nvSpPr>
        <p:spPr>
          <a:xfrm>
            <a:off x="777240" y="4023360"/>
            <a:ext cx="502920" cy="502920"/>
          </a:xfrm>
          <a:prstGeom prst="ellipse">
            <a:avLst/>
          </a:prstGeom>
          <a:solidFill>
            <a:schemeClr val="accent1"/>
          </a:solidFill>
          <a:ln w="12700">
            <a:solidFill>
              <a:schemeClr val="accent1"/>
            </a:solidFill>
            <a:prstDash val="solid"/>
          </a:ln>
        </p:spPr>
      </p:sp>
      <p:sp>
        <p:nvSpPr>
          <p:cNvPr id="20" name="Text 18"/>
          <p:cNvSpPr txBox="1"/>
          <p:nvPr/>
        </p:nvSpPr>
        <p:spPr>
          <a:xfrm>
            <a:off x="777240" y="4023360"/>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4</a:t>
            </a:r>
            <a:endParaRPr lang="en-US" sz="1800" dirty="0"/>
          </a:p>
        </p:txBody>
      </p:sp>
      <p:sp>
        <p:nvSpPr>
          <p:cNvPr id="21" name="Text 19"/>
          <p:cNvSpPr txBox="1"/>
          <p:nvPr/>
        </p:nvSpPr>
        <p:spPr>
          <a:xfrm>
            <a:off x="777240" y="4663440"/>
            <a:ext cx="3017520" cy="411480"/>
          </a:xfrm>
          <a:prstGeom prst="rect">
            <a:avLst/>
          </a:prstGeom>
          <a:noFill/>
          <a:ln/>
        </p:spPr>
        <p:txBody>
          <a:bodyPr wrap="square" lIns="0" tIns="0" rIns="0" bIns="0" rtlCol="0" anchor="ctr"/>
          <a:lstStyle/>
          <a:p>
            <a:pPr indent="0" marL="0">
              <a:buNone/>
            </a:pPr>
            <a:r>
              <a:rPr lang="en-US" sz="1900" b="1" dirty="0">
                <a:solidFill>
                  <a:schemeClr val="tx2"/>
                </a:solidFill>
              </a:rPr>
              <a:t>Finding more</a:t>
            </a:r>
            <a:endParaRPr lang="en-US" sz="1900" dirty="0"/>
          </a:p>
        </p:txBody>
      </p:sp>
      <p:sp>
        <p:nvSpPr>
          <p:cNvPr id="22" name="Text 20"/>
          <p:cNvSpPr txBox="1"/>
          <p:nvPr/>
        </p:nvSpPr>
        <p:spPr>
          <a:xfrm>
            <a:off x="777240" y="5074920"/>
            <a:ext cx="3017520" cy="685800"/>
          </a:xfrm>
          <a:prstGeom prst="rect">
            <a:avLst/>
          </a:prstGeom>
          <a:noFill/>
          <a:ln/>
        </p:spPr>
        <p:txBody>
          <a:bodyPr wrap="square" lIns="0" tIns="0" rIns="0" bIns="0" rtlCol="0" anchor="t"/>
          <a:lstStyle/>
          <a:p>
            <a:pPr indent="0" marL="0">
              <a:buNone/>
            </a:pPr>
            <a:r>
              <a:rPr lang="en-US" sz="1400" dirty="0">
                <a:solidFill>
                  <a:srgbClr val="5B6573"/>
                </a:solidFill>
              </a:rPr>
              <a:t>Search inside RFPIS and the web; submit what the scan missed</a:t>
            </a:r>
            <a:endParaRPr lang="en-US" sz="1400" dirty="0"/>
          </a:p>
        </p:txBody>
      </p:sp>
      <p:sp>
        <p:nvSpPr>
          <p:cNvPr id="23" name="agenda-5"/>
          <p:cNvSpPr/>
          <p:nvPr/>
        </p:nvSpPr>
        <p:spPr>
          <a:xfrm>
            <a:off x="4297680" y="3794760"/>
            <a:ext cx="3474720" cy="2103120"/>
          </a:xfrm>
          <a:prstGeom prst="roundRect">
            <a:avLst>
              <a:gd name="adj" fmla="val 5217"/>
            </a:avLst>
          </a:prstGeom>
          <a:solidFill>
            <a:schemeClr val="bg2"/>
          </a:solidFill>
          <a:ln w="12700">
            <a:solidFill>
              <a:srgbClr val="E3E7EC"/>
            </a:solidFill>
            <a:prstDash val="solid"/>
          </a:ln>
        </p:spPr>
      </p:sp>
      <p:sp>
        <p:nvSpPr>
          <p:cNvPr id="24" name="Shape 22"/>
          <p:cNvSpPr/>
          <p:nvPr/>
        </p:nvSpPr>
        <p:spPr>
          <a:xfrm>
            <a:off x="4526280" y="4023360"/>
            <a:ext cx="502920" cy="502920"/>
          </a:xfrm>
          <a:prstGeom prst="ellipse">
            <a:avLst/>
          </a:prstGeom>
          <a:solidFill>
            <a:schemeClr val="accent1"/>
          </a:solidFill>
          <a:ln w="12700">
            <a:solidFill>
              <a:schemeClr val="accent1"/>
            </a:solidFill>
            <a:prstDash val="solid"/>
          </a:ln>
        </p:spPr>
      </p:sp>
      <p:sp>
        <p:nvSpPr>
          <p:cNvPr id="25" name="Text 23"/>
          <p:cNvSpPr txBox="1"/>
          <p:nvPr/>
        </p:nvSpPr>
        <p:spPr>
          <a:xfrm>
            <a:off x="4526280" y="4023360"/>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5</a:t>
            </a:r>
            <a:endParaRPr lang="en-US" sz="1800" dirty="0"/>
          </a:p>
        </p:txBody>
      </p:sp>
      <p:sp>
        <p:nvSpPr>
          <p:cNvPr id="26" name="Text 24"/>
          <p:cNvSpPr txBox="1"/>
          <p:nvPr/>
        </p:nvSpPr>
        <p:spPr>
          <a:xfrm>
            <a:off x="4526280" y="4663440"/>
            <a:ext cx="3017520" cy="411480"/>
          </a:xfrm>
          <a:prstGeom prst="rect">
            <a:avLst/>
          </a:prstGeom>
          <a:noFill/>
          <a:ln/>
        </p:spPr>
        <p:txBody>
          <a:bodyPr wrap="square" lIns="0" tIns="0" rIns="0" bIns="0" rtlCol="0" anchor="ctr"/>
          <a:lstStyle/>
          <a:p>
            <a:pPr indent="0" marL="0">
              <a:buNone/>
            </a:pPr>
            <a:r>
              <a:rPr lang="en-US" sz="1900" b="1" dirty="0">
                <a:solidFill>
                  <a:schemeClr val="tx2"/>
                </a:solidFill>
              </a:rPr>
              <a:t>Team meetings</a:t>
            </a:r>
            <a:endParaRPr lang="en-US" sz="1900" dirty="0"/>
          </a:p>
        </p:txBody>
      </p:sp>
      <p:sp>
        <p:nvSpPr>
          <p:cNvPr id="27" name="Text 25"/>
          <p:cNvSpPr txBox="1"/>
          <p:nvPr/>
        </p:nvSpPr>
        <p:spPr>
          <a:xfrm>
            <a:off x="4526280" y="5074920"/>
            <a:ext cx="3017520" cy="685800"/>
          </a:xfrm>
          <a:prstGeom prst="rect">
            <a:avLst/>
          </a:prstGeom>
          <a:noFill/>
          <a:ln/>
        </p:spPr>
        <p:txBody>
          <a:bodyPr wrap="square" lIns="0" tIns="0" rIns="0" bIns="0" rtlCol="0" anchor="t"/>
          <a:lstStyle/>
          <a:p>
            <a:pPr indent="0" marL="0">
              <a:buNone/>
            </a:pPr>
            <a:r>
              <a:rPr lang="en-US" sz="1400" dirty="0">
                <a:solidFill>
                  <a:srgbClr val="5B6573"/>
                </a:solidFill>
              </a:rPr>
              <a:t>Meeting notes, actions, engagements and follow-ups</a:t>
            </a:r>
            <a:endParaRPr lang="en-US" sz="1400" dirty="0"/>
          </a:p>
        </p:txBody>
      </p:sp>
      <p:sp>
        <p:nvSpPr>
          <p:cNvPr id="28" name="agenda-6"/>
          <p:cNvSpPr/>
          <p:nvPr/>
        </p:nvSpPr>
        <p:spPr>
          <a:xfrm>
            <a:off x="8046720" y="3794760"/>
            <a:ext cx="3474720" cy="2103120"/>
          </a:xfrm>
          <a:prstGeom prst="roundRect">
            <a:avLst>
              <a:gd name="adj" fmla="val 5217"/>
            </a:avLst>
          </a:prstGeom>
          <a:solidFill>
            <a:schemeClr val="bg2"/>
          </a:solidFill>
          <a:ln w="12700">
            <a:solidFill>
              <a:srgbClr val="E3E7EC"/>
            </a:solidFill>
            <a:prstDash val="solid"/>
          </a:ln>
        </p:spPr>
      </p:sp>
      <p:sp>
        <p:nvSpPr>
          <p:cNvPr id="29" name="Shape 27"/>
          <p:cNvSpPr/>
          <p:nvPr/>
        </p:nvSpPr>
        <p:spPr>
          <a:xfrm>
            <a:off x="8275320" y="4023360"/>
            <a:ext cx="502920" cy="502920"/>
          </a:xfrm>
          <a:prstGeom prst="ellipse">
            <a:avLst/>
          </a:prstGeom>
          <a:solidFill>
            <a:schemeClr val="accent1"/>
          </a:solidFill>
          <a:ln w="12700">
            <a:solidFill>
              <a:schemeClr val="accent1"/>
            </a:solidFill>
            <a:prstDash val="solid"/>
          </a:ln>
        </p:spPr>
      </p:sp>
      <p:sp>
        <p:nvSpPr>
          <p:cNvPr id="30" name="Text 28"/>
          <p:cNvSpPr txBox="1"/>
          <p:nvPr/>
        </p:nvSpPr>
        <p:spPr>
          <a:xfrm>
            <a:off x="8275320" y="4023360"/>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6</a:t>
            </a:r>
            <a:endParaRPr lang="en-US" sz="1800" dirty="0"/>
          </a:p>
        </p:txBody>
      </p:sp>
      <p:sp>
        <p:nvSpPr>
          <p:cNvPr id="31" name="Text 29"/>
          <p:cNvSpPr txBox="1"/>
          <p:nvPr/>
        </p:nvSpPr>
        <p:spPr>
          <a:xfrm>
            <a:off x="8275320" y="4663440"/>
            <a:ext cx="3017520" cy="411480"/>
          </a:xfrm>
          <a:prstGeom prst="rect">
            <a:avLst/>
          </a:prstGeom>
          <a:noFill/>
          <a:ln/>
        </p:spPr>
        <p:txBody>
          <a:bodyPr wrap="square" lIns="0" tIns="0" rIns="0" bIns="0" rtlCol="0" anchor="ctr"/>
          <a:lstStyle/>
          <a:p>
            <a:pPr indent="0" marL="0">
              <a:buNone/>
            </a:pPr>
            <a:r>
              <a:rPr lang="en-US" sz="1900" b="1" dirty="0">
                <a:solidFill>
                  <a:schemeClr val="tx2"/>
                </a:solidFill>
              </a:rPr>
              <a:t>Reports &amp; help</a:t>
            </a:r>
            <a:endParaRPr lang="en-US" sz="1900" dirty="0"/>
          </a:p>
        </p:txBody>
      </p:sp>
      <p:sp>
        <p:nvSpPr>
          <p:cNvPr id="32" name="Text 30"/>
          <p:cNvSpPr txBox="1"/>
          <p:nvPr/>
        </p:nvSpPr>
        <p:spPr>
          <a:xfrm>
            <a:off x="8275320" y="5074920"/>
            <a:ext cx="3017520" cy="685800"/>
          </a:xfrm>
          <a:prstGeom prst="rect">
            <a:avLst/>
          </a:prstGeom>
          <a:noFill/>
          <a:ln/>
        </p:spPr>
        <p:txBody>
          <a:bodyPr wrap="square" lIns="0" tIns="0" rIns="0" bIns="0" rtlCol="0" anchor="t"/>
          <a:lstStyle/>
          <a:p>
            <a:pPr indent="0" marL="0">
              <a:buNone/>
            </a:pPr>
            <a:r>
              <a:rPr lang="en-US" sz="1400" dirty="0">
                <a:solidFill>
                  <a:srgbClr val="5B6573"/>
                </a:solidFill>
              </a:rPr>
              <a:t>Generate a report; where the manual lives</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731520" y="2651760"/>
            <a:ext cx="10515600" cy="1097280"/>
          </a:xfrm>
          <a:prstGeom prst="rect">
            <a:avLst/>
          </a:prstGeom>
          <a:noFill/>
          <a:ln/>
        </p:spPr>
        <p:txBody>
          <a:bodyPr wrap="square" lIns="0" tIns="0" rIns="0" bIns="0" rtlCol="0"/>
          <a:lstStyle/>
          <a:p>
            <a:pPr algn="l" indent="0" marL="0">
              <a:buNone/>
            </a:pPr>
            <a:r>
              <a:rPr lang="en-US" sz="4000" b="1" dirty="0">
                <a:solidFill>
                  <a:schemeClr val="bg1"/>
                </a:solidFill>
              </a:rPr>
              <a:t>How RFPIS works</a:t>
            </a:r>
            <a:endParaRPr lang="en-US" sz="4000" dirty="0"/>
          </a:p>
        </p:txBody>
      </p:sp>
      <p:sp>
        <p:nvSpPr>
          <p:cNvPr id="3" name="Text 0"/>
          <p:cNvSpPr/>
          <p:nvPr>
            <p:ph idx="101" type="body" hasCustomPrompt="1"/>
          </p:nvPr>
        </p:nvSpPr>
        <p:spPr>
          <a:xfrm>
            <a:off x="731520" y="3794760"/>
            <a:ext cx="10515600" cy="822960"/>
          </a:xfrm>
          <a:prstGeom prst="rect">
            <a:avLst/>
          </a:prstGeom>
          <a:noFill/>
          <a:ln/>
        </p:spPr>
        <p:txBody>
          <a:bodyPr wrap="square" lIns="0" tIns="0" rIns="0" bIns="0" rtlCol="0"/>
          <a:lstStyle/>
          <a:p>
            <a:pPr algn="l" indent="0" marL="0">
              <a:buNone/>
            </a:pPr>
            <a:r>
              <a:rPr lang="en-US" sz="2000" dirty="0">
                <a:solidFill>
                  <a:schemeClr val="bg1"/>
                </a:solidFill>
              </a:rPr>
              <a:t>Where opportunities come from, and where you come in</a:t>
            </a:r>
            <a:endParaRPr lang="en-US" sz="2000" dirty="0"/>
          </a:p>
        </p:txBody>
      </p:sp>
      <p:sp>
        <p:nvSpPr>
          <p:cNvPr id="4" name="ring-0"/>
          <p:cNvSpPr/>
          <p:nvPr/>
        </p:nvSpPr>
        <p:spPr>
          <a:xfrm>
            <a:off x="8778240" y="1965960"/>
            <a:ext cx="2926080" cy="2926080"/>
          </a:xfrm>
          <a:prstGeom prst="ellipse">
            <a:avLst/>
          </a:prstGeom>
          <a:ln w="19050">
            <a:solidFill>
              <a:schemeClr val="bg1">
                <a:alpha val="60000"/>
              </a:schemeClr>
            </a:solidFill>
            <a:prstDash val="solid"/>
          </a:ln>
        </p:spPr>
      </p:sp>
      <p:sp>
        <p:nvSpPr>
          <p:cNvPr id="5" name="ring-1"/>
          <p:cNvSpPr/>
          <p:nvPr/>
        </p:nvSpPr>
        <p:spPr>
          <a:xfrm>
            <a:off x="9144000" y="2331720"/>
            <a:ext cx="2194560" cy="2194560"/>
          </a:xfrm>
          <a:prstGeom prst="ellipse">
            <a:avLst/>
          </a:prstGeom>
          <a:ln w="19050">
            <a:solidFill>
              <a:schemeClr val="bg1">
                <a:alpha val="50000"/>
              </a:schemeClr>
            </a:solidFill>
            <a:prstDash val="solid"/>
          </a:ln>
        </p:spPr>
      </p:sp>
      <p:sp>
        <p:nvSpPr>
          <p:cNvPr id="6" name="ring-2"/>
          <p:cNvSpPr/>
          <p:nvPr/>
        </p:nvSpPr>
        <p:spPr>
          <a:xfrm>
            <a:off x="9509760" y="2697480"/>
            <a:ext cx="1463040" cy="1463040"/>
          </a:xfrm>
          <a:prstGeom prst="ellipse">
            <a:avLst/>
          </a:prstGeom>
          <a:ln w="19050">
            <a:solidFill>
              <a:schemeClr val="bg1">
                <a:alpha val="40000"/>
              </a:schemeClr>
            </a:solidFill>
            <a:prstDash val="solid"/>
          </a:ln>
        </p:spPr>
      </p:sp>
      <p:sp>
        <p:nvSpPr>
          <p:cNvPr id="7" name="ring-core"/>
          <p:cNvSpPr/>
          <p:nvPr/>
        </p:nvSpPr>
        <p:spPr>
          <a:xfrm>
            <a:off x="9875520" y="3063240"/>
            <a:ext cx="731520" cy="731520"/>
          </a:xfrm>
          <a:prstGeom prst="ellipse">
            <a:avLst/>
          </a:prstGeom>
          <a:solidFill>
            <a:schemeClr val="bg1">
              <a:alpha val="80000"/>
            </a:schemeClr>
          </a:solidFill>
          <a:ln w="12700">
            <a:solidFill>
              <a:schemeClr val="bg1">
                <a:alpha val="80000"/>
              </a:schemeClr>
            </a:solidFill>
            <a:prstDash val="solid"/>
          </a:ln>
        </p:spPr>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rPr>
              <a:t>From the web to a team decision</a:t>
            </a:r>
            <a:endParaRPr lang="en-US" sz="3200" dirty="0"/>
          </a:p>
        </p:txBody>
      </p:sp>
      <p:sp>
        <p:nvSpPr>
          <p:cNvPr id="3" name="flow-1"/>
          <p:cNvSpPr/>
          <p:nvPr/>
        </p:nvSpPr>
        <p:spPr>
          <a:xfrm>
            <a:off x="548640" y="1554480"/>
            <a:ext cx="2057400" cy="2377440"/>
          </a:xfrm>
          <a:prstGeom prst="roundRect">
            <a:avLst>
              <a:gd name="adj" fmla="val 5333"/>
            </a:avLst>
          </a:prstGeom>
          <a:solidFill>
            <a:srgbClr val="FDECEE"/>
          </a:solidFill>
          <a:ln w="15875">
            <a:solidFill>
              <a:srgbClr val="CFE6DA"/>
            </a:solidFill>
            <a:prstDash val="solid"/>
          </a:ln>
        </p:spPr>
      </p:sp>
      <p:sp>
        <p:nvSpPr>
          <p:cNvPr id="4" name="Text 2"/>
          <p:cNvSpPr txBox="1"/>
          <p:nvPr/>
        </p:nvSpPr>
        <p:spPr>
          <a:xfrm>
            <a:off x="713232" y="1737360"/>
            <a:ext cx="1728216" cy="274320"/>
          </a:xfrm>
          <a:prstGeom prst="rect">
            <a:avLst/>
          </a:prstGeom>
          <a:noFill/>
          <a:ln/>
        </p:spPr>
        <p:txBody>
          <a:bodyPr wrap="square" lIns="0" tIns="0" rIns="0" bIns="0" rtlCol="0" anchor="ctr"/>
          <a:lstStyle/>
          <a:p>
            <a:pPr indent="0" marL="0">
              <a:buNone/>
            </a:pPr>
            <a:r>
              <a:rPr lang="en-US" sz="1100" b="1" spc="100" kern="0" dirty="0">
                <a:solidFill>
                  <a:schemeClr val="accent5"/>
                </a:solidFill>
              </a:rPr>
              <a:t>SUPER USER</a:t>
            </a:r>
            <a:endParaRPr lang="en-US" sz="1100" dirty="0"/>
          </a:p>
        </p:txBody>
      </p:sp>
      <p:sp>
        <p:nvSpPr>
          <p:cNvPr id="5" name="Text 3"/>
          <p:cNvSpPr txBox="1"/>
          <p:nvPr/>
        </p:nvSpPr>
        <p:spPr>
          <a:xfrm>
            <a:off x="713232" y="2057400"/>
            <a:ext cx="1728216" cy="457200"/>
          </a:xfrm>
          <a:prstGeom prst="rect">
            <a:avLst/>
          </a:prstGeom>
          <a:noFill/>
          <a:ln/>
        </p:spPr>
        <p:txBody>
          <a:bodyPr wrap="square" lIns="0" tIns="0" rIns="0" bIns="0" rtlCol="0" anchor="ctr"/>
          <a:lstStyle/>
          <a:p>
            <a:pPr indent="0" marL="0">
              <a:buNone/>
            </a:pPr>
            <a:r>
              <a:rPr lang="en-US" sz="1800" b="1" dirty="0">
                <a:solidFill>
                  <a:schemeClr val="tx2"/>
                </a:solidFill>
              </a:rPr>
              <a:t>Extraction</a:t>
            </a:r>
            <a:endParaRPr lang="en-US" sz="1800" dirty="0"/>
          </a:p>
        </p:txBody>
      </p:sp>
      <p:sp>
        <p:nvSpPr>
          <p:cNvPr id="6" name="Text 4"/>
          <p:cNvSpPr txBox="1"/>
          <p:nvPr/>
        </p:nvSpPr>
        <p:spPr>
          <a:xfrm>
            <a:off x="713232" y="2560320"/>
            <a:ext cx="1728216" cy="1234440"/>
          </a:xfrm>
          <a:prstGeom prst="rect">
            <a:avLst/>
          </a:prstGeom>
          <a:noFill/>
          <a:ln/>
        </p:spPr>
        <p:txBody>
          <a:bodyPr wrap="square" lIns="0" tIns="0" rIns="0" bIns="0" rtlCol="0" anchor="t"/>
          <a:lstStyle/>
          <a:p>
            <a:pPr indent="0" marL="0">
              <a:buNone/>
            </a:pPr>
            <a:r>
              <a:rPr lang="en-US" sz="1400" dirty="0">
                <a:solidFill>
                  <a:srgbClr val="5B6573"/>
                </a:solidFill>
              </a:rPr>
              <a:t>A separate crawl of every donor source, run by the platform owner</a:t>
            </a:r>
            <a:endParaRPr lang="en-US" sz="1400" dirty="0"/>
          </a:p>
        </p:txBody>
      </p:sp>
      <p:sp>
        <p:nvSpPr>
          <p:cNvPr id="7" name="arrow-1"/>
          <p:cNvSpPr txBox="1"/>
          <p:nvPr/>
        </p:nvSpPr>
        <p:spPr>
          <a:xfrm>
            <a:off x="2587752" y="2468880"/>
            <a:ext cx="219456" cy="457200"/>
          </a:xfrm>
          <a:prstGeom prst="rect">
            <a:avLst/>
          </a:prstGeom>
          <a:noFill/>
          <a:ln/>
        </p:spPr>
        <p:txBody>
          <a:bodyPr wrap="square" lIns="0" tIns="0" rIns="0" bIns="0" rtlCol="0" anchor="ctr"/>
          <a:lstStyle/>
          <a:p>
            <a:pPr algn="ctr" indent="0" marL="0">
              <a:buNone/>
            </a:pPr>
            <a:r>
              <a:rPr lang="en-US" sz="2600" b="1" dirty="0">
                <a:solidFill>
                  <a:schemeClr val="accent1"/>
                </a:solidFill>
              </a:rPr>
              <a:t>›</a:t>
            </a:r>
            <a:endParaRPr lang="en-US" sz="2600" dirty="0"/>
          </a:p>
        </p:txBody>
      </p:sp>
      <p:sp>
        <p:nvSpPr>
          <p:cNvPr id="8" name="flow-2"/>
          <p:cNvSpPr/>
          <p:nvPr/>
        </p:nvSpPr>
        <p:spPr>
          <a:xfrm>
            <a:off x="2788920" y="1554480"/>
            <a:ext cx="2057400" cy="2377440"/>
          </a:xfrm>
          <a:prstGeom prst="roundRect">
            <a:avLst>
              <a:gd name="adj" fmla="val 5333"/>
            </a:avLst>
          </a:prstGeom>
          <a:solidFill>
            <a:srgbClr val="FDECEE"/>
          </a:solidFill>
          <a:ln w="15875">
            <a:solidFill>
              <a:srgbClr val="CFE6DA"/>
            </a:solidFill>
            <a:prstDash val="solid"/>
          </a:ln>
        </p:spPr>
      </p:sp>
      <p:sp>
        <p:nvSpPr>
          <p:cNvPr id="9" name="Text 7"/>
          <p:cNvSpPr txBox="1"/>
          <p:nvPr/>
        </p:nvSpPr>
        <p:spPr>
          <a:xfrm>
            <a:off x="2953512" y="1737360"/>
            <a:ext cx="1728216" cy="274320"/>
          </a:xfrm>
          <a:prstGeom prst="rect">
            <a:avLst/>
          </a:prstGeom>
          <a:noFill/>
          <a:ln/>
        </p:spPr>
        <p:txBody>
          <a:bodyPr wrap="square" lIns="0" tIns="0" rIns="0" bIns="0" rtlCol="0" anchor="ctr"/>
          <a:lstStyle/>
          <a:p>
            <a:pPr indent="0" marL="0">
              <a:buNone/>
            </a:pPr>
            <a:r>
              <a:rPr lang="en-US" sz="1100" b="1" spc="100" kern="0" dirty="0">
                <a:solidFill>
                  <a:schemeClr val="accent5"/>
                </a:solidFill>
              </a:rPr>
              <a:t>AUTOMATIC</a:t>
            </a:r>
            <a:endParaRPr lang="en-US" sz="1100" dirty="0"/>
          </a:p>
        </p:txBody>
      </p:sp>
      <p:sp>
        <p:nvSpPr>
          <p:cNvPr id="10" name="Text 8"/>
          <p:cNvSpPr txBox="1"/>
          <p:nvPr/>
        </p:nvSpPr>
        <p:spPr>
          <a:xfrm>
            <a:off x="2953512" y="2057400"/>
            <a:ext cx="1728216" cy="457200"/>
          </a:xfrm>
          <a:prstGeom prst="rect">
            <a:avLst/>
          </a:prstGeom>
          <a:noFill/>
          <a:ln/>
        </p:spPr>
        <p:txBody>
          <a:bodyPr wrap="square" lIns="0" tIns="0" rIns="0" bIns="0" rtlCol="0" anchor="ctr"/>
          <a:lstStyle/>
          <a:p>
            <a:pPr indent="0" marL="0">
              <a:buNone/>
            </a:pPr>
            <a:r>
              <a:rPr lang="en-US" sz="1800" b="1" dirty="0">
                <a:solidFill>
                  <a:schemeClr val="tx2"/>
                </a:solidFill>
              </a:rPr>
              <a:t>Friday scan</a:t>
            </a:r>
            <a:endParaRPr lang="en-US" sz="1800" dirty="0"/>
          </a:p>
        </p:txBody>
      </p:sp>
      <p:sp>
        <p:nvSpPr>
          <p:cNvPr id="11" name="Text 9"/>
          <p:cNvSpPr txBox="1"/>
          <p:nvPr/>
        </p:nvSpPr>
        <p:spPr>
          <a:xfrm>
            <a:off x="2953512" y="2560320"/>
            <a:ext cx="1728216" cy="1234440"/>
          </a:xfrm>
          <a:prstGeom prst="rect">
            <a:avLst/>
          </a:prstGeom>
          <a:noFill/>
          <a:ln/>
        </p:spPr>
        <p:txBody>
          <a:bodyPr wrap="square" lIns="0" tIns="0" rIns="0" bIns="0" rtlCol="0" anchor="t"/>
          <a:lstStyle/>
          <a:p>
            <a:pPr indent="0" marL="0">
              <a:buNone/>
            </a:pPr>
            <a:r>
              <a:rPr lang="en-US" sz="1400" dirty="0">
                <a:solidFill>
                  <a:srgbClr val="5B6573"/>
                </a:solidFill>
              </a:rPr>
              <a:t>Every Friday 06:00 UTC the sources are crawled again</a:t>
            </a:r>
            <a:endParaRPr lang="en-US" sz="1400" dirty="0"/>
          </a:p>
        </p:txBody>
      </p:sp>
      <p:sp>
        <p:nvSpPr>
          <p:cNvPr id="12" name="arrow-2"/>
          <p:cNvSpPr txBox="1"/>
          <p:nvPr/>
        </p:nvSpPr>
        <p:spPr>
          <a:xfrm>
            <a:off x="4828032" y="2468880"/>
            <a:ext cx="219456" cy="457200"/>
          </a:xfrm>
          <a:prstGeom prst="rect">
            <a:avLst/>
          </a:prstGeom>
          <a:noFill/>
          <a:ln/>
        </p:spPr>
        <p:txBody>
          <a:bodyPr wrap="square" lIns="0" tIns="0" rIns="0" bIns="0" rtlCol="0" anchor="ctr"/>
          <a:lstStyle/>
          <a:p>
            <a:pPr algn="ctr" indent="0" marL="0">
              <a:buNone/>
            </a:pPr>
            <a:r>
              <a:rPr lang="en-US" sz="2600" b="1" dirty="0">
                <a:solidFill>
                  <a:schemeClr val="accent1"/>
                </a:solidFill>
              </a:rPr>
              <a:t>›</a:t>
            </a:r>
            <a:endParaRPr lang="en-US" sz="2600" dirty="0"/>
          </a:p>
        </p:txBody>
      </p:sp>
      <p:sp>
        <p:nvSpPr>
          <p:cNvPr id="13" name="flow-3"/>
          <p:cNvSpPr/>
          <p:nvPr/>
        </p:nvSpPr>
        <p:spPr>
          <a:xfrm>
            <a:off x="5029200" y="1554480"/>
            <a:ext cx="2057400" cy="2377440"/>
          </a:xfrm>
          <a:prstGeom prst="roundRect">
            <a:avLst>
              <a:gd name="adj" fmla="val 5333"/>
            </a:avLst>
          </a:prstGeom>
          <a:solidFill>
            <a:srgbClr val="F4F7F5"/>
          </a:solidFill>
          <a:ln w="15875">
            <a:solidFill>
              <a:srgbClr val="CFE6DA"/>
            </a:solidFill>
            <a:prstDash val="solid"/>
          </a:ln>
        </p:spPr>
      </p:sp>
      <p:sp>
        <p:nvSpPr>
          <p:cNvPr id="14" name="Text 12"/>
          <p:cNvSpPr txBox="1"/>
          <p:nvPr/>
        </p:nvSpPr>
        <p:spPr>
          <a:xfrm>
            <a:off x="5193792" y="1737360"/>
            <a:ext cx="1728216" cy="274320"/>
          </a:xfrm>
          <a:prstGeom prst="rect">
            <a:avLst/>
          </a:prstGeom>
          <a:noFill/>
          <a:ln/>
        </p:spPr>
        <p:txBody>
          <a:bodyPr wrap="square" lIns="0" tIns="0" rIns="0" bIns="0" rtlCol="0" anchor="ctr"/>
          <a:lstStyle/>
          <a:p>
            <a:pPr indent="0" marL="0">
              <a:buNone/>
            </a:pPr>
            <a:r>
              <a:rPr lang="en-US" sz="1100" b="1" spc="100" kern="0" dirty="0">
                <a:solidFill>
                  <a:schemeClr val="accent1"/>
                </a:solidFill>
              </a:rPr>
              <a:t>YOU ARE ALERTED</a:t>
            </a:r>
            <a:endParaRPr lang="en-US" sz="1100" dirty="0"/>
          </a:p>
        </p:txBody>
      </p:sp>
      <p:sp>
        <p:nvSpPr>
          <p:cNvPr id="15" name="Text 13"/>
          <p:cNvSpPr txBox="1"/>
          <p:nvPr/>
        </p:nvSpPr>
        <p:spPr>
          <a:xfrm>
            <a:off x="5193792" y="2057400"/>
            <a:ext cx="1728216" cy="457200"/>
          </a:xfrm>
          <a:prstGeom prst="rect">
            <a:avLst/>
          </a:prstGeom>
          <a:noFill/>
          <a:ln/>
        </p:spPr>
        <p:txBody>
          <a:bodyPr wrap="square" lIns="0" tIns="0" rIns="0" bIns="0" rtlCol="0" anchor="ctr"/>
          <a:lstStyle/>
          <a:p>
            <a:pPr indent="0" marL="0">
              <a:buNone/>
            </a:pPr>
            <a:r>
              <a:rPr lang="en-US" sz="1800" b="1" dirty="0">
                <a:solidFill>
                  <a:schemeClr val="tx2"/>
                </a:solidFill>
              </a:rPr>
              <a:t>Raw records ready</a:t>
            </a:r>
            <a:endParaRPr lang="en-US" sz="1800" dirty="0"/>
          </a:p>
        </p:txBody>
      </p:sp>
      <p:sp>
        <p:nvSpPr>
          <p:cNvPr id="16" name="Text 14"/>
          <p:cNvSpPr txBox="1"/>
          <p:nvPr/>
        </p:nvSpPr>
        <p:spPr>
          <a:xfrm>
            <a:off x="5193792" y="2560320"/>
            <a:ext cx="1728216" cy="1234440"/>
          </a:xfrm>
          <a:prstGeom prst="rect">
            <a:avLst/>
          </a:prstGeom>
          <a:noFill/>
          <a:ln/>
        </p:spPr>
        <p:txBody>
          <a:bodyPr wrap="square" lIns="0" tIns="0" rIns="0" bIns="0" rtlCol="0" anchor="t"/>
          <a:lstStyle/>
          <a:p>
            <a:pPr indent="0" marL="0">
              <a:buNone/>
            </a:pPr>
            <a:r>
              <a:rPr lang="en-US" sz="1400" dirty="0">
                <a:solidFill>
                  <a:srgbClr val="5B6573"/>
                </a:solidFill>
              </a:rPr>
              <a:t>The bell shows “Scan completed”</a:t>
            </a:r>
            <a:endParaRPr lang="en-US" sz="1400" dirty="0"/>
          </a:p>
        </p:txBody>
      </p:sp>
      <p:sp>
        <p:nvSpPr>
          <p:cNvPr id="17" name="arrow-3"/>
          <p:cNvSpPr txBox="1"/>
          <p:nvPr/>
        </p:nvSpPr>
        <p:spPr>
          <a:xfrm>
            <a:off x="7068312" y="2468880"/>
            <a:ext cx="219456" cy="457200"/>
          </a:xfrm>
          <a:prstGeom prst="rect">
            <a:avLst/>
          </a:prstGeom>
          <a:noFill/>
          <a:ln/>
        </p:spPr>
        <p:txBody>
          <a:bodyPr wrap="square" lIns="0" tIns="0" rIns="0" bIns="0" rtlCol="0" anchor="ctr"/>
          <a:lstStyle/>
          <a:p>
            <a:pPr algn="ctr" indent="0" marL="0">
              <a:buNone/>
            </a:pPr>
            <a:r>
              <a:rPr lang="en-US" sz="2600" b="1" dirty="0">
                <a:solidFill>
                  <a:schemeClr val="accent1"/>
                </a:solidFill>
              </a:rPr>
              <a:t>›</a:t>
            </a:r>
            <a:endParaRPr lang="en-US" sz="2600" dirty="0"/>
          </a:p>
        </p:txBody>
      </p:sp>
      <p:sp>
        <p:nvSpPr>
          <p:cNvPr id="18" name="flow-4"/>
          <p:cNvSpPr/>
          <p:nvPr/>
        </p:nvSpPr>
        <p:spPr>
          <a:xfrm>
            <a:off x="7269480" y="1554480"/>
            <a:ext cx="2057400" cy="2377440"/>
          </a:xfrm>
          <a:prstGeom prst="roundRect">
            <a:avLst>
              <a:gd name="adj" fmla="val 5333"/>
            </a:avLst>
          </a:prstGeom>
          <a:solidFill>
            <a:srgbClr val="E6F2EB"/>
          </a:solidFill>
          <a:ln w="15875">
            <a:solidFill>
              <a:srgbClr val="CFE6DA"/>
            </a:solidFill>
            <a:prstDash val="solid"/>
          </a:ln>
        </p:spPr>
      </p:sp>
      <p:sp>
        <p:nvSpPr>
          <p:cNvPr id="19" name="Text 17"/>
          <p:cNvSpPr txBox="1"/>
          <p:nvPr/>
        </p:nvSpPr>
        <p:spPr>
          <a:xfrm>
            <a:off x="7434072" y="1737360"/>
            <a:ext cx="1728216" cy="274320"/>
          </a:xfrm>
          <a:prstGeom prst="rect">
            <a:avLst/>
          </a:prstGeom>
          <a:noFill/>
          <a:ln/>
        </p:spPr>
        <p:txBody>
          <a:bodyPr wrap="square" lIns="0" tIns="0" rIns="0" bIns="0" rtlCol="0" anchor="ctr"/>
          <a:lstStyle/>
          <a:p>
            <a:pPr indent="0" marL="0">
              <a:buNone/>
            </a:pPr>
            <a:r>
              <a:rPr lang="en-US" sz="1100" b="1" spc="100" kern="0" dirty="0">
                <a:solidFill>
                  <a:schemeClr val="accent1"/>
                </a:solidFill>
              </a:rPr>
              <a:t>YOU</a:t>
            </a:r>
            <a:endParaRPr lang="en-US" sz="1100" dirty="0"/>
          </a:p>
        </p:txBody>
      </p:sp>
      <p:sp>
        <p:nvSpPr>
          <p:cNvPr id="20" name="Text 18"/>
          <p:cNvSpPr txBox="1"/>
          <p:nvPr/>
        </p:nvSpPr>
        <p:spPr>
          <a:xfrm>
            <a:off x="7434072" y="2057400"/>
            <a:ext cx="1728216" cy="457200"/>
          </a:xfrm>
          <a:prstGeom prst="rect">
            <a:avLst/>
          </a:prstGeom>
          <a:noFill/>
          <a:ln/>
        </p:spPr>
        <p:txBody>
          <a:bodyPr wrap="square" lIns="0" tIns="0" rIns="0" bIns="0" rtlCol="0" anchor="ctr"/>
          <a:lstStyle/>
          <a:p>
            <a:pPr indent="0" marL="0">
              <a:buNone/>
            </a:pPr>
            <a:r>
              <a:rPr lang="en-US" sz="1800" b="1" dirty="0">
                <a:solidFill>
                  <a:schemeClr val="tx2"/>
                </a:solidFill>
              </a:rPr>
              <a:t>Eligibility Scan</a:t>
            </a:r>
            <a:endParaRPr lang="en-US" sz="1800" dirty="0"/>
          </a:p>
        </p:txBody>
      </p:sp>
      <p:sp>
        <p:nvSpPr>
          <p:cNvPr id="21" name="Text 19"/>
          <p:cNvSpPr txBox="1"/>
          <p:nvPr/>
        </p:nvSpPr>
        <p:spPr>
          <a:xfrm>
            <a:off x="7434072" y="2560320"/>
            <a:ext cx="1728216" cy="1234440"/>
          </a:xfrm>
          <a:prstGeom prst="rect">
            <a:avLst/>
          </a:prstGeom>
          <a:noFill/>
          <a:ln/>
        </p:spPr>
        <p:txBody>
          <a:bodyPr wrap="square" lIns="0" tIns="0" rIns="0" bIns="0" rtlCol="0" anchor="t"/>
          <a:lstStyle/>
          <a:p>
            <a:pPr indent="0" marL="0">
              <a:buNone/>
            </a:pPr>
            <a:r>
              <a:rPr lang="en-US" sz="1400" dirty="0">
                <a:solidFill>
                  <a:srgbClr val="5B6573"/>
                </a:solidFill>
              </a:rPr>
              <a:t>Screens the raw records against your organisation</a:t>
            </a:r>
            <a:endParaRPr lang="en-US" sz="1400" dirty="0"/>
          </a:p>
        </p:txBody>
      </p:sp>
      <p:sp>
        <p:nvSpPr>
          <p:cNvPr id="22" name="arrow-4"/>
          <p:cNvSpPr txBox="1"/>
          <p:nvPr/>
        </p:nvSpPr>
        <p:spPr>
          <a:xfrm>
            <a:off x="9308592" y="2468880"/>
            <a:ext cx="219456" cy="457200"/>
          </a:xfrm>
          <a:prstGeom prst="rect">
            <a:avLst/>
          </a:prstGeom>
          <a:noFill/>
          <a:ln/>
        </p:spPr>
        <p:txBody>
          <a:bodyPr wrap="square" lIns="0" tIns="0" rIns="0" bIns="0" rtlCol="0" anchor="ctr"/>
          <a:lstStyle/>
          <a:p>
            <a:pPr algn="ctr" indent="0" marL="0">
              <a:buNone/>
            </a:pPr>
            <a:r>
              <a:rPr lang="en-US" sz="2600" b="1" dirty="0">
                <a:solidFill>
                  <a:schemeClr val="accent1"/>
                </a:solidFill>
              </a:rPr>
              <a:t>›</a:t>
            </a:r>
            <a:endParaRPr lang="en-US" sz="2600" dirty="0"/>
          </a:p>
        </p:txBody>
      </p:sp>
      <p:sp>
        <p:nvSpPr>
          <p:cNvPr id="23" name="flow-5"/>
          <p:cNvSpPr/>
          <p:nvPr/>
        </p:nvSpPr>
        <p:spPr>
          <a:xfrm>
            <a:off x="9509760" y="1554480"/>
            <a:ext cx="2057400" cy="2377440"/>
          </a:xfrm>
          <a:prstGeom prst="roundRect">
            <a:avLst>
              <a:gd name="adj" fmla="val 5333"/>
            </a:avLst>
          </a:prstGeom>
          <a:solidFill>
            <a:srgbClr val="E6F2EB"/>
          </a:solidFill>
          <a:ln w="15875">
            <a:solidFill>
              <a:srgbClr val="CFE6DA"/>
            </a:solidFill>
            <a:prstDash val="solid"/>
          </a:ln>
        </p:spPr>
      </p:sp>
      <p:sp>
        <p:nvSpPr>
          <p:cNvPr id="24" name="Text 22"/>
          <p:cNvSpPr txBox="1"/>
          <p:nvPr/>
        </p:nvSpPr>
        <p:spPr>
          <a:xfrm>
            <a:off x="9674352" y="1737360"/>
            <a:ext cx="1728216" cy="274320"/>
          </a:xfrm>
          <a:prstGeom prst="rect">
            <a:avLst/>
          </a:prstGeom>
          <a:noFill/>
          <a:ln/>
        </p:spPr>
        <p:txBody>
          <a:bodyPr wrap="square" lIns="0" tIns="0" rIns="0" bIns="0" rtlCol="0" anchor="ctr"/>
          <a:lstStyle/>
          <a:p>
            <a:pPr indent="0" marL="0">
              <a:buNone/>
            </a:pPr>
            <a:r>
              <a:rPr lang="en-US" sz="1100" b="1" spc="100" kern="0" dirty="0">
                <a:solidFill>
                  <a:schemeClr val="accent1"/>
                </a:solidFill>
              </a:rPr>
              <a:t>THE TEAM</a:t>
            </a:r>
            <a:endParaRPr lang="en-US" sz="1100" dirty="0"/>
          </a:p>
        </p:txBody>
      </p:sp>
      <p:sp>
        <p:nvSpPr>
          <p:cNvPr id="25" name="Text 23"/>
          <p:cNvSpPr txBox="1"/>
          <p:nvPr/>
        </p:nvSpPr>
        <p:spPr>
          <a:xfrm>
            <a:off x="9674352" y="2057400"/>
            <a:ext cx="1728216" cy="457200"/>
          </a:xfrm>
          <a:prstGeom prst="rect">
            <a:avLst/>
          </a:prstGeom>
          <a:noFill/>
          <a:ln/>
        </p:spPr>
        <p:txBody>
          <a:bodyPr wrap="square" lIns="0" tIns="0" rIns="0" bIns="0" rtlCol="0" anchor="ctr"/>
          <a:lstStyle/>
          <a:p>
            <a:pPr indent="0" marL="0">
              <a:buNone/>
            </a:pPr>
            <a:r>
              <a:rPr lang="en-US" sz="1800" b="1" dirty="0">
                <a:solidFill>
                  <a:schemeClr val="tx2"/>
                </a:solidFill>
              </a:rPr>
              <a:t>Review &amp; decide</a:t>
            </a:r>
            <a:endParaRPr lang="en-US" sz="1800" dirty="0"/>
          </a:p>
        </p:txBody>
      </p:sp>
      <p:sp>
        <p:nvSpPr>
          <p:cNvPr id="26" name="Text 24"/>
          <p:cNvSpPr txBox="1"/>
          <p:nvPr/>
        </p:nvSpPr>
        <p:spPr>
          <a:xfrm>
            <a:off x="9674352" y="2560320"/>
            <a:ext cx="1728216" cy="1234440"/>
          </a:xfrm>
          <a:prstGeom prst="rect">
            <a:avLst/>
          </a:prstGeom>
          <a:noFill/>
          <a:ln/>
        </p:spPr>
        <p:txBody>
          <a:bodyPr wrap="square" lIns="0" tIns="0" rIns="0" bIns="0" rtlCol="0" anchor="t"/>
          <a:lstStyle/>
          <a:p>
            <a:pPr indent="0" marL="0">
              <a:buNone/>
            </a:pPr>
            <a:r>
              <a:rPr lang="en-US" sz="1400" dirty="0">
                <a:solidFill>
                  <a:srgbClr val="5B6573"/>
                </a:solidFill>
              </a:rPr>
              <a:t>Proceed, Park or Decline — then track it</a:t>
            </a:r>
            <a:endParaRPr lang="en-US" sz="1400" dirty="0"/>
          </a:p>
        </p:txBody>
      </p:sp>
      <p:sp>
        <p:nvSpPr>
          <p:cNvPr id="27" name="callout-blue"/>
          <p:cNvSpPr/>
          <p:nvPr/>
        </p:nvSpPr>
        <p:spPr>
          <a:xfrm>
            <a:off x="548640" y="4343400"/>
            <a:ext cx="11064240" cy="1417320"/>
          </a:xfrm>
          <a:prstGeom prst="roundRect">
            <a:avLst>
              <a:gd name="adj" fmla="val 7742"/>
            </a:avLst>
          </a:prstGeom>
          <a:solidFill>
            <a:srgbClr val="EEF3FB"/>
          </a:solidFill>
          <a:ln w="12700">
            <a:solidFill>
              <a:srgbClr val="D6E1F3"/>
            </a:solidFill>
            <a:prstDash val="solid"/>
          </a:ln>
        </p:spPr>
      </p:sp>
      <p:sp>
        <p:nvSpPr>
          <p:cNvPr id="28" name="Text 26"/>
          <p:cNvSpPr txBox="1"/>
          <p:nvPr/>
        </p:nvSpPr>
        <p:spPr>
          <a:xfrm>
            <a:off x="731520" y="4453128"/>
            <a:ext cx="10698480" cy="1197864"/>
          </a:xfrm>
          <a:prstGeom prst="rect">
            <a:avLst/>
          </a:prstGeom>
          <a:noFill/>
          <a:ln/>
        </p:spPr>
        <p:txBody>
          <a:bodyPr wrap="square" lIns="0" tIns="0" rIns="0" bIns="0" rtlCol="0" anchor="t"/>
          <a:lstStyle/>
          <a:p>
            <a:pPr indent="0" marL="0">
              <a:spcAft>
                <a:spcPts val="400"/>
              </a:spcAft>
              <a:buNone/>
            </a:pPr>
            <a:r>
              <a:rPr lang="en-US" sz="1400" b="1" dirty="0">
                <a:solidFill>
                  <a:schemeClr val="tx2"/>
                </a:solidFill>
              </a:rPr>
              <a:t>Raw records vs. your pipeline</a:t>
            </a:r>
            <a:endParaRPr lang="en-US" sz="1400" dirty="0"/>
          </a:p>
          <a:p>
            <a:pPr indent="0" marL="0">
              <a:spcAft>
                <a:spcPts val="400"/>
              </a:spcAft>
              <a:buNone/>
            </a:pPr>
            <a:r>
              <a:rPr lang="en-US" sz="1400" dirty="0">
                <a:solidFill>
                  <a:schemeClr val="tx1"/>
                </a:solidFill>
              </a:rPr>
              <a:t>Raw records are every call the crawl found — all countries, all themes, before any screening. They sit in one shared pool. The Eligibility Scan reads that pool against YOUR organisation's rules and adds only what fits to your pipeline.</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rPr>
              <a:t>The weekly rhythm</a:t>
            </a:r>
            <a:endParaRPr lang="en-US" sz="3200" dirty="0"/>
          </a:p>
        </p:txBody>
      </p:sp>
      <p:sp>
        <p:nvSpPr>
          <p:cNvPr id="3" name="day-1"/>
          <p:cNvSpPr/>
          <p:nvPr/>
        </p:nvSpPr>
        <p:spPr>
          <a:xfrm>
            <a:off x="548640" y="1600200"/>
            <a:ext cx="2606040" cy="3291840"/>
          </a:xfrm>
          <a:prstGeom prst="roundRect">
            <a:avLst>
              <a:gd name="adj" fmla="val 4211"/>
            </a:avLst>
          </a:prstGeom>
          <a:solidFill>
            <a:schemeClr val="bg2"/>
          </a:solidFill>
          <a:ln w="12700">
            <a:solidFill>
              <a:srgbClr val="E3E7EC"/>
            </a:solidFill>
            <a:prstDash val="solid"/>
          </a:ln>
        </p:spPr>
      </p:sp>
      <p:sp>
        <p:nvSpPr>
          <p:cNvPr id="4" name="Text 2"/>
          <p:cNvSpPr txBox="1"/>
          <p:nvPr/>
        </p:nvSpPr>
        <p:spPr>
          <a:xfrm>
            <a:off x="777240" y="1828800"/>
            <a:ext cx="2194560" cy="274320"/>
          </a:xfrm>
          <a:prstGeom prst="rect">
            <a:avLst/>
          </a:prstGeom>
          <a:noFill/>
          <a:ln/>
        </p:spPr>
        <p:txBody>
          <a:bodyPr wrap="square" lIns="0" tIns="0" rIns="0" bIns="0" rtlCol="0" anchor="ctr"/>
          <a:lstStyle/>
          <a:p>
            <a:pPr indent="0" marL="0">
              <a:buNone/>
            </a:pPr>
            <a:r>
              <a:rPr lang="en-US" sz="1200" b="1" spc="100" kern="0" dirty="0">
                <a:solidFill>
                  <a:schemeClr val="accent1"/>
                </a:solidFill>
              </a:rPr>
              <a:t>FRIDAY</a:t>
            </a:r>
            <a:endParaRPr lang="en-US" sz="1200" dirty="0"/>
          </a:p>
        </p:txBody>
      </p:sp>
      <p:sp>
        <p:nvSpPr>
          <p:cNvPr id="5" name="Text 3"/>
          <p:cNvSpPr txBox="1"/>
          <p:nvPr/>
        </p:nvSpPr>
        <p:spPr>
          <a:xfrm>
            <a:off x="777240" y="2194560"/>
            <a:ext cx="2194560" cy="502920"/>
          </a:xfrm>
          <a:prstGeom prst="rect">
            <a:avLst/>
          </a:prstGeom>
          <a:noFill/>
          <a:ln/>
        </p:spPr>
        <p:txBody>
          <a:bodyPr wrap="square" lIns="0" tIns="0" rIns="0" bIns="0" rtlCol="0" anchor="ctr"/>
          <a:lstStyle/>
          <a:p>
            <a:pPr indent="0" marL="0">
              <a:buNone/>
            </a:pPr>
            <a:r>
              <a:rPr lang="en-US" sz="2200" b="1" dirty="0">
                <a:solidFill>
                  <a:schemeClr val="tx2"/>
                </a:solidFill>
              </a:rPr>
              <a:t>Scan runs</a:t>
            </a:r>
            <a:endParaRPr lang="en-US" sz="2200" dirty="0"/>
          </a:p>
        </p:txBody>
      </p:sp>
      <p:sp>
        <p:nvSpPr>
          <p:cNvPr id="6" name="Text 4"/>
          <p:cNvSpPr txBox="1"/>
          <p:nvPr/>
        </p:nvSpPr>
        <p:spPr>
          <a:xfrm>
            <a:off x="777240" y="2834640"/>
            <a:ext cx="2194560" cy="1828800"/>
          </a:xfrm>
          <a:prstGeom prst="rect">
            <a:avLst/>
          </a:prstGeom>
          <a:noFill/>
          <a:ln/>
        </p:spPr>
        <p:txBody>
          <a:bodyPr wrap="square" lIns="0" tIns="0" rIns="0" bIns="0" rtlCol="0" anchor="t"/>
          <a:lstStyle/>
          <a:p>
            <a:pPr indent="0" marL="0">
              <a:buNone/>
            </a:pPr>
            <a:r>
              <a:rPr lang="en-US" sz="1500" dirty="0">
                <a:solidFill>
                  <a:srgbClr val="5B6573"/>
                </a:solidFill>
              </a:rPr>
              <a:t>The automatic scan refreshes the store. Watch the bell for “Scan completed”.</a:t>
            </a:r>
            <a:endParaRPr lang="en-US" sz="1500" dirty="0"/>
          </a:p>
        </p:txBody>
      </p:sp>
      <p:sp>
        <p:nvSpPr>
          <p:cNvPr id="7" name="day-2"/>
          <p:cNvSpPr/>
          <p:nvPr/>
        </p:nvSpPr>
        <p:spPr>
          <a:xfrm>
            <a:off x="3364992" y="1600200"/>
            <a:ext cx="2606040" cy="3291840"/>
          </a:xfrm>
          <a:prstGeom prst="roundRect">
            <a:avLst>
              <a:gd name="adj" fmla="val 4211"/>
            </a:avLst>
          </a:prstGeom>
          <a:solidFill>
            <a:schemeClr val="bg2"/>
          </a:solidFill>
          <a:ln w="12700">
            <a:solidFill>
              <a:srgbClr val="E3E7EC"/>
            </a:solidFill>
            <a:prstDash val="solid"/>
          </a:ln>
        </p:spPr>
      </p:sp>
      <p:sp>
        <p:nvSpPr>
          <p:cNvPr id="8" name="Text 6"/>
          <p:cNvSpPr txBox="1"/>
          <p:nvPr/>
        </p:nvSpPr>
        <p:spPr>
          <a:xfrm>
            <a:off x="3593592" y="1828800"/>
            <a:ext cx="2194560" cy="274320"/>
          </a:xfrm>
          <a:prstGeom prst="rect">
            <a:avLst/>
          </a:prstGeom>
          <a:noFill/>
          <a:ln/>
        </p:spPr>
        <p:txBody>
          <a:bodyPr wrap="square" lIns="0" tIns="0" rIns="0" bIns="0" rtlCol="0" anchor="ctr"/>
          <a:lstStyle/>
          <a:p>
            <a:pPr indent="0" marL="0">
              <a:buNone/>
            </a:pPr>
            <a:r>
              <a:rPr lang="en-US" sz="1200" b="1" spc="100" kern="0" dirty="0">
                <a:solidFill>
                  <a:schemeClr val="accent1"/>
                </a:solidFill>
              </a:rPr>
              <a:t>FRIDAY – SUNDAY</a:t>
            </a:r>
            <a:endParaRPr lang="en-US" sz="1200" dirty="0"/>
          </a:p>
        </p:txBody>
      </p:sp>
      <p:sp>
        <p:nvSpPr>
          <p:cNvPr id="9" name="Text 7"/>
          <p:cNvSpPr txBox="1"/>
          <p:nvPr/>
        </p:nvSpPr>
        <p:spPr>
          <a:xfrm>
            <a:off x="3593592" y="2194560"/>
            <a:ext cx="2194560" cy="502920"/>
          </a:xfrm>
          <a:prstGeom prst="rect">
            <a:avLst/>
          </a:prstGeom>
          <a:noFill/>
          <a:ln/>
        </p:spPr>
        <p:txBody>
          <a:bodyPr wrap="square" lIns="0" tIns="0" rIns="0" bIns="0" rtlCol="0" anchor="ctr"/>
          <a:lstStyle/>
          <a:p>
            <a:pPr indent="0" marL="0">
              <a:buNone/>
            </a:pPr>
            <a:r>
              <a:rPr lang="en-US" sz="2200" b="1" dirty="0">
                <a:solidFill>
                  <a:schemeClr val="tx2"/>
                </a:solidFill>
              </a:rPr>
              <a:t>Screen &amp; submit</a:t>
            </a:r>
            <a:endParaRPr lang="en-US" sz="2200" dirty="0"/>
          </a:p>
        </p:txBody>
      </p:sp>
      <p:sp>
        <p:nvSpPr>
          <p:cNvPr id="10" name="Text 8"/>
          <p:cNvSpPr txBox="1"/>
          <p:nvPr/>
        </p:nvSpPr>
        <p:spPr>
          <a:xfrm>
            <a:off x="3593592" y="2834640"/>
            <a:ext cx="2194560" cy="1828800"/>
          </a:xfrm>
          <a:prstGeom prst="rect">
            <a:avLst/>
          </a:prstGeom>
          <a:noFill/>
          <a:ln/>
        </p:spPr>
        <p:txBody>
          <a:bodyPr wrap="square" lIns="0" tIns="0" rIns="0" bIns="0" rtlCol="0" anchor="t"/>
          <a:lstStyle/>
          <a:p>
            <a:pPr indent="0" marL="0">
              <a:buNone/>
            </a:pPr>
            <a:r>
              <a:rPr lang="en-US" sz="1500" dirty="0">
                <a:solidFill>
                  <a:srgbClr val="5B6573"/>
                </a:solidFill>
              </a:rPr>
              <a:t>Run the Eligibility Scan. Submit any RFP you found outside the scan.</a:t>
            </a:r>
            <a:endParaRPr lang="en-US" sz="1500" dirty="0"/>
          </a:p>
        </p:txBody>
      </p:sp>
      <p:sp>
        <p:nvSpPr>
          <p:cNvPr id="11" name="day-3"/>
          <p:cNvSpPr/>
          <p:nvPr/>
        </p:nvSpPr>
        <p:spPr>
          <a:xfrm>
            <a:off x="6181344" y="1600200"/>
            <a:ext cx="2606040" cy="3291840"/>
          </a:xfrm>
          <a:prstGeom prst="roundRect">
            <a:avLst>
              <a:gd name="adj" fmla="val 4211"/>
            </a:avLst>
          </a:prstGeom>
          <a:solidFill>
            <a:schemeClr val="accent3"/>
          </a:solidFill>
          <a:ln w="12700">
            <a:solidFill>
              <a:srgbClr val="E3E7EC"/>
            </a:solidFill>
            <a:prstDash val="solid"/>
          </a:ln>
        </p:spPr>
      </p:sp>
      <p:sp>
        <p:nvSpPr>
          <p:cNvPr id="12" name="Text 10"/>
          <p:cNvSpPr txBox="1"/>
          <p:nvPr/>
        </p:nvSpPr>
        <p:spPr>
          <a:xfrm>
            <a:off x="6409944" y="1828800"/>
            <a:ext cx="2194560" cy="274320"/>
          </a:xfrm>
          <a:prstGeom prst="rect">
            <a:avLst/>
          </a:prstGeom>
          <a:noFill/>
          <a:ln/>
        </p:spPr>
        <p:txBody>
          <a:bodyPr wrap="square" lIns="0" tIns="0" rIns="0" bIns="0" rtlCol="0" anchor="ctr"/>
          <a:lstStyle/>
          <a:p>
            <a:pPr indent="0" marL="0">
              <a:buNone/>
            </a:pPr>
            <a:r>
              <a:rPr lang="en-US" sz="1200" b="1" spc="100" kern="0" dirty="0">
                <a:solidFill>
                  <a:schemeClr val="accent1"/>
                </a:solidFill>
              </a:rPr>
              <a:t>MONDAY CALL</a:t>
            </a:r>
            <a:endParaRPr lang="en-US" sz="1200" dirty="0"/>
          </a:p>
        </p:txBody>
      </p:sp>
      <p:sp>
        <p:nvSpPr>
          <p:cNvPr id="13" name="Text 11"/>
          <p:cNvSpPr txBox="1"/>
          <p:nvPr/>
        </p:nvSpPr>
        <p:spPr>
          <a:xfrm>
            <a:off x="6409944" y="2194560"/>
            <a:ext cx="2194560" cy="502920"/>
          </a:xfrm>
          <a:prstGeom prst="rect">
            <a:avLst/>
          </a:prstGeom>
          <a:noFill/>
          <a:ln/>
        </p:spPr>
        <p:txBody>
          <a:bodyPr wrap="square" lIns="0" tIns="0" rIns="0" bIns="0" rtlCol="0" anchor="ctr"/>
          <a:lstStyle/>
          <a:p>
            <a:pPr indent="0" marL="0">
              <a:buNone/>
            </a:pPr>
            <a:r>
              <a:rPr lang="en-US" sz="2200" b="1" dirty="0">
                <a:solidFill>
                  <a:schemeClr val="tx2"/>
                </a:solidFill>
              </a:rPr>
              <a:t>Team meeting</a:t>
            </a:r>
            <a:endParaRPr lang="en-US" sz="2200" dirty="0"/>
          </a:p>
        </p:txBody>
      </p:sp>
      <p:sp>
        <p:nvSpPr>
          <p:cNvPr id="14" name="Text 12"/>
          <p:cNvSpPr txBox="1"/>
          <p:nvPr/>
        </p:nvSpPr>
        <p:spPr>
          <a:xfrm>
            <a:off x="6409944" y="2834640"/>
            <a:ext cx="2194560" cy="1828800"/>
          </a:xfrm>
          <a:prstGeom prst="rect">
            <a:avLst/>
          </a:prstGeom>
          <a:noFill/>
          <a:ln/>
        </p:spPr>
        <p:txBody>
          <a:bodyPr wrap="square" lIns="0" tIns="0" rIns="0" bIns="0" rtlCol="0" anchor="t"/>
          <a:lstStyle/>
          <a:p>
            <a:pPr indent="0" marL="0">
              <a:buNone/>
            </a:pPr>
            <a:r>
              <a:rPr lang="en-US" sz="1500" dirty="0">
                <a:solidFill>
                  <a:srgbClr val="5B6573"/>
                </a:solidFill>
              </a:rPr>
              <a:t>Walk through Screen, agree decisions, capture notes and actions.</a:t>
            </a:r>
            <a:endParaRPr lang="en-US" sz="1500" dirty="0"/>
          </a:p>
        </p:txBody>
      </p:sp>
      <p:sp>
        <p:nvSpPr>
          <p:cNvPr id="15" name="day-4"/>
          <p:cNvSpPr/>
          <p:nvPr/>
        </p:nvSpPr>
        <p:spPr>
          <a:xfrm>
            <a:off x="8997696" y="1600200"/>
            <a:ext cx="2606040" cy="3291840"/>
          </a:xfrm>
          <a:prstGeom prst="roundRect">
            <a:avLst>
              <a:gd name="adj" fmla="val 4211"/>
            </a:avLst>
          </a:prstGeom>
          <a:solidFill>
            <a:schemeClr val="bg2"/>
          </a:solidFill>
          <a:ln w="12700">
            <a:solidFill>
              <a:srgbClr val="E3E7EC"/>
            </a:solidFill>
            <a:prstDash val="solid"/>
          </a:ln>
        </p:spPr>
      </p:sp>
      <p:sp>
        <p:nvSpPr>
          <p:cNvPr id="16" name="Text 14"/>
          <p:cNvSpPr txBox="1"/>
          <p:nvPr/>
        </p:nvSpPr>
        <p:spPr>
          <a:xfrm>
            <a:off x="9226296" y="1828800"/>
            <a:ext cx="2194560" cy="274320"/>
          </a:xfrm>
          <a:prstGeom prst="rect">
            <a:avLst/>
          </a:prstGeom>
          <a:noFill/>
          <a:ln/>
        </p:spPr>
        <p:txBody>
          <a:bodyPr wrap="square" lIns="0" tIns="0" rIns="0" bIns="0" rtlCol="0" anchor="ctr"/>
          <a:lstStyle/>
          <a:p>
            <a:pPr indent="0" marL="0">
              <a:buNone/>
            </a:pPr>
            <a:r>
              <a:rPr lang="en-US" sz="1200" b="1" spc="100" kern="0" dirty="0">
                <a:solidFill>
                  <a:schemeClr val="accent1"/>
                </a:solidFill>
              </a:rPr>
              <a:t>MID-WEEK</a:t>
            </a:r>
            <a:endParaRPr lang="en-US" sz="1200" dirty="0"/>
          </a:p>
        </p:txBody>
      </p:sp>
      <p:sp>
        <p:nvSpPr>
          <p:cNvPr id="17" name="Text 15"/>
          <p:cNvSpPr txBox="1"/>
          <p:nvPr/>
        </p:nvSpPr>
        <p:spPr>
          <a:xfrm>
            <a:off x="9226296" y="2194560"/>
            <a:ext cx="2194560" cy="502920"/>
          </a:xfrm>
          <a:prstGeom prst="rect">
            <a:avLst/>
          </a:prstGeom>
          <a:noFill/>
          <a:ln/>
        </p:spPr>
        <p:txBody>
          <a:bodyPr wrap="square" lIns="0" tIns="0" rIns="0" bIns="0" rtlCol="0" anchor="ctr"/>
          <a:lstStyle/>
          <a:p>
            <a:pPr indent="0" marL="0">
              <a:buNone/>
            </a:pPr>
            <a:r>
              <a:rPr lang="en-US" sz="2200" b="1" dirty="0">
                <a:solidFill>
                  <a:schemeClr val="tx2"/>
                </a:solidFill>
              </a:rPr>
              <a:t>Follow through</a:t>
            </a:r>
            <a:endParaRPr lang="en-US" sz="2200" dirty="0"/>
          </a:p>
        </p:txBody>
      </p:sp>
      <p:sp>
        <p:nvSpPr>
          <p:cNvPr id="18" name="Text 16"/>
          <p:cNvSpPr txBox="1"/>
          <p:nvPr/>
        </p:nvSpPr>
        <p:spPr>
          <a:xfrm>
            <a:off x="9226296" y="2834640"/>
            <a:ext cx="2194560" cy="1828800"/>
          </a:xfrm>
          <a:prstGeom prst="rect">
            <a:avLst/>
          </a:prstGeom>
          <a:noFill/>
          <a:ln/>
        </p:spPr>
        <p:txBody>
          <a:bodyPr wrap="square" lIns="0" tIns="0" rIns="0" bIns="0" rtlCol="0" anchor="t"/>
          <a:lstStyle/>
          <a:p>
            <a:pPr indent="0" marL="0">
              <a:buNone/>
            </a:pPr>
            <a:r>
              <a:rPr lang="en-US" sz="1500" dirty="0">
                <a:solidFill>
                  <a:srgbClr val="5B6573"/>
                </a:solidFill>
              </a:rPr>
              <a:t>Work the Track tab, log donor engagements, close pending actions.</a:t>
            </a:r>
            <a:endParaRPr lang="en-US" sz="1500" dirty="0"/>
          </a:p>
        </p:txBody>
      </p:sp>
      <p:sp>
        <p:nvSpPr>
          <p:cNvPr id="19" name="Text 17"/>
          <p:cNvSpPr txBox="1"/>
          <p:nvPr/>
        </p:nvSpPr>
        <p:spPr>
          <a:xfrm>
            <a:off x="548640" y="5257800"/>
            <a:ext cx="11064240" cy="457200"/>
          </a:xfrm>
          <a:prstGeom prst="rect">
            <a:avLst/>
          </a:prstGeom>
          <a:noFill/>
          <a:ln/>
        </p:spPr>
        <p:txBody>
          <a:bodyPr wrap="square" lIns="0" tIns="0" rIns="0" bIns="0" rtlCol="0" anchor="ctr"/>
          <a:lstStyle/>
          <a:p>
            <a:pPr indent="0" marL="0">
              <a:buNone/>
            </a:pPr>
            <a:r>
              <a:rPr lang="en-US" sz="1600" i="1" dirty="0">
                <a:solidFill>
                  <a:schemeClr val="accent1"/>
                </a:solidFill>
              </a:rPr>
              <a:t>The Monday call is where most of us work in RFPIS — decisions, notes and actions.</a:t>
            </a:r>
            <a:endParaRPr lang="en-US" sz="16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rPr>
              <a:t>Roles: what you can and can't do</a:t>
            </a:r>
            <a:endParaRPr lang="en-US" sz="32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914400"/>
        </p:xfrm>
        <a:graphic>
          <a:graphicData uri="http://schemas.openxmlformats.org/drawingml/2006/table">
            <a:tbl>
              <a:tblPr/>
              <a:tblGrid>
                <a:gridCol w="5212080"/>
                <a:gridCol w="1463040"/>
                <a:gridCol w="1463040"/>
                <a:gridCol w="1463040"/>
                <a:gridCol w="1463040"/>
              </a:tblGrid>
              <a:tr h="475488">
                <a:tc>
                  <a:txBody>
                    <a:bodyPr/>
                    <a:lstStyle/>
                    <a:p>
                      <a:pPr indent="0" marL="0">
                        <a:buNone/>
                      </a:pPr>
                      <a:r>
                        <a:rPr lang="en-US" sz="1400" b="1" dirty="0">
                          <a:solidFill>
                            <a:schemeClr val="tx2"/>
                          </a:solidFill>
                        </a:rPr>
                        <a:t>What you want to do</a:t>
                      </a:r>
                      <a:endParaRPr lang="en-US" sz="1400" dirty="0"/>
                    </a:p>
                  </a:txBody>
                  <a:tcPr marL="73152" marR="73152" marT="73152" marB="73152" anchor="ctr">
                    <a:lnL w="9525" cap="flat" cmpd="sng" algn="ctr">
                      <a:solidFill>
                        <a:srgbClr val="E3E7EC"/>
                      </a:solidFill>
                      <a:prstDash val="solid"/>
                      <a:round/>
                      <a:headEnd type="none" w="med" len="med"/>
                      <a:tailEnd type="none" w="med" len="med"/>
                    </a:lnL>
                    <a:lnR w="9525" cap="flat" cmpd="sng" algn="ctr">
                      <a:solidFill>
                        <a:srgbClr val="E3E7EC"/>
                      </a:solidFill>
                      <a:prstDash val="solid"/>
                      <a:round/>
                      <a:headEnd type="none" w="med" len="med"/>
                      <a:tailEnd type="none" w="med" len="med"/>
                    </a:lnR>
                    <a:lnT w="9525" cap="flat" cmpd="sng" algn="ctr">
                      <a:solidFill>
                        <a:srgbClr val="E3E7EC"/>
                      </a:solidFill>
                      <a:prstDash val="solid"/>
                      <a:round/>
                      <a:headEnd type="none" w="med" len="med"/>
                      <a:tailEnd type="none" w="med" len="med"/>
                    </a:lnT>
                    <a:lnB w="9525" cap="flat" cmpd="sng" algn="ctr">
                      <a:solidFill>
                        <a:srgbClr val="E3E7EC"/>
                      </a:solidFill>
                      <a:prstDash val="solid"/>
                      <a:round/>
                      <a:headEnd type="none" w="med" len="med"/>
                      <a:tailEnd type="none" w="med" len="med"/>
                    </a:lnB>
                    <a:solidFill>
                      <a:schemeClr val="bg2"/>
                    </a:solidFill>
                  </a:tcPr>
                </a:tc>
                <a:tc>
                  <a:txBody>
                    <a:bodyPr/>
                    <a:lstStyle/>
                    <a:p>
                      <a:pPr indent="0" marL="0">
                        <a:buNone/>
                      </a:pPr>
                      <a:r>
                        <a:rPr lang="en-US" sz="1400" b="1" dirty="0">
                          <a:solidFill>
                            <a:schemeClr val="tx2"/>
                          </a:solidFill>
                        </a:rPr>
                        <a:t>Contributor</a:t>
                      </a:r>
                      <a:endParaRPr lang="en-US" sz="1400" dirty="0"/>
                    </a:p>
                  </a:txBody>
                  <a:tcPr marL="73152" marR="73152" marT="73152" marB="73152" anchor="ctr">
                    <a:lnL w="9525" cap="flat" cmpd="sng" algn="ctr">
                      <a:solidFill>
                        <a:srgbClr val="E3E7EC"/>
                      </a:solidFill>
                      <a:prstDash val="solid"/>
                      <a:round/>
                      <a:headEnd type="none" w="med" len="med"/>
                      <a:tailEnd type="none" w="med" len="med"/>
                    </a:lnL>
                    <a:lnR w="9525" cap="flat" cmpd="sng" algn="ctr">
                      <a:solidFill>
                        <a:srgbClr val="E3E7EC"/>
                      </a:solidFill>
                      <a:prstDash val="solid"/>
                      <a:round/>
                      <a:headEnd type="none" w="med" len="med"/>
                      <a:tailEnd type="none" w="med" len="med"/>
                    </a:lnR>
                    <a:lnT w="9525" cap="flat" cmpd="sng" algn="ctr">
                      <a:solidFill>
                        <a:srgbClr val="E3E7EC"/>
                      </a:solidFill>
                      <a:prstDash val="solid"/>
                      <a:round/>
                      <a:headEnd type="none" w="med" len="med"/>
                      <a:tailEnd type="none" w="med" len="med"/>
                    </a:lnT>
                    <a:lnB w="9525" cap="flat" cmpd="sng" algn="ctr">
                      <a:solidFill>
                        <a:srgbClr val="E3E7EC"/>
                      </a:solidFill>
                      <a:prstDash val="solid"/>
                      <a:round/>
                      <a:headEnd type="none" w="med" len="med"/>
                      <a:tailEnd type="none" w="med" len="med"/>
                    </a:lnB>
                    <a:solidFill>
                      <a:schemeClr val="bg2"/>
                    </a:solidFill>
                  </a:tcPr>
                </a:tc>
                <a:tc>
                  <a:txBody>
                    <a:bodyPr/>
                    <a:lstStyle/>
                    <a:p>
                      <a:pPr indent="0" marL="0">
                        <a:buNone/>
                      </a:pPr>
                      <a:r>
                        <a:rPr lang="en-US" sz="1400" b="1" dirty="0">
                          <a:solidFill>
                            <a:schemeClr val="tx2"/>
                          </a:solidFill>
                        </a:rPr>
                        <a:t>Reviewer</a:t>
                      </a:r>
                      <a:endParaRPr lang="en-US" sz="1400" dirty="0"/>
                    </a:p>
                  </a:txBody>
                  <a:tcPr marL="73152" marR="73152" marT="73152" marB="73152" anchor="ctr">
                    <a:lnL w="9525" cap="flat" cmpd="sng" algn="ctr">
                      <a:solidFill>
                        <a:srgbClr val="E3E7EC"/>
                      </a:solidFill>
                      <a:prstDash val="solid"/>
                      <a:round/>
                      <a:headEnd type="none" w="med" len="med"/>
                      <a:tailEnd type="none" w="med" len="med"/>
                    </a:lnL>
                    <a:lnR w="9525" cap="flat" cmpd="sng" algn="ctr">
                      <a:solidFill>
                        <a:srgbClr val="E3E7EC"/>
                      </a:solidFill>
                      <a:prstDash val="solid"/>
                      <a:round/>
                      <a:headEnd type="none" w="med" len="med"/>
                      <a:tailEnd type="none" w="med" len="med"/>
                    </a:lnR>
                    <a:lnT w="9525" cap="flat" cmpd="sng" algn="ctr">
                      <a:solidFill>
                        <a:srgbClr val="E3E7EC"/>
                      </a:solidFill>
                      <a:prstDash val="solid"/>
                      <a:round/>
                      <a:headEnd type="none" w="med" len="med"/>
                      <a:tailEnd type="none" w="med" len="med"/>
                    </a:lnT>
                    <a:lnB w="9525" cap="flat" cmpd="sng" algn="ctr">
                      <a:solidFill>
                        <a:srgbClr val="E3E7EC"/>
                      </a:solidFill>
                      <a:prstDash val="solid"/>
                      <a:round/>
                      <a:headEnd type="none" w="med" len="med"/>
                      <a:tailEnd type="none" w="med" len="med"/>
                    </a:lnB>
                    <a:solidFill>
                      <a:schemeClr val="bg2"/>
                    </a:solidFill>
                  </a:tcPr>
                </a:tc>
                <a:tc>
                  <a:txBody>
                    <a:bodyPr/>
                    <a:lstStyle/>
                    <a:p>
                      <a:pPr indent="0" marL="0">
                        <a:buNone/>
                      </a:pPr>
                      <a:r>
                        <a:rPr lang="en-US" sz="1400" b="1" dirty="0">
                          <a:solidFill>
                            <a:schemeClr val="tx2"/>
                          </a:solidFill>
                        </a:rPr>
                        <a:t>Admin</a:t>
                      </a:r>
                      <a:endParaRPr lang="en-US" sz="1400" dirty="0"/>
                    </a:p>
                  </a:txBody>
                  <a:tcPr marL="73152" marR="73152" marT="73152" marB="73152" anchor="ctr">
                    <a:lnL w="9525" cap="flat" cmpd="sng" algn="ctr">
                      <a:solidFill>
                        <a:srgbClr val="E3E7EC"/>
                      </a:solidFill>
                      <a:prstDash val="solid"/>
                      <a:round/>
                      <a:headEnd type="none" w="med" len="med"/>
                      <a:tailEnd type="none" w="med" len="med"/>
                    </a:lnL>
                    <a:lnR w="9525" cap="flat" cmpd="sng" algn="ctr">
                      <a:solidFill>
                        <a:srgbClr val="E3E7EC"/>
                      </a:solidFill>
                      <a:prstDash val="solid"/>
                      <a:round/>
                      <a:headEnd type="none" w="med" len="med"/>
                      <a:tailEnd type="none" w="med" len="med"/>
                    </a:lnR>
                    <a:lnT w="9525" cap="flat" cmpd="sng" algn="ctr">
                      <a:solidFill>
                        <a:srgbClr val="E3E7EC"/>
                      </a:solidFill>
                      <a:prstDash val="solid"/>
                      <a:round/>
                      <a:headEnd type="none" w="med" len="med"/>
                      <a:tailEnd type="none" w="med" len="med"/>
                    </a:lnT>
                    <a:lnB w="9525" cap="flat" cmpd="sng" algn="ctr">
                      <a:solidFill>
                        <a:srgbClr val="E3E7EC"/>
                      </a:solidFill>
                      <a:prstDash val="solid"/>
                      <a:round/>
                      <a:headEnd type="none" w="med" len="med"/>
                      <a:tailEnd type="none" w="med" len="med"/>
                    </a:lnB>
                    <a:solidFill>
                      <a:schemeClr val="bg2"/>
                    </a:solidFill>
                  </a:tcPr>
                </a:tc>
                <a:tc>
                  <a:txBody>
                    <a:bodyPr/>
                    <a:lstStyle/>
                    <a:p>
                      <a:pPr indent="0" marL="0">
                        <a:buNone/>
                      </a:pPr>
                      <a:r>
                        <a:rPr lang="en-US" sz="1400" b="1" dirty="0">
                          <a:solidFill>
                            <a:schemeClr val="tx2"/>
                          </a:solidFill>
                        </a:rPr>
                        <a:t>Super User</a:t>
                      </a:r>
                      <a:endParaRPr lang="en-US" sz="1400" dirty="0"/>
                    </a:p>
                  </a:txBody>
                  <a:tcPr marL="73152" marR="73152" marT="73152" marB="73152" anchor="ctr">
                    <a:lnL w="9525" cap="flat" cmpd="sng" algn="ctr">
                      <a:solidFill>
                        <a:srgbClr val="E3E7EC"/>
                      </a:solidFill>
                      <a:prstDash val="solid"/>
                      <a:round/>
                      <a:headEnd type="none" w="med" len="med"/>
                      <a:tailEnd type="none" w="med" len="med"/>
                    </a:lnL>
                    <a:lnR w="9525" cap="flat" cmpd="sng" algn="ctr">
                      <a:solidFill>
                        <a:srgbClr val="E3E7EC"/>
                      </a:solidFill>
                      <a:prstDash val="solid"/>
                      <a:round/>
                      <a:headEnd type="none" w="med" len="med"/>
                      <a:tailEnd type="none" w="med" len="med"/>
                    </a:lnR>
                    <a:lnT w="9525" cap="flat" cmpd="sng" algn="ctr">
                      <a:solidFill>
                        <a:srgbClr val="E3E7EC"/>
                      </a:solidFill>
                      <a:prstDash val="solid"/>
                      <a:round/>
                      <a:headEnd type="none" w="med" len="med"/>
                      <a:tailEnd type="none" w="med" len="med"/>
                    </a:lnT>
                    <a:lnB w="9525" cap="flat" cmpd="sng" algn="ctr">
                      <a:solidFill>
                        <a:srgbClr val="E3E7EC"/>
                      </a:solidFill>
                      <a:prstDash val="solid"/>
                      <a:round/>
                      <a:headEnd type="none" w="med" len="med"/>
                      <a:tailEnd type="none" w="med" len="med"/>
                    </a:lnB>
                    <a:solidFill>
                      <a:schemeClr val="bg2"/>
                    </a:solidFill>
                  </a:tcPr>
                </a:tc>
              </a:tr>
              <a:tr h="475488">
                <a:tc>
                  <a:txBody>
                    <a:bodyPr/>
                    <a:lstStyle/>
                    <a:p>
                      <a:pPr indent="0" marL="0">
                        <a:buNone/>
                      </a:pPr>
                      <a:r>
                        <a:rPr lang="en-US" sz="1400" dirty="0">
                          <a:solidFill>
                            <a:schemeClr val="tx1"/>
                          </a:solidFill>
                        </a:rPr>
                        <a:t>Run the Eligibility Scan, search, read the pipeline</a:t>
                      </a:r>
                      <a:endParaRPr lang="en-US" sz="1400" dirty="0"/>
                    </a:p>
                  </a:txBody>
                  <a:tcPr marL="73152" marR="73152" marT="73152" marB="73152" anchor="ctr">
                    <a:lnL w="9525" cap="flat" cmpd="sng" algn="ctr">
                      <a:solidFill>
                        <a:srgbClr val="E3E7EC"/>
                      </a:solidFill>
                      <a:prstDash val="solid"/>
                      <a:round/>
                      <a:headEnd type="none" w="med" len="med"/>
                      <a:tailEnd type="none" w="med" len="med"/>
                    </a:lnL>
                    <a:lnR w="9525" cap="flat" cmpd="sng" algn="ctr">
                      <a:solidFill>
                        <a:srgbClr val="E3E7EC"/>
                      </a:solidFill>
                      <a:prstDash val="solid"/>
                      <a:round/>
                      <a:headEnd type="none" w="med" len="med"/>
                      <a:tailEnd type="none" w="med" len="med"/>
                    </a:lnR>
                    <a:lnT w="9525" cap="flat" cmpd="sng" algn="ctr">
                      <a:solidFill>
                        <a:srgbClr val="E3E7EC"/>
                      </a:solidFill>
                      <a:prstDash val="solid"/>
                      <a:round/>
                      <a:headEnd type="none" w="med" len="med"/>
                      <a:tailEnd type="none" w="med" len="med"/>
                    </a:lnT>
                    <a:lnB w="9525" cap="flat" cmpd="sng" algn="ctr">
                      <a:solidFill>
                        <a:srgbClr val="E3E7EC"/>
                      </a:solidFill>
                      <a:prstDash val="solid"/>
                      <a:round/>
                      <a:headEnd type="none" w="med" len="med"/>
                      <a:tailEnd type="none" w="med" len="med"/>
                    </a:lnB>
                  </a:tcPr>
                </a:tc>
                <a:tc>
                  <a:txBody>
                    <a:bodyPr/>
                    <a:lstStyle/>
                    <a:p>
                      <a:pPr algn="ctr" indent="0" marL="0">
                        <a:buNone/>
                      </a:pPr>
                      <a:r>
                        <a:rPr lang="en-US" sz="1400" b="1" dirty="0">
                          <a:solidFill>
                            <a:schemeClr val="accent1"/>
                          </a:solidFill>
                        </a:rPr>
                        <a:t>✓</a:t>
                      </a:r>
                      <a:endParaRPr lang="en-US" sz="1400" dirty="0"/>
                    </a:p>
                  </a:txBody>
                  <a:tcPr marL="73152" marR="73152" marT="73152" marB="73152" anchor="ctr">
                    <a:lnL w="9525" cap="flat" cmpd="sng" algn="ctr">
                      <a:solidFill>
                        <a:srgbClr val="E3E7EC"/>
                      </a:solidFill>
                      <a:prstDash val="solid"/>
                      <a:round/>
                      <a:headEnd type="none" w="med" len="med"/>
                      <a:tailEnd type="none" w="med" len="med"/>
                    </a:lnL>
                    <a:lnR w="9525" cap="flat" cmpd="sng" algn="ctr">
                      <a:solidFill>
                        <a:srgbClr val="E3E7EC"/>
                      </a:solidFill>
                      <a:prstDash val="solid"/>
                      <a:round/>
                      <a:headEnd type="none" w="med" len="med"/>
                      <a:tailEnd type="none" w="med" len="med"/>
                    </a:lnR>
                    <a:lnT w="9525" cap="flat" cmpd="sng" algn="ctr">
                      <a:solidFill>
                        <a:srgbClr val="E3E7EC"/>
                      </a:solidFill>
                      <a:prstDash val="solid"/>
                      <a:round/>
                      <a:headEnd type="none" w="med" len="med"/>
                      <a:tailEnd type="none" w="med" len="med"/>
                    </a:lnT>
                    <a:lnB w="9525" cap="flat" cmpd="sng" algn="ctr">
                      <a:solidFill>
                        <a:srgbClr val="E3E7EC"/>
                      </a:solidFill>
                      <a:prstDash val="solid"/>
                      <a:round/>
                      <a:headEnd type="none" w="med" len="med"/>
                      <a:tailEnd type="none" w="med" len="med"/>
                    </a:lnB>
                  </a:tcPr>
                </a:tc>
                <a:tc>
                  <a:txBody>
                    <a:bodyPr/>
                    <a:lstStyle/>
                    <a:p>
                      <a:pPr algn="ctr" indent="0" marL="0">
                        <a:buNone/>
                      </a:pPr>
                      <a:r>
                        <a:rPr lang="en-US" sz="1400" b="1" dirty="0">
                          <a:solidFill>
                            <a:schemeClr val="accent1"/>
                          </a:solidFill>
                        </a:rPr>
                        <a:t>✓</a:t>
                      </a:r>
                      <a:endParaRPr lang="en-US" sz="1400" dirty="0"/>
                    </a:p>
                  </a:txBody>
                  <a:tcPr marL="73152" marR="73152" marT="73152" marB="73152" anchor="ctr">
                    <a:lnL w="9525" cap="flat" cmpd="sng" algn="ctr">
                      <a:solidFill>
                        <a:srgbClr val="E3E7EC"/>
                      </a:solidFill>
                      <a:prstDash val="solid"/>
                      <a:round/>
                      <a:headEnd type="none" w="med" len="med"/>
                      <a:tailEnd type="none" w="med" len="med"/>
                    </a:lnL>
                    <a:lnR w="9525" cap="flat" cmpd="sng" algn="ctr">
                      <a:solidFill>
                        <a:srgbClr val="E3E7EC"/>
                      </a:solidFill>
                      <a:prstDash val="solid"/>
                      <a:round/>
                      <a:headEnd type="none" w="med" len="med"/>
                      <a:tailEnd type="none" w="med" len="med"/>
                    </a:lnR>
                    <a:lnT w="9525" cap="flat" cmpd="sng" algn="ctr">
                      <a:solidFill>
                        <a:srgbClr val="E3E7EC"/>
                      </a:solidFill>
                      <a:prstDash val="solid"/>
                      <a:round/>
                      <a:headEnd type="none" w="med" len="med"/>
                      <a:tailEnd type="none" w="med" len="med"/>
                    </a:lnT>
                    <a:lnB w="9525" cap="flat" cmpd="sng" algn="ctr">
                      <a:solidFill>
                        <a:srgbClr val="E3E7EC"/>
                      </a:solidFill>
                      <a:prstDash val="solid"/>
                      <a:round/>
                      <a:headEnd type="none" w="med" len="med"/>
                      <a:tailEnd type="none" w="med" len="med"/>
                    </a:lnB>
                  </a:tcPr>
                </a:tc>
                <a:tc>
                  <a:txBody>
                    <a:bodyPr/>
                    <a:lstStyle/>
                    <a:p>
                      <a:pPr algn="ctr" indent="0" marL="0">
                        <a:buNone/>
                      </a:pPr>
                      <a:r>
                        <a:rPr lang="en-US" sz="1400" b="1" dirty="0">
                          <a:solidFill>
                            <a:schemeClr val="accent1"/>
                          </a:solidFill>
                        </a:rPr>
                        <a:t>✓</a:t>
                      </a:r>
                      <a:endParaRPr lang="en-US" sz="1400" dirty="0"/>
                    </a:p>
                  </a:txBody>
                  <a:tcPr marL="73152" marR="73152" marT="73152" marB="73152" anchor="ctr">
                    <a:lnL w="9525" cap="flat" cmpd="sng" algn="ctr">
                      <a:solidFill>
                        <a:srgbClr val="E3E7EC"/>
                      </a:solidFill>
                      <a:prstDash val="solid"/>
                      <a:round/>
                      <a:headEnd type="none" w="med" len="med"/>
                      <a:tailEnd type="none" w="med" len="med"/>
                    </a:lnL>
                    <a:lnR w="9525" cap="flat" cmpd="sng" algn="ctr">
                      <a:solidFill>
                        <a:srgbClr val="E3E7EC"/>
                      </a:solidFill>
                      <a:prstDash val="solid"/>
                      <a:round/>
                      <a:headEnd type="none" w="med" len="med"/>
                      <a:tailEnd type="none" w="med" len="med"/>
                    </a:lnR>
                    <a:lnT w="9525" cap="flat" cmpd="sng" algn="ctr">
                      <a:solidFill>
                        <a:srgbClr val="E3E7EC"/>
                      </a:solidFill>
                      <a:prstDash val="solid"/>
                      <a:round/>
                      <a:headEnd type="none" w="med" len="med"/>
                      <a:tailEnd type="none" w="med" len="med"/>
                    </a:lnT>
                    <a:lnB w="9525" cap="flat" cmpd="sng" algn="ctr">
                      <a:solidFill>
                        <a:srgbClr val="E3E7EC"/>
                      </a:solidFill>
                      <a:prstDash val="solid"/>
                      <a:round/>
                      <a:headEnd type="none" w="med" len="med"/>
                      <a:tailEnd type="none" w="med" len="med"/>
                    </a:lnB>
                  </a:tcPr>
                </a:tc>
                <a:tc>
                  <a:txBody>
                    <a:bodyPr/>
                    <a:lstStyle/>
                    <a:p>
                      <a:pPr algn="ctr" indent="0" marL="0">
                        <a:buNone/>
                      </a:pPr>
                      <a:r>
                        <a:rPr lang="en-US" sz="1400" b="1" dirty="0">
                          <a:solidFill>
                            <a:schemeClr val="accent1"/>
                          </a:solidFill>
                        </a:rPr>
                        <a:t>✓</a:t>
                      </a:r>
                      <a:endParaRPr lang="en-US" sz="1400" dirty="0"/>
                    </a:p>
                  </a:txBody>
                  <a:tcPr marL="73152" marR="73152" marT="73152" marB="73152" anchor="ctr">
                    <a:lnL w="9525" cap="flat" cmpd="sng" algn="ctr">
                      <a:solidFill>
                        <a:srgbClr val="E3E7EC"/>
                      </a:solidFill>
                      <a:prstDash val="solid"/>
                      <a:round/>
                      <a:headEnd type="none" w="med" len="med"/>
                      <a:tailEnd type="none" w="med" len="med"/>
                    </a:lnL>
                    <a:lnR w="9525" cap="flat" cmpd="sng" algn="ctr">
                      <a:solidFill>
                        <a:srgbClr val="E3E7EC"/>
                      </a:solidFill>
                      <a:prstDash val="solid"/>
                      <a:round/>
                      <a:headEnd type="none" w="med" len="med"/>
                      <a:tailEnd type="none" w="med" len="med"/>
                    </a:lnR>
                    <a:lnT w="9525" cap="flat" cmpd="sng" algn="ctr">
                      <a:solidFill>
                        <a:srgbClr val="E3E7EC"/>
                      </a:solidFill>
                      <a:prstDash val="solid"/>
                      <a:round/>
                      <a:headEnd type="none" w="med" len="med"/>
                      <a:tailEnd type="none" w="med" len="med"/>
                    </a:lnT>
                    <a:lnB w="9525" cap="flat" cmpd="sng" algn="ctr">
                      <a:solidFill>
                        <a:srgbClr val="E3E7EC"/>
                      </a:solidFill>
                      <a:prstDash val="solid"/>
                      <a:round/>
                      <a:headEnd type="none" w="med" len="med"/>
                      <a:tailEnd type="none" w="med" len="med"/>
                    </a:lnB>
                  </a:tcPr>
                </a:tc>
              </a:tr>
              <a:tr h="475488">
                <a:tc>
                  <a:txBody>
                    <a:bodyPr/>
                    <a:lstStyle/>
                    <a:p>
                      <a:pPr indent="0" marL="0">
                        <a:buNone/>
                      </a:pPr>
                      <a:r>
                        <a:rPr lang="en-US" sz="1400" dirty="0">
                          <a:solidFill>
                            <a:schemeClr val="tx1"/>
                          </a:solidFill>
                        </a:rPr>
                        <a:t>Submit an RFP, update a decision, edit an RFP</a:t>
                      </a:r>
                      <a:endParaRPr lang="en-US" sz="1400" dirty="0"/>
                    </a:p>
                  </a:txBody>
                  <a:tcPr marL="73152" marR="73152" marT="73152" marB="73152" anchor="ctr">
                    <a:lnL w="9525" cap="flat" cmpd="sng" algn="ctr">
                      <a:solidFill>
                        <a:srgbClr val="E3E7EC"/>
                      </a:solidFill>
                      <a:prstDash val="solid"/>
                      <a:round/>
                      <a:headEnd type="none" w="med" len="med"/>
                      <a:tailEnd type="none" w="med" len="med"/>
                    </a:lnL>
                    <a:lnR w="9525" cap="flat" cmpd="sng" algn="ctr">
                      <a:solidFill>
                        <a:srgbClr val="E3E7EC"/>
                      </a:solidFill>
                      <a:prstDash val="solid"/>
                      <a:round/>
                      <a:headEnd type="none" w="med" len="med"/>
                      <a:tailEnd type="none" w="med" len="med"/>
                    </a:lnR>
                    <a:lnT w="9525" cap="flat" cmpd="sng" algn="ctr">
                      <a:solidFill>
                        <a:srgbClr val="E3E7EC"/>
                      </a:solidFill>
                      <a:prstDash val="solid"/>
                      <a:round/>
                      <a:headEnd type="none" w="med" len="med"/>
                      <a:tailEnd type="none" w="med" len="med"/>
                    </a:lnT>
                    <a:lnB w="9525" cap="flat" cmpd="sng" algn="ctr">
                      <a:solidFill>
                        <a:srgbClr val="E3E7EC"/>
                      </a:solidFill>
                      <a:prstDash val="solid"/>
                      <a:round/>
                      <a:headEnd type="none" w="med" len="med"/>
                      <a:tailEnd type="none" w="med" len="med"/>
                    </a:lnB>
                  </a:tcPr>
                </a:tc>
                <a:tc>
                  <a:txBody>
                    <a:bodyPr/>
                    <a:lstStyle/>
                    <a:p>
                      <a:pPr algn="ctr" indent="0" marL="0">
                        <a:buNone/>
                      </a:pPr>
                      <a:r>
                        <a:rPr lang="en-US" sz="1400" b="1" dirty="0">
                          <a:solidFill>
                            <a:schemeClr val="accent1"/>
                          </a:solidFill>
                        </a:rPr>
                        <a:t>✓</a:t>
                      </a:r>
                      <a:endParaRPr lang="en-US" sz="1400" dirty="0"/>
                    </a:p>
                  </a:txBody>
                  <a:tcPr marL="73152" marR="73152" marT="73152" marB="73152" anchor="ctr">
                    <a:lnL w="9525" cap="flat" cmpd="sng" algn="ctr">
                      <a:solidFill>
                        <a:srgbClr val="E3E7EC"/>
                      </a:solidFill>
                      <a:prstDash val="solid"/>
                      <a:round/>
                      <a:headEnd type="none" w="med" len="med"/>
                      <a:tailEnd type="none" w="med" len="med"/>
                    </a:lnL>
                    <a:lnR w="9525" cap="flat" cmpd="sng" algn="ctr">
                      <a:solidFill>
                        <a:srgbClr val="E3E7EC"/>
                      </a:solidFill>
                      <a:prstDash val="solid"/>
                      <a:round/>
                      <a:headEnd type="none" w="med" len="med"/>
                      <a:tailEnd type="none" w="med" len="med"/>
                    </a:lnR>
                    <a:lnT w="9525" cap="flat" cmpd="sng" algn="ctr">
                      <a:solidFill>
                        <a:srgbClr val="E3E7EC"/>
                      </a:solidFill>
                      <a:prstDash val="solid"/>
                      <a:round/>
                      <a:headEnd type="none" w="med" len="med"/>
                      <a:tailEnd type="none" w="med" len="med"/>
                    </a:lnT>
                    <a:lnB w="9525" cap="flat" cmpd="sng" algn="ctr">
                      <a:solidFill>
                        <a:srgbClr val="E3E7EC"/>
                      </a:solidFill>
                      <a:prstDash val="solid"/>
                      <a:round/>
                      <a:headEnd type="none" w="med" len="med"/>
                      <a:tailEnd type="none" w="med" len="med"/>
                    </a:lnB>
                  </a:tcPr>
                </a:tc>
                <a:tc>
                  <a:txBody>
                    <a:bodyPr/>
                    <a:lstStyle/>
                    <a:p>
                      <a:pPr algn="ctr" indent="0" marL="0">
                        <a:buNone/>
                      </a:pPr>
                      <a:r>
                        <a:rPr lang="en-US" sz="1400" b="1" dirty="0">
                          <a:solidFill>
                            <a:schemeClr val="accent1"/>
                          </a:solidFill>
                        </a:rPr>
                        <a:t>✓</a:t>
                      </a:r>
                      <a:endParaRPr lang="en-US" sz="1400" dirty="0"/>
                    </a:p>
                  </a:txBody>
                  <a:tcPr marL="73152" marR="73152" marT="73152" marB="73152" anchor="ctr">
                    <a:lnL w="9525" cap="flat" cmpd="sng" algn="ctr">
                      <a:solidFill>
                        <a:srgbClr val="E3E7EC"/>
                      </a:solidFill>
                      <a:prstDash val="solid"/>
                      <a:round/>
                      <a:headEnd type="none" w="med" len="med"/>
                      <a:tailEnd type="none" w="med" len="med"/>
                    </a:lnL>
                    <a:lnR w="9525" cap="flat" cmpd="sng" algn="ctr">
                      <a:solidFill>
                        <a:srgbClr val="E3E7EC"/>
                      </a:solidFill>
                      <a:prstDash val="solid"/>
                      <a:round/>
                      <a:headEnd type="none" w="med" len="med"/>
                      <a:tailEnd type="none" w="med" len="med"/>
                    </a:lnR>
                    <a:lnT w="9525" cap="flat" cmpd="sng" algn="ctr">
                      <a:solidFill>
                        <a:srgbClr val="E3E7EC"/>
                      </a:solidFill>
                      <a:prstDash val="solid"/>
                      <a:round/>
                      <a:headEnd type="none" w="med" len="med"/>
                      <a:tailEnd type="none" w="med" len="med"/>
                    </a:lnT>
                    <a:lnB w="9525" cap="flat" cmpd="sng" algn="ctr">
                      <a:solidFill>
                        <a:srgbClr val="E3E7EC"/>
                      </a:solidFill>
                      <a:prstDash val="solid"/>
                      <a:round/>
                      <a:headEnd type="none" w="med" len="med"/>
                      <a:tailEnd type="none" w="med" len="med"/>
                    </a:lnB>
                  </a:tcPr>
                </a:tc>
                <a:tc>
                  <a:txBody>
                    <a:bodyPr/>
                    <a:lstStyle/>
                    <a:p>
                      <a:pPr algn="ctr" indent="0" marL="0">
                        <a:buNone/>
                      </a:pPr>
                      <a:r>
                        <a:rPr lang="en-US" sz="1400" b="1" dirty="0">
                          <a:solidFill>
                            <a:schemeClr val="accent1"/>
                          </a:solidFill>
                        </a:rPr>
                        <a:t>✓</a:t>
                      </a:r>
                      <a:endParaRPr lang="en-US" sz="1400" dirty="0"/>
                    </a:p>
                  </a:txBody>
                  <a:tcPr marL="73152" marR="73152" marT="73152" marB="73152" anchor="ctr">
                    <a:lnL w="9525" cap="flat" cmpd="sng" algn="ctr">
                      <a:solidFill>
                        <a:srgbClr val="E3E7EC"/>
                      </a:solidFill>
                      <a:prstDash val="solid"/>
                      <a:round/>
                      <a:headEnd type="none" w="med" len="med"/>
                      <a:tailEnd type="none" w="med" len="med"/>
                    </a:lnL>
                    <a:lnR w="9525" cap="flat" cmpd="sng" algn="ctr">
                      <a:solidFill>
                        <a:srgbClr val="E3E7EC"/>
                      </a:solidFill>
                      <a:prstDash val="solid"/>
                      <a:round/>
                      <a:headEnd type="none" w="med" len="med"/>
                      <a:tailEnd type="none" w="med" len="med"/>
                    </a:lnR>
                    <a:lnT w="9525" cap="flat" cmpd="sng" algn="ctr">
                      <a:solidFill>
                        <a:srgbClr val="E3E7EC"/>
                      </a:solidFill>
                      <a:prstDash val="solid"/>
                      <a:round/>
                      <a:headEnd type="none" w="med" len="med"/>
                      <a:tailEnd type="none" w="med" len="med"/>
                    </a:lnT>
                    <a:lnB w="9525" cap="flat" cmpd="sng" algn="ctr">
                      <a:solidFill>
                        <a:srgbClr val="E3E7EC"/>
                      </a:solidFill>
                      <a:prstDash val="solid"/>
                      <a:round/>
                      <a:headEnd type="none" w="med" len="med"/>
                      <a:tailEnd type="none" w="med" len="med"/>
                    </a:lnB>
                  </a:tcPr>
                </a:tc>
                <a:tc>
                  <a:txBody>
                    <a:bodyPr/>
                    <a:lstStyle/>
                    <a:p>
                      <a:pPr algn="ctr" indent="0" marL="0">
                        <a:buNone/>
                      </a:pPr>
                      <a:r>
                        <a:rPr lang="en-US" sz="1400" b="1" dirty="0">
                          <a:solidFill>
                            <a:schemeClr val="accent1"/>
                          </a:solidFill>
                        </a:rPr>
                        <a:t>✓</a:t>
                      </a:r>
                      <a:endParaRPr lang="en-US" sz="1400" dirty="0"/>
                    </a:p>
                  </a:txBody>
                  <a:tcPr marL="73152" marR="73152" marT="73152" marB="73152" anchor="ctr">
                    <a:lnL w="9525" cap="flat" cmpd="sng" algn="ctr">
                      <a:solidFill>
                        <a:srgbClr val="E3E7EC"/>
                      </a:solidFill>
                      <a:prstDash val="solid"/>
                      <a:round/>
                      <a:headEnd type="none" w="med" len="med"/>
                      <a:tailEnd type="none" w="med" len="med"/>
                    </a:lnL>
                    <a:lnR w="9525" cap="flat" cmpd="sng" algn="ctr">
                      <a:solidFill>
                        <a:srgbClr val="E3E7EC"/>
                      </a:solidFill>
                      <a:prstDash val="solid"/>
                      <a:round/>
                      <a:headEnd type="none" w="med" len="med"/>
                      <a:tailEnd type="none" w="med" len="med"/>
                    </a:lnR>
                    <a:lnT w="9525" cap="flat" cmpd="sng" algn="ctr">
                      <a:solidFill>
                        <a:srgbClr val="E3E7EC"/>
                      </a:solidFill>
                      <a:prstDash val="solid"/>
                      <a:round/>
                      <a:headEnd type="none" w="med" len="med"/>
                      <a:tailEnd type="none" w="med" len="med"/>
                    </a:lnT>
                    <a:lnB w="9525" cap="flat" cmpd="sng" algn="ctr">
                      <a:solidFill>
                        <a:srgbClr val="E3E7EC"/>
                      </a:solidFill>
                      <a:prstDash val="solid"/>
                      <a:round/>
                      <a:headEnd type="none" w="med" len="med"/>
                      <a:tailEnd type="none" w="med" len="med"/>
                    </a:lnB>
                  </a:tcPr>
                </a:tc>
              </a:tr>
              <a:tr h="475488">
                <a:tc>
                  <a:txBody>
                    <a:bodyPr/>
                    <a:lstStyle/>
                    <a:p>
                      <a:pPr indent="0" marL="0">
                        <a:buNone/>
                      </a:pPr>
                      <a:r>
                        <a:rPr lang="en-US" sz="1400" dirty="0">
                          <a:solidFill>
                            <a:schemeClr val="tx1"/>
                          </a:solidFill>
                        </a:rPr>
                        <a:t>Log engagements, resolve pending actions, reports</a:t>
                      </a:r>
                      <a:endParaRPr lang="en-US" sz="1400" dirty="0"/>
                    </a:p>
                  </a:txBody>
                  <a:tcPr marL="73152" marR="73152" marT="73152" marB="73152" anchor="ctr">
                    <a:lnL w="9525" cap="flat" cmpd="sng" algn="ctr">
                      <a:solidFill>
                        <a:srgbClr val="E3E7EC"/>
                      </a:solidFill>
                      <a:prstDash val="solid"/>
                      <a:round/>
                      <a:headEnd type="none" w="med" len="med"/>
                      <a:tailEnd type="none" w="med" len="med"/>
                    </a:lnL>
                    <a:lnR w="9525" cap="flat" cmpd="sng" algn="ctr">
                      <a:solidFill>
                        <a:srgbClr val="E3E7EC"/>
                      </a:solidFill>
                      <a:prstDash val="solid"/>
                      <a:round/>
                      <a:headEnd type="none" w="med" len="med"/>
                      <a:tailEnd type="none" w="med" len="med"/>
                    </a:lnR>
                    <a:lnT w="9525" cap="flat" cmpd="sng" algn="ctr">
                      <a:solidFill>
                        <a:srgbClr val="E3E7EC"/>
                      </a:solidFill>
                      <a:prstDash val="solid"/>
                      <a:round/>
                      <a:headEnd type="none" w="med" len="med"/>
                      <a:tailEnd type="none" w="med" len="med"/>
                    </a:lnT>
                    <a:lnB w="9525" cap="flat" cmpd="sng" algn="ctr">
                      <a:solidFill>
                        <a:srgbClr val="E3E7EC"/>
                      </a:solidFill>
                      <a:prstDash val="solid"/>
                      <a:round/>
                      <a:headEnd type="none" w="med" len="med"/>
                      <a:tailEnd type="none" w="med" len="med"/>
                    </a:lnB>
                  </a:tcPr>
                </a:tc>
                <a:tc>
                  <a:txBody>
                    <a:bodyPr/>
                    <a:lstStyle/>
                    <a:p>
                      <a:pPr algn="ctr" indent="0" marL="0">
                        <a:buNone/>
                      </a:pPr>
                      <a:r>
                        <a:rPr lang="en-US" sz="1400" b="1" dirty="0">
                          <a:solidFill>
                            <a:schemeClr val="accent1"/>
                          </a:solidFill>
                        </a:rPr>
                        <a:t>✓</a:t>
                      </a:r>
                      <a:endParaRPr lang="en-US" sz="1400" dirty="0"/>
                    </a:p>
                  </a:txBody>
                  <a:tcPr marL="73152" marR="73152" marT="73152" marB="73152" anchor="ctr">
                    <a:lnL w="9525" cap="flat" cmpd="sng" algn="ctr">
                      <a:solidFill>
                        <a:srgbClr val="E3E7EC"/>
                      </a:solidFill>
                      <a:prstDash val="solid"/>
                      <a:round/>
                      <a:headEnd type="none" w="med" len="med"/>
                      <a:tailEnd type="none" w="med" len="med"/>
                    </a:lnL>
                    <a:lnR w="9525" cap="flat" cmpd="sng" algn="ctr">
                      <a:solidFill>
                        <a:srgbClr val="E3E7EC"/>
                      </a:solidFill>
                      <a:prstDash val="solid"/>
                      <a:round/>
                      <a:headEnd type="none" w="med" len="med"/>
                      <a:tailEnd type="none" w="med" len="med"/>
                    </a:lnR>
                    <a:lnT w="9525" cap="flat" cmpd="sng" algn="ctr">
                      <a:solidFill>
                        <a:srgbClr val="E3E7EC"/>
                      </a:solidFill>
                      <a:prstDash val="solid"/>
                      <a:round/>
                      <a:headEnd type="none" w="med" len="med"/>
                      <a:tailEnd type="none" w="med" len="med"/>
                    </a:lnT>
                    <a:lnB w="9525" cap="flat" cmpd="sng" algn="ctr">
                      <a:solidFill>
                        <a:srgbClr val="E3E7EC"/>
                      </a:solidFill>
                      <a:prstDash val="solid"/>
                      <a:round/>
                      <a:headEnd type="none" w="med" len="med"/>
                      <a:tailEnd type="none" w="med" len="med"/>
                    </a:lnB>
                  </a:tcPr>
                </a:tc>
                <a:tc>
                  <a:txBody>
                    <a:bodyPr/>
                    <a:lstStyle/>
                    <a:p>
                      <a:pPr algn="ctr" indent="0" marL="0">
                        <a:buNone/>
                      </a:pPr>
                      <a:r>
                        <a:rPr lang="en-US" sz="1400" b="1" dirty="0">
                          <a:solidFill>
                            <a:schemeClr val="accent1"/>
                          </a:solidFill>
                        </a:rPr>
                        <a:t>✓</a:t>
                      </a:r>
                      <a:endParaRPr lang="en-US" sz="1400" dirty="0"/>
                    </a:p>
                  </a:txBody>
                  <a:tcPr marL="73152" marR="73152" marT="73152" marB="73152" anchor="ctr">
                    <a:lnL w="9525" cap="flat" cmpd="sng" algn="ctr">
                      <a:solidFill>
                        <a:srgbClr val="E3E7EC"/>
                      </a:solidFill>
                      <a:prstDash val="solid"/>
                      <a:round/>
                      <a:headEnd type="none" w="med" len="med"/>
                      <a:tailEnd type="none" w="med" len="med"/>
                    </a:lnL>
                    <a:lnR w="9525" cap="flat" cmpd="sng" algn="ctr">
                      <a:solidFill>
                        <a:srgbClr val="E3E7EC"/>
                      </a:solidFill>
                      <a:prstDash val="solid"/>
                      <a:round/>
                      <a:headEnd type="none" w="med" len="med"/>
                      <a:tailEnd type="none" w="med" len="med"/>
                    </a:lnR>
                    <a:lnT w="9525" cap="flat" cmpd="sng" algn="ctr">
                      <a:solidFill>
                        <a:srgbClr val="E3E7EC"/>
                      </a:solidFill>
                      <a:prstDash val="solid"/>
                      <a:round/>
                      <a:headEnd type="none" w="med" len="med"/>
                      <a:tailEnd type="none" w="med" len="med"/>
                    </a:lnT>
                    <a:lnB w="9525" cap="flat" cmpd="sng" algn="ctr">
                      <a:solidFill>
                        <a:srgbClr val="E3E7EC"/>
                      </a:solidFill>
                      <a:prstDash val="solid"/>
                      <a:round/>
                      <a:headEnd type="none" w="med" len="med"/>
                      <a:tailEnd type="none" w="med" len="med"/>
                    </a:lnB>
                  </a:tcPr>
                </a:tc>
                <a:tc>
                  <a:txBody>
                    <a:bodyPr/>
                    <a:lstStyle/>
                    <a:p>
                      <a:pPr algn="ctr" indent="0" marL="0">
                        <a:buNone/>
                      </a:pPr>
                      <a:r>
                        <a:rPr lang="en-US" sz="1400" b="1" dirty="0">
                          <a:solidFill>
                            <a:schemeClr val="accent1"/>
                          </a:solidFill>
                        </a:rPr>
                        <a:t>✓</a:t>
                      </a:r>
                      <a:endParaRPr lang="en-US" sz="1400" dirty="0"/>
                    </a:p>
                  </a:txBody>
                  <a:tcPr marL="73152" marR="73152" marT="73152" marB="73152" anchor="ctr">
                    <a:lnL w="9525" cap="flat" cmpd="sng" algn="ctr">
                      <a:solidFill>
                        <a:srgbClr val="E3E7EC"/>
                      </a:solidFill>
                      <a:prstDash val="solid"/>
                      <a:round/>
                      <a:headEnd type="none" w="med" len="med"/>
                      <a:tailEnd type="none" w="med" len="med"/>
                    </a:lnL>
                    <a:lnR w="9525" cap="flat" cmpd="sng" algn="ctr">
                      <a:solidFill>
                        <a:srgbClr val="E3E7EC"/>
                      </a:solidFill>
                      <a:prstDash val="solid"/>
                      <a:round/>
                      <a:headEnd type="none" w="med" len="med"/>
                      <a:tailEnd type="none" w="med" len="med"/>
                    </a:lnR>
                    <a:lnT w="9525" cap="flat" cmpd="sng" algn="ctr">
                      <a:solidFill>
                        <a:srgbClr val="E3E7EC"/>
                      </a:solidFill>
                      <a:prstDash val="solid"/>
                      <a:round/>
                      <a:headEnd type="none" w="med" len="med"/>
                      <a:tailEnd type="none" w="med" len="med"/>
                    </a:lnT>
                    <a:lnB w="9525" cap="flat" cmpd="sng" algn="ctr">
                      <a:solidFill>
                        <a:srgbClr val="E3E7EC"/>
                      </a:solidFill>
                      <a:prstDash val="solid"/>
                      <a:round/>
                      <a:headEnd type="none" w="med" len="med"/>
                      <a:tailEnd type="none" w="med" len="med"/>
                    </a:lnB>
                  </a:tcPr>
                </a:tc>
                <a:tc>
                  <a:txBody>
                    <a:bodyPr/>
                    <a:lstStyle/>
                    <a:p>
                      <a:pPr algn="ctr" indent="0" marL="0">
                        <a:buNone/>
                      </a:pPr>
                      <a:r>
                        <a:rPr lang="en-US" sz="1400" b="1" dirty="0">
                          <a:solidFill>
                            <a:schemeClr val="accent1"/>
                          </a:solidFill>
                        </a:rPr>
                        <a:t>✓</a:t>
                      </a:r>
                      <a:endParaRPr lang="en-US" sz="1400" dirty="0"/>
                    </a:p>
                  </a:txBody>
                  <a:tcPr marL="73152" marR="73152" marT="73152" marB="73152" anchor="ctr">
                    <a:lnL w="9525" cap="flat" cmpd="sng" algn="ctr">
                      <a:solidFill>
                        <a:srgbClr val="E3E7EC"/>
                      </a:solidFill>
                      <a:prstDash val="solid"/>
                      <a:round/>
                      <a:headEnd type="none" w="med" len="med"/>
                      <a:tailEnd type="none" w="med" len="med"/>
                    </a:lnL>
                    <a:lnR w="9525" cap="flat" cmpd="sng" algn="ctr">
                      <a:solidFill>
                        <a:srgbClr val="E3E7EC"/>
                      </a:solidFill>
                      <a:prstDash val="solid"/>
                      <a:round/>
                      <a:headEnd type="none" w="med" len="med"/>
                      <a:tailEnd type="none" w="med" len="med"/>
                    </a:lnR>
                    <a:lnT w="9525" cap="flat" cmpd="sng" algn="ctr">
                      <a:solidFill>
                        <a:srgbClr val="E3E7EC"/>
                      </a:solidFill>
                      <a:prstDash val="solid"/>
                      <a:round/>
                      <a:headEnd type="none" w="med" len="med"/>
                      <a:tailEnd type="none" w="med" len="med"/>
                    </a:lnT>
                    <a:lnB w="9525" cap="flat" cmpd="sng" algn="ctr">
                      <a:solidFill>
                        <a:srgbClr val="E3E7EC"/>
                      </a:solidFill>
                      <a:prstDash val="solid"/>
                      <a:round/>
                      <a:headEnd type="none" w="med" len="med"/>
                      <a:tailEnd type="none" w="med" len="med"/>
                    </a:lnB>
                  </a:tcPr>
                </a:tc>
              </a:tr>
              <a:tr h="475488">
                <a:tc>
                  <a:txBody>
                    <a:bodyPr/>
                    <a:lstStyle/>
                    <a:p>
                      <a:pPr indent="0" marL="0">
                        <a:buNone/>
                      </a:pPr>
                      <a:r>
                        <a:rPr lang="en-US" sz="1400" dirty="0">
                          <a:solidFill>
                            <a:schemeClr val="tx1"/>
                          </a:solidFill>
                        </a:rPr>
                        <a:t>Add meeting notes and mark them resolved</a:t>
                      </a:r>
                      <a:endParaRPr lang="en-US" sz="1400" dirty="0"/>
                    </a:p>
                  </a:txBody>
                  <a:tcPr marL="73152" marR="73152" marT="73152" marB="73152" anchor="ctr">
                    <a:lnL w="9525" cap="flat" cmpd="sng" algn="ctr">
                      <a:solidFill>
                        <a:srgbClr val="E3E7EC"/>
                      </a:solidFill>
                      <a:prstDash val="solid"/>
                      <a:round/>
                      <a:headEnd type="none" w="med" len="med"/>
                      <a:tailEnd type="none" w="med" len="med"/>
                    </a:lnL>
                    <a:lnR w="9525" cap="flat" cmpd="sng" algn="ctr">
                      <a:solidFill>
                        <a:srgbClr val="E3E7EC"/>
                      </a:solidFill>
                      <a:prstDash val="solid"/>
                      <a:round/>
                      <a:headEnd type="none" w="med" len="med"/>
                      <a:tailEnd type="none" w="med" len="med"/>
                    </a:lnR>
                    <a:lnT w="9525" cap="flat" cmpd="sng" algn="ctr">
                      <a:solidFill>
                        <a:srgbClr val="E3E7EC"/>
                      </a:solidFill>
                      <a:prstDash val="solid"/>
                      <a:round/>
                      <a:headEnd type="none" w="med" len="med"/>
                      <a:tailEnd type="none" w="med" len="med"/>
                    </a:lnT>
                    <a:lnB w="9525" cap="flat" cmpd="sng" algn="ctr">
                      <a:solidFill>
                        <a:srgbClr val="E3E7EC"/>
                      </a:solidFill>
                      <a:prstDash val="solid"/>
                      <a:round/>
                      <a:headEnd type="none" w="med" len="med"/>
                      <a:tailEnd type="none" w="med" len="med"/>
                    </a:lnB>
                  </a:tcPr>
                </a:tc>
                <a:tc>
                  <a:txBody>
                    <a:bodyPr/>
                    <a:lstStyle/>
                    <a:p>
                      <a:pPr algn="ctr" indent="0" marL="0">
                        <a:buNone/>
                      </a:pPr>
                      <a:r>
                        <a:rPr lang="en-US" sz="1400" dirty="0">
                          <a:solidFill>
                            <a:srgbClr val="B0B7C0"/>
                          </a:solidFill>
                        </a:rPr>
                        <a:t>—</a:t>
                      </a:r>
                      <a:endParaRPr lang="en-US" sz="1400" dirty="0"/>
                    </a:p>
                  </a:txBody>
                  <a:tcPr marL="73152" marR="73152" marT="73152" marB="73152" anchor="ctr">
                    <a:lnL w="9525" cap="flat" cmpd="sng" algn="ctr">
                      <a:solidFill>
                        <a:srgbClr val="E3E7EC"/>
                      </a:solidFill>
                      <a:prstDash val="solid"/>
                      <a:round/>
                      <a:headEnd type="none" w="med" len="med"/>
                      <a:tailEnd type="none" w="med" len="med"/>
                    </a:lnL>
                    <a:lnR w="9525" cap="flat" cmpd="sng" algn="ctr">
                      <a:solidFill>
                        <a:srgbClr val="E3E7EC"/>
                      </a:solidFill>
                      <a:prstDash val="solid"/>
                      <a:round/>
                      <a:headEnd type="none" w="med" len="med"/>
                      <a:tailEnd type="none" w="med" len="med"/>
                    </a:lnR>
                    <a:lnT w="9525" cap="flat" cmpd="sng" algn="ctr">
                      <a:solidFill>
                        <a:srgbClr val="E3E7EC"/>
                      </a:solidFill>
                      <a:prstDash val="solid"/>
                      <a:round/>
                      <a:headEnd type="none" w="med" len="med"/>
                      <a:tailEnd type="none" w="med" len="med"/>
                    </a:lnT>
                    <a:lnB w="9525" cap="flat" cmpd="sng" algn="ctr">
                      <a:solidFill>
                        <a:srgbClr val="E3E7EC"/>
                      </a:solidFill>
                      <a:prstDash val="solid"/>
                      <a:round/>
                      <a:headEnd type="none" w="med" len="med"/>
                      <a:tailEnd type="none" w="med" len="med"/>
                    </a:lnB>
                  </a:tcPr>
                </a:tc>
                <a:tc>
                  <a:txBody>
                    <a:bodyPr/>
                    <a:lstStyle/>
                    <a:p>
                      <a:pPr algn="ctr" indent="0" marL="0">
                        <a:buNone/>
                      </a:pPr>
                      <a:r>
                        <a:rPr lang="en-US" sz="1400" b="1" dirty="0">
                          <a:solidFill>
                            <a:schemeClr val="accent1"/>
                          </a:solidFill>
                        </a:rPr>
                        <a:t>✓</a:t>
                      </a:r>
                      <a:endParaRPr lang="en-US" sz="1400" dirty="0"/>
                    </a:p>
                  </a:txBody>
                  <a:tcPr marL="73152" marR="73152" marT="73152" marB="73152" anchor="ctr">
                    <a:lnL w="9525" cap="flat" cmpd="sng" algn="ctr">
                      <a:solidFill>
                        <a:srgbClr val="E3E7EC"/>
                      </a:solidFill>
                      <a:prstDash val="solid"/>
                      <a:round/>
                      <a:headEnd type="none" w="med" len="med"/>
                      <a:tailEnd type="none" w="med" len="med"/>
                    </a:lnL>
                    <a:lnR w="9525" cap="flat" cmpd="sng" algn="ctr">
                      <a:solidFill>
                        <a:srgbClr val="E3E7EC"/>
                      </a:solidFill>
                      <a:prstDash val="solid"/>
                      <a:round/>
                      <a:headEnd type="none" w="med" len="med"/>
                      <a:tailEnd type="none" w="med" len="med"/>
                    </a:lnR>
                    <a:lnT w="9525" cap="flat" cmpd="sng" algn="ctr">
                      <a:solidFill>
                        <a:srgbClr val="E3E7EC"/>
                      </a:solidFill>
                      <a:prstDash val="solid"/>
                      <a:round/>
                      <a:headEnd type="none" w="med" len="med"/>
                      <a:tailEnd type="none" w="med" len="med"/>
                    </a:lnT>
                    <a:lnB w="9525" cap="flat" cmpd="sng" algn="ctr">
                      <a:solidFill>
                        <a:srgbClr val="E3E7EC"/>
                      </a:solidFill>
                      <a:prstDash val="solid"/>
                      <a:round/>
                      <a:headEnd type="none" w="med" len="med"/>
                      <a:tailEnd type="none" w="med" len="med"/>
                    </a:lnB>
                  </a:tcPr>
                </a:tc>
                <a:tc>
                  <a:txBody>
                    <a:bodyPr/>
                    <a:lstStyle/>
                    <a:p>
                      <a:pPr algn="ctr" indent="0" marL="0">
                        <a:buNone/>
                      </a:pPr>
                      <a:r>
                        <a:rPr lang="en-US" sz="1400" b="1" dirty="0">
                          <a:solidFill>
                            <a:schemeClr val="accent1"/>
                          </a:solidFill>
                        </a:rPr>
                        <a:t>✓</a:t>
                      </a:r>
                      <a:endParaRPr lang="en-US" sz="1400" dirty="0"/>
                    </a:p>
                  </a:txBody>
                  <a:tcPr marL="73152" marR="73152" marT="73152" marB="73152" anchor="ctr">
                    <a:lnL w="9525" cap="flat" cmpd="sng" algn="ctr">
                      <a:solidFill>
                        <a:srgbClr val="E3E7EC"/>
                      </a:solidFill>
                      <a:prstDash val="solid"/>
                      <a:round/>
                      <a:headEnd type="none" w="med" len="med"/>
                      <a:tailEnd type="none" w="med" len="med"/>
                    </a:lnL>
                    <a:lnR w="9525" cap="flat" cmpd="sng" algn="ctr">
                      <a:solidFill>
                        <a:srgbClr val="E3E7EC"/>
                      </a:solidFill>
                      <a:prstDash val="solid"/>
                      <a:round/>
                      <a:headEnd type="none" w="med" len="med"/>
                      <a:tailEnd type="none" w="med" len="med"/>
                    </a:lnR>
                    <a:lnT w="9525" cap="flat" cmpd="sng" algn="ctr">
                      <a:solidFill>
                        <a:srgbClr val="E3E7EC"/>
                      </a:solidFill>
                      <a:prstDash val="solid"/>
                      <a:round/>
                      <a:headEnd type="none" w="med" len="med"/>
                      <a:tailEnd type="none" w="med" len="med"/>
                    </a:lnT>
                    <a:lnB w="9525" cap="flat" cmpd="sng" algn="ctr">
                      <a:solidFill>
                        <a:srgbClr val="E3E7EC"/>
                      </a:solidFill>
                      <a:prstDash val="solid"/>
                      <a:round/>
                      <a:headEnd type="none" w="med" len="med"/>
                      <a:tailEnd type="none" w="med" len="med"/>
                    </a:lnB>
                  </a:tcPr>
                </a:tc>
                <a:tc>
                  <a:txBody>
                    <a:bodyPr/>
                    <a:lstStyle/>
                    <a:p>
                      <a:pPr algn="ctr" indent="0" marL="0">
                        <a:buNone/>
                      </a:pPr>
                      <a:r>
                        <a:rPr lang="en-US" sz="1400" b="1" dirty="0">
                          <a:solidFill>
                            <a:schemeClr val="accent1"/>
                          </a:solidFill>
                        </a:rPr>
                        <a:t>✓</a:t>
                      </a:r>
                      <a:endParaRPr lang="en-US" sz="1400" dirty="0"/>
                    </a:p>
                  </a:txBody>
                  <a:tcPr marL="73152" marR="73152" marT="73152" marB="73152" anchor="ctr">
                    <a:lnL w="9525" cap="flat" cmpd="sng" algn="ctr">
                      <a:solidFill>
                        <a:srgbClr val="E3E7EC"/>
                      </a:solidFill>
                      <a:prstDash val="solid"/>
                      <a:round/>
                      <a:headEnd type="none" w="med" len="med"/>
                      <a:tailEnd type="none" w="med" len="med"/>
                    </a:lnL>
                    <a:lnR w="9525" cap="flat" cmpd="sng" algn="ctr">
                      <a:solidFill>
                        <a:srgbClr val="E3E7EC"/>
                      </a:solidFill>
                      <a:prstDash val="solid"/>
                      <a:round/>
                      <a:headEnd type="none" w="med" len="med"/>
                      <a:tailEnd type="none" w="med" len="med"/>
                    </a:lnR>
                    <a:lnT w="9525" cap="flat" cmpd="sng" algn="ctr">
                      <a:solidFill>
                        <a:srgbClr val="E3E7EC"/>
                      </a:solidFill>
                      <a:prstDash val="solid"/>
                      <a:round/>
                      <a:headEnd type="none" w="med" len="med"/>
                      <a:tailEnd type="none" w="med" len="med"/>
                    </a:lnT>
                    <a:lnB w="9525" cap="flat" cmpd="sng" algn="ctr">
                      <a:solidFill>
                        <a:srgbClr val="E3E7EC"/>
                      </a:solidFill>
                      <a:prstDash val="solid"/>
                      <a:round/>
                      <a:headEnd type="none" w="med" len="med"/>
                      <a:tailEnd type="none" w="med" len="med"/>
                    </a:lnB>
                  </a:tcPr>
                </a:tc>
              </a:tr>
              <a:tr h="475488">
                <a:tc>
                  <a:txBody>
                    <a:bodyPr/>
                    <a:lstStyle/>
                    <a:p>
                      <a:pPr indent="0" marL="0">
                        <a:buNone/>
                      </a:pPr>
                      <a:r>
                        <a:rPr lang="en-US" sz="1400" dirty="0">
                          <a:solidFill>
                            <a:schemeClr val="tx1"/>
                          </a:solidFill>
                        </a:rPr>
                        <a:t>Delete an RFP; edit the organisation profile</a:t>
                      </a:r>
                      <a:endParaRPr lang="en-US" sz="1400" dirty="0"/>
                    </a:p>
                  </a:txBody>
                  <a:tcPr marL="73152" marR="73152" marT="73152" marB="73152" anchor="ctr">
                    <a:lnL w="9525" cap="flat" cmpd="sng" algn="ctr">
                      <a:solidFill>
                        <a:srgbClr val="E3E7EC"/>
                      </a:solidFill>
                      <a:prstDash val="solid"/>
                      <a:round/>
                      <a:headEnd type="none" w="med" len="med"/>
                      <a:tailEnd type="none" w="med" len="med"/>
                    </a:lnL>
                    <a:lnR w="9525" cap="flat" cmpd="sng" algn="ctr">
                      <a:solidFill>
                        <a:srgbClr val="E3E7EC"/>
                      </a:solidFill>
                      <a:prstDash val="solid"/>
                      <a:round/>
                      <a:headEnd type="none" w="med" len="med"/>
                      <a:tailEnd type="none" w="med" len="med"/>
                    </a:lnR>
                    <a:lnT w="9525" cap="flat" cmpd="sng" algn="ctr">
                      <a:solidFill>
                        <a:srgbClr val="E3E7EC"/>
                      </a:solidFill>
                      <a:prstDash val="solid"/>
                      <a:round/>
                      <a:headEnd type="none" w="med" len="med"/>
                      <a:tailEnd type="none" w="med" len="med"/>
                    </a:lnT>
                    <a:lnB w="9525" cap="flat" cmpd="sng" algn="ctr">
                      <a:solidFill>
                        <a:srgbClr val="E3E7EC"/>
                      </a:solidFill>
                      <a:prstDash val="solid"/>
                      <a:round/>
                      <a:headEnd type="none" w="med" len="med"/>
                      <a:tailEnd type="none" w="med" len="med"/>
                    </a:lnB>
                  </a:tcPr>
                </a:tc>
                <a:tc>
                  <a:txBody>
                    <a:bodyPr/>
                    <a:lstStyle/>
                    <a:p>
                      <a:pPr algn="ctr" indent="0" marL="0">
                        <a:buNone/>
                      </a:pPr>
                      <a:r>
                        <a:rPr lang="en-US" sz="1400" dirty="0">
                          <a:solidFill>
                            <a:srgbClr val="B0B7C0"/>
                          </a:solidFill>
                        </a:rPr>
                        <a:t>—</a:t>
                      </a:r>
                      <a:endParaRPr lang="en-US" sz="1400" dirty="0"/>
                    </a:p>
                  </a:txBody>
                  <a:tcPr marL="73152" marR="73152" marT="73152" marB="73152" anchor="ctr">
                    <a:lnL w="9525" cap="flat" cmpd="sng" algn="ctr">
                      <a:solidFill>
                        <a:srgbClr val="E3E7EC"/>
                      </a:solidFill>
                      <a:prstDash val="solid"/>
                      <a:round/>
                      <a:headEnd type="none" w="med" len="med"/>
                      <a:tailEnd type="none" w="med" len="med"/>
                    </a:lnL>
                    <a:lnR w="9525" cap="flat" cmpd="sng" algn="ctr">
                      <a:solidFill>
                        <a:srgbClr val="E3E7EC"/>
                      </a:solidFill>
                      <a:prstDash val="solid"/>
                      <a:round/>
                      <a:headEnd type="none" w="med" len="med"/>
                      <a:tailEnd type="none" w="med" len="med"/>
                    </a:lnR>
                    <a:lnT w="9525" cap="flat" cmpd="sng" algn="ctr">
                      <a:solidFill>
                        <a:srgbClr val="E3E7EC"/>
                      </a:solidFill>
                      <a:prstDash val="solid"/>
                      <a:round/>
                      <a:headEnd type="none" w="med" len="med"/>
                      <a:tailEnd type="none" w="med" len="med"/>
                    </a:lnT>
                    <a:lnB w="9525" cap="flat" cmpd="sng" algn="ctr">
                      <a:solidFill>
                        <a:srgbClr val="E3E7EC"/>
                      </a:solidFill>
                      <a:prstDash val="solid"/>
                      <a:round/>
                      <a:headEnd type="none" w="med" len="med"/>
                      <a:tailEnd type="none" w="med" len="med"/>
                    </a:lnB>
                  </a:tcPr>
                </a:tc>
                <a:tc>
                  <a:txBody>
                    <a:bodyPr/>
                    <a:lstStyle/>
                    <a:p>
                      <a:pPr algn="ctr" indent="0" marL="0">
                        <a:buNone/>
                      </a:pPr>
                      <a:r>
                        <a:rPr lang="en-US" sz="1400" dirty="0">
                          <a:solidFill>
                            <a:srgbClr val="B0B7C0"/>
                          </a:solidFill>
                        </a:rPr>
                        <a:t>—</a:t>
                      </a:r>
                      <a:endParaRPr lang="en-US" sz="1400" dirty="0"/>
                    </a:p>
                  </a:txBody>
                  <a:tcPr marL="73152" marR="73152" marT="73152" marB="73152" anchor="ctr">
                    <a:lnL w="9525" cap="flat" cmpd="sng" algn="ctr">
                      <a:solidFill>
                        <a:srgbClr val="E3E7EC"/>
                      </a:solidFill>
                      <a:prstDash val="solid"/>
                      <a:round/>
                      <a:headEnd type="none" w="med" len="med"/>
                      <a:tailEnd type="none" w="med" len="med"/>
                    </a:lnL>
                    <a:lnR w="9525" cap="flat" cmpd="sng" algn="ctr">
                      <a:solidFill>
                        <a:srgbClr val="E3E7EC"/>
                      </a:solidFill>
                      <a:prstDash val="solid"/>
                      <a:round/>
                      <a:headEnd type="none" w="med" len="med"/>
                      <a:tailEnd type="none" w="med" len="med"/>
                    </a:lnR>
                    <a:lnT w="9525" cap="flat" cmpd="sng" algn="ctr">
                      <a:solidFill>
                        <a:srgbClr val="E3E7EC"/>
                      </a:solidFill>
                      <a:prstDash val="solid"/>
                      <a:round/>
                      <a:headEnd type="none" w="med" len="med"/>
                      <a:tailEnd type="none" w="med" len="med"/>
                    </a:lnT>
                    <a:lnB w="9525" cap="flat" cmpd="sng" algn="ctr">
                      <a:solidFill>
                        <a:srgbClr val="E3E7EC"/>
                      </a:solidFill>
                      <a:prstDash val="solid"/>
                      <a:round/>
                      <a:headEnd type="none" w="med" len="med"/>
                      <a:tailEnd type="none" w="med" len="med"/>
                    </a:lnB>
                  </a:tcPr>
                </a:tc>
                <a:tc>
                  <a:txBody>
                    <a:bodyPr/>
                    <a:lstStyle/>
                    <a:p>
                      <a:pPr algn="ctr" indent="0" marL="0">
                        <a:buNone/>
                      </a:pPr>
                      <a:r>
                        <a:rPr lang="en-US" sz="1400" b="1" dirty="0">
                          <a:solidFill>
                            <a:schemeClr val="accent1"/>
                          </a:solidFill>
                        </a:rPr>
                        <a:t>✓</a:t>
                      </a:r>
                      <a:endParaRPr lang="en-US" sz="1400" dirty="0"/>
                    </a:p>
                  </a:txBody>
                  <a:tcPr marL="73152" marR="73152" marT="73152" marB="73152" anchor="ctr">
                    <a:lnL w="9525" cap="flat" cmpd="sng" algn="ctr">
                      <a:solidFill>
                        <a:srgbClr val="E3E7EC"/>
                      </a:solidFill>
                      <a:prstDash val="solid"/>
                      <a:round/>
                      <a:headEnd type="none" w="med" len="med"/>
                      <a:tailEnd type="none" w="med" len="med"/>
                    </a:lnL>
                    <a:lnR w="9525" cap="flat" cmpd="sng" algn="ctr">
                      <a:solidFill>
                        <a:srgbClr val="E3E7EC"/>
                      </a:solidFill>
                      <a:prstDash val="solid"/>
                      <a:round/>
                      <a:headEnd type="none" w="med" len="med"/>
                      <a:tailEnd type="none" w="med" len="med"/>
                    </a:lnR>
                    <a:lnT w="9525" cap="flat" cmpd="sng" algn="ctr">
                      <a:solidFill>
                        <a:srgbClr val="E3E7EC"/>
                      </a:solidFill>
                      <a:prstDash val="solid"/>
                      <a:round/>
                      <a:headEnd type="none" w="med" len="med"/>
                      <a:tailEnd type="none" w="med" len="med"/>
                    </a:lnT>
                    <a:lnB w="9525" cap="flat" cmpd="sng" algn="ctr">
                      <a:solidFill>
                        <a:srgbClr val="E3E7EC"/>
                      </a:solidFill>
                      <a:prstDash val="solid"/>
                      <a:round/>
                      <a:headEnd type="none" w="med" len="med"/>
                      <a:tailEnd type="none" w="med" len="med"/>
                    </a:lnB>
                  </a:tcPr>
                </a:tc>
                <a:tc>
                  <a:txBody>
                    <a:bodyPr/>
                    <a:lstStyle/>
                    <a:p>
                      <a:pPr algn="ctr" indent="0" marL="0">
                        <a:buNone/>
                      </a:pPr>
                      <a:r>
                        <a:rPr lang="en-US" sz="1400" b="1" dirty="0">
                          <a:solidFill>
                            <a:schemeClr val="accent1"/>
                          </a:solidFill>
                        </a:rPr>
                        <a:t>✓</a:t>
                      </a:r>
                      <a:endParaRPr lang="en-US" sz="1400" dirty="0"/>
                    </a:p>
                  </a:txBody>
                  <a:tcPr marL="73152" marR="73152" marT="73152" marB="73152" anchor="ctr">
                    <a:lnL w="9525" cap="flat" cmpd="sng" algn="ctr">
                      <a:solidFill>
                        <a:srgbClr val="E3E7EC"/>
                      </a:solidFill>
                      <a:prstDash val="solid"/>
                      <a:round/>
                      <a:headEnd type="none" w="med" len="med"/>
                      <a:tailEnd type="none" w="med" len="med"/>
                    </a:lnL>
                    <a:lnR w="9525" cap="flat" cmpd="sng" algn="ctr">
                      <a:solidFill>
                        <a:srgbClr val="E3E7EC"/>
                      </a:solidFill>
                      <a:prstDash val="solid"/>
                      <a:round/>
                      <a:headEnd type="none" w="med" len="med"/>
                      <a:tailEnd type="none" w="med" len="med"/>
                    </a:lnR>
                    <a:lnT w="9525" cap="flat" cmpd="sng" algn="ctr">
                      <a:solidFill>
                        <a:srgbClr val="E3E7EC"/>
                      </a:solidFill>
                      <a:prstDash val="solid"/>
                      <a:round/>
                      <a:headEnd type="none" w="med" len="med"/>
                      <a:tailEnd type="none" w="med" len="med"/>
                    </a:lnT>
                    <a:lnB w="9525" cap="flat" cmpd="sng" algn="ctr">
                      <a:solidFill>
                        <a:srgbClr val="E3E7EC"/>
                      </a:solidFill>
                      <a:prstDash val="solid"/>
                      <a:round/>
                      <a:headEnd type="none" w="med" len="med"/>
                      <a:tailEnd type="none" w="med" len="med"/>
                    </a:lnB>
                  </a:tcPr>
                </a:tc>
              </a:tr>
              <a:tr h="475488">
                <a:tc>
                  <a:txBody>
                    <a:bodyPr/>
                    <a:lstStyle/>
                    <a:p>
                      <a:pPr indent="0" marL="0">
                        <a:buNone/>
                      </a:pPr>
                      <a:r>
                        <a:rPr lang="en-US" sz="1400" dirty="0">
                          <a:solidFill>
                            <a:schemeClr val="tx1"/>
                          </a:solidFill>
                        </a:rPr>
                        <a:t>Open Settings: users, scan preferences, records</a:t>
                      </a:r>
                      <a:endParaRPr lang="en-US" sz="1400" dirty="0"/>
                    </a:p>
                  </a:txBody>
                  <a:tcPr marL="73152" marR="73152" marT="73152" marB="73152" anchor="ctr">
                    <a:lnL w="9525" cap="flat" cmpd="sng" algn="ctr">
                      <a:solidFill>
                        <a:srgbClr val="E3E7EC"/>
                      </a:solidFill>
                      <a:prstDash val="solid"/>
                      <a:round/>
                      <a:headEnd type="none" w="med" len="med"/>
                      <a:tailEnd type="none" w="med" len="med"/>
                    </a:lnL>
                    <a:lnR w="9525" cap="flat" cmpd="sng" algn="ctr">
                      <a:solidFill>
                        <a:srgbClr val="E3E7EC"/>
                      </a:solidFill>
                      <a:prstDash val="solid"/>
                      <a:round/>
                      <a:headEnd type="none" w="med" len="med"/>
                      <a:tailEnd type="none" w="med" len="med"/>
                    </a:lnR>
                    <a:lnT w="9525" cap="flat" cmpd="sng" algn="ctr">
                      <a:solidFill>
                        <a:srgbClr val="E3E7EC"/>
                      </a:solidFill>
                      <a:prstDash val="solid"/>
                      <a:round/>
                      <a:headEnd type="none" w="med" len="med"/>
                      <a:tailEnd type="none" w="med" len="med"/>
                    </a:lnT>
                    <a:lnB w="9525" cap="flat" cmpd="sng" algn="ctr">
                      <a:solidFill>
                        <a:srgbClr val="E3E7EC"/>
                      </a:solidFill>
                      <a:prstDash val="solid"/>
                      <a:round/>
                      <a:headEnd type="none" w="med" len="med"/>
                      <a:tailEnd type="none" w="med" len="med"/>
                    </a:lnB>
                  </a:tcPr>
                </a:tc>
                <a:tc>
                  <a:txBody>
                    <a:bodyPr/>
                    <a:lstStyle/>
                    <a:p>
                      <a:pPr algn="ctr" indent="0" marL="0">
                        <a:buNone/>
                      </a:pPr>
                      <a:r>
                        <a:rPr lang="en-US" sz="1400" dirty="0">
                          <a:solidFill>
                            <a:srgbClr val="B0B7C0"/>
                          </a:solidFill>
                        </a:rPr>
                        <a:t>—</a:t>
                      </a:r>
                      <a:endParaRPr lang="en-US" sz="1400" dirty="0"/>
                    </a:p>
                  </a:txBody>
                  <a:tcPr marL="73152" marR="73152" marT="73152" marB="73152" anchor="ctr">
                    <a:lnL w="9525" cap="flat" cmpd="sng" algn="ctr">
                      <a:solidFill>
                        <a:srgbClr val="E3E7EC"/>
                      </a:solidFill>
                      <a:prstDash val="solid"/>
                      <a:round/>
                      <a:headEnd type="none" w="med" len="med"/>
                      <a:tailEnd type="none" w="med" len="med"/>
                    </a:lnL>
                    <a:lnR w="9525" cap="flat" cmpd="sng" algn="ctr">
                      <a:solidFill>
                        <a:srgbClr val="E3E7EC"/>
                      </a:solidFill>
                      <a:prstDash val="solid"/>
                      <a:round/>
                      <a:headEnd type="none" w="med" len="med"/>
                      <a:tailEnd type="none" w="med" len="med"/>
                    </a:lnR>
                    <a:lnT w="9525" cap="flat" cmpd="sng" algn="ctr">
                      <a:solidFill>
                        <a:srgbClr val="E3E7EC"/>
                      </a:solidFill>
                      <a:prstDash val="solid"/>
                      <a:round/>
                      <a:headEnd type="none" w="med" len="med"/>
                      <a:tailEnd type="none" w="med" len="med"/>
                    </a:lnT>
                    <a:lnB w="9525" cap="flat" cmpd="sng" algn="ctr">
                      <a:solidFill>
                        <a:srgbClr val="E3E7EC"/>
                      </a:solidFill>
                      <a:prstDash val="solid"/>
                      <a:round/>
                      <a:headEnd type="none" w="med" len="med"/>
                      <a:tailEnd type="none" w="med" len="med"/>
                    </a:lnB>
                  </a:tcPr>
                </a:tc>
                <a:tc>
                  <a:txBody>
                    <a:bodyPr/>
                    <a:lstStyle/>
                    <a:p>
                      <a:pPr algn="ctr" indent="0" marL="0">
                        <a:buNone/>
                      </a:pPr>
                      <a:r>
                        <a:rPr lang="en-US" sz="1400" dirty="0">
                          <a:solidFill>
                            <a:srgbClr val="B0B7C0"/>
                          </a:solidFill>
                        </a:rPr>
                        <a:t>—</a:t>
                      </a:r>
                      <a:endParaRPr lang="en-US" sz="1400" dirty="0"/>
                    </a:p>
                  </a:txBody>
                  <a:tcPr marL="73152" marR="73152" marT="73152" marB="73152" anchor="ctr">
                    <a:lnL w="9525" cap="flat" cmpd="sng" algn="ctr">
                      <a:solidFill>
                        <a:srgbClr val="E3E7EC"/>
                      </a:solidFill>
                      <a:prstDash val="solid"/>
                      <a:round/>
                      <a:headEnd type="none" w="med" len="med"/>
                      <a:tailEnd type="none" w="med" len="med"/>
                    </a:lnL>
                    <a:lnR w="9525" cap="flat" cmpd="sng" algn="ctr">
                      <a:solidFill>
                        <a:srgbClr val="E3E7EC"/>
                      </a:solidFill>
                      <a:prstDash val="solid"/>
                      <a:round/>
                      <a:headEnd type="none" w="med" len="med"/>
                      <a:tailEnd type="none" w="med" len="med"/>
                    </a:lnR>
                    <a:lnT w="9525" cap="flat" cmpd="sng" algn="ctr">
                      <a:solidFill>
                        <a:srgbClr val="E3E7EC"/>
                      </a:solidFill>
                      <a:prstDash val="solid"/>
                      <a:round/>
                      <a:headEnd type="none" w="med" len="med"/>
                      <a:tailEnd type="none" w="med" len="med"/>
                    </a:lnT>
                    <a:lnB w="9525" cap="flat" cmpd="sng" algn="ctr">
                      <a:solidFill>
                        <a:srgbClr val="E3E7EC"/>
                      </a:solidFill>
                      <a:prstDash val="solid"/>
                      <a:round/>
                      <a:headEnd type="none" w="med" len="med"/>
                      <a:tailEnd type="none" w="med" len="med"/>
                    </a:lnB>
                  </a:tcPr>
                </a:tc>
                <a:tc>
                  <a:txBody>
                    <a:bodyPr/>
                    <a:lstStyle/>
                    <a:p>
                      <a:pPr algn="ctr" indent="0" marL="0">
                        <a:buNone/>
                      </a:pPr>
                      <a:r>
                        <a:rPr lang="en-US" sz="1400" b="1" dirty="0">
                          <a:solidFill>
                            <a:schemeClr val="accent1"/>
                          </a:solidFill>
                        </a:rPr>
                        <a:t>✓</a:t>
                      </a:r>
                      <a:endParaRPr lang="en-US" sz="1400" dirty="0"/>
                    </a:p>
                  </a:txBody>
                  <a:tcPr marL="73152" marR="73152" marT="73152" marB="73152" anchor="ctr">
                    <a:lnL w="9525" cap="flat" cmpd="sng" algn="ctr">
                      <a:solidFill>
                        <a:srgbClr val="E3E7EC"/>
                      </a:solidFill>
                      <a:prstDash val="solid"/>
                      <a:round/>
                      <a:headEnd type="none" w="med" len="med"/>
                      <a:tailEnd type="none" w="med" len="med"/>
                    </a:lnL>
                    <a:lnR w="9525" cap="flat" cmpd="sng" algn="ctr">
                      <a:solidFill>
                        <a:srgbClr val="E3E7EC"/>
                      </a:solidFill>
                      <a:prstDash val="solid"/>
                      <a:round/>
                      <a:headEnd type="none" w="med" len="med"/>
                      <a:tailEnd type="none" w="med" len="med"/>
                    </a:lnR>
                    <a:lnT w="9525" cap="flat" cmpd="sng" algn="ctr">
                      <a:solidFill>
                        <a:srgbClr val="E3E7EC"/>
                      </a:solidFill>
                      <a:prstDash val="solid"/>
                      <a:round/>
                      <a:headEnd type="none" w="med" len="med"/>
                      <a:tailEnd type="none" w="med" len="med"/>
                    </a:lnT>
                    <a:lnB w="9525" cap="flat" cmpd="sng" algn="ctr">
                      <a:solidFill>
                        <a:srgbClr val="E3E7EC"/>
                      </a:solidFill>
                      <a:prstDash val="solid"/>
                      <a:round/>
                      <a:headEnd type="none" w="med" len="med"/>
                      <a:tailEnd type="none" w="med" len="med"/>
                    </a:lnB>
                  </a:tcPr>
                </a:tc>
                <a:tc>
                  <a:txBody>
                    <a:bodyPr/>
                    <a:lstStyle/>
                    <a:p>
                      <a:pPr algn="ctr" indent="0" marL="0">
                        <a:buNone/>
                      </a:pPr>
                      <a:r>
                        <a:rPr lang="en-US" sz="1400" b="1" dirty="0">
                          <a:solidFill>
                            <a:schemeClr val="accent1"/>
                          </a:solidFill>
                        </a:rPr>
                        <a:t>✓</a:t>
                      </a:r>
                      <a:endParaRPr lang="en-US" sz="1400" dirty="0"/>
                    </a:p>
                  </a:txBody>
                  <a:tcPr marL="73152" marR="73152" marT="73152" marB="73152" anchor="ctr">
                    <a:lnL w="9525" cap="flat" cmpd="sng" algn="ctr">
                      <a:solidFill>
                        <a:srgbClr val="E3E7EC"/>
                      </a:solidFill>
                      <a:prstDash val="solid"/>
                      <a:round/>
                      <a:headEnd type="none" w="med" len="med"/>
                      <a:tailEnd type="none" w="med" len="med"/>
                    </a:lnL>
                    <a:lnR w="9525" cap="flat" cmpd="sng" algn="ctr">
                      <a:solidFill>
                        <a:srgbClr val="E3E7EC"/>
                      </a:solidFill>
                      <a:prstDash val="solid"/>
                      <a:round/>
                      <a:headEnd type="none" w="med" len="med"/>
                      <a:tailEnd type="none" w="med" len="med"/>
                    </a:lnR>
                    <a:lnT w="9525" cap="flat" cmpd="sng" algn="ctr">
                      <a:solidFill>
                        <a:srgbClr val="E3E7EC"/>
                      </a:solidFill>
                      <a:prstDash val="solid"/>
                      <a:round/>
                      <a:headEnd type="none" w="med" len="med"/>
                      <a:tailEnd type="none" w="med" len="med"/>
                    </a:lnT>
                    <a:lnB w="9525" cap="flat" cmpd="sng" algn="ctr">
                      <a:solidFill>
                        <a:srgbClr val="E3E7EC"/>
                      </a:solidFill>
                      <a:prstDash val="solid"/>
                      <a:round/>
                      <a:headEnd type="none" w="med" len="med"/>
                      <a:tailEnd type="none" w="med" len="med"/>
                    </a:lnB>
                  </a:tcPr>
                </a:tc>
              </a:tr>
              <a:tr h="475488">
                <a:tc>
                  <a:txBody>
                    <a:bodyPr/>
                    <a:lstStyle/>
                    <a:p>
                      <a:pPr indent="0" marL="0">
                        <a:buNone/>
                      </a:pPr>
                      <a:r>
                        <a:rPr lang="en-US" sz="1400" dirty="0">
                          <a:solidFill>
                            <a:schemeClr val="tx1"/>
                          </a:solidFill>
                        </a:rPr>
                        <a:t>Run the full Extraction; manage organisations</a:t>
                      </a:r>
                      <a:endParaRPr lang="en-US" sz="1400" dirty="0"/>
                    </a:p>
                  </a:txBody>
                  <a:tcPr marL="73152" marR="73152" marT="73152" marB="73152" anchor="ctr">
                    <a:lnL w="9525" cap="flat" cmpd="sng" algn="ctr">
                      <a:solidFill>
                        <a:srgbClr val="E3E7EC"/>
                      </a:solidFill>
                      <a:prstDash val="solid"/>
                      <a:round/>
                      <a:headEnd type="none" w="med" len="med"/>
                      <a:tailEnd type="none" w="med" len="med"/>
                    </a:lnL>
                    <a:lnR w="9525" cap="flat" cmpd="sng" algn="ctr">
                      <a:solidFill>
                        <a:srgbClr val="E3E7EC"/>
                      </a:solidFill>
                      <a:prstDash val="solid"/>
                      <a:round/>
                      <a:headEnd type="none" w="med" len="med"/>
                      <a:tailEnd type="none" w="med" len="med"/>
                    </a:lnR>
                    <a:lnT w="9525" cap="flat" cmpd="sng" algn="ctr">
                      <a:solidFill>
                        <a:srgbClr val="E3E7EC"/>
                      </a:solidFill>
                      <a:prstDash val="solid"/>
                      <a:round/>
                      <a:headEnd type="none" w="med" len="med"/>
                      <a:tailEnd type="none" w="med" len="med"/>
                    </a:lnT>
                    <a:lnB w="9525" cap="flat" cmpd="sng" algn="ctr">
                      <a:solidFill>
                        <a:srgbClr val="E3E7EC"/>
                      </a:solidFill>
                      <a:prstDash val="solid"/>
                      <a:round/>
                      <a:headEnd type="none" w="med" len="med"/>
                      <a:tailEnd type="none" w="med" len="med"/>
                    </a:lnB>
                  </a:tcPr>
                </a:tc>
                <a:tc>
                  <a:txBody>
                    <a:bodyPr/>
                    <a:lstStyle/>
                    <a:p>
                      <a:pPr algn="ctr" indent="0" marL="0">
                        <a:buNone/>
                      </a:pPr>
                      <a:r>
                        <a:rPr lang="en-US" sz="1400" dirty="0">
                          <a:solidFill>
                            <a:srgbClr val="B0B7C0"/>
                          </a:solidFill>
                        </a:rPr>
                        <a:t>—</a:t>
                      </a:r>
                      <a:endParaRPr lang="en-US" sz="1400" dirty="0"/>
                    </a:p>
                  </a:txBody>
                  <a:tcPr marL="73152" marR="73152" marT="73152" marB="73152" anchor="ctr">
                    <a:lnL w="9525" cap="flat" cmpd="sng" algn="ctr">
                      <a:solidFill>
                        <a:srgbClr val="E3E7EC"/>
                      </a:solidFill>
                      <a:prstDash val="solid"/>
                      <a:round/>
                      <a:headEnd type="none" w="med" len="med"/>
                      <a:tailEnd type="none" w="med" len="med"/>
                    </a:lnL>
                    <a:lnR w="9525" cap="flat" cmpd="sng" algn="ctr">
                      <a:solidFill>
                        <a:srgbClr val="E3E7EC"/>
                      </a:solidFill>
                      <a:prstDash val="solid"/>
                      <a:round/>
                      <a:headEnd type="none" w="med" len="med"/>
                      <a:tailEnd type="none" w="med" len="med"/>
                    </a:lnR>
                    <a:lnT w="9525" cap="flat" cmpd="sng" algn="ctr">
                      <a:solidFill>
                        <a:srgbClr val="E3E7EC"/>
                      </a:solidFill>
                      <a:prstDash val="solid"/>
                      <a:round/>
                      <a:headEnd type="none" w="med" len="med"/>
                      <a:tailEnd type="none" w="med" len="med"/>
                    </a:lnT>
                    <a:lnB w="9525" cap="flat" cmpd="sng" algn="ctr">
                      <a:solidFill>
                        <a:srgbClr val="E3E7EC"/>
                      </a:solidFill>
                      <a:prstDash val="solid"/>
                      <a:round/>
                      <a:headEnd type="none" w="med" len="med"/>
                      <a:tailEnd type="none" w="med" len="med"/>
                    </a:lnB>
                  </a:tcPr>
                </a:tc>
                <a:tc>
                  <a:txBody>
                    <a:bodyPr/>
                    <a:lstStyle/>
                    <a:p>
                      <a:pPr algn="ctr" indent="0" marL="0">
                        <a:buNone/>
                      </a:pPr>
                      <a:r>
                        <a:rPr lang="en-US" sz="1400" dirty="0">
                          <a:solidFill>
                            <a:srgbClr val="B0B7C0"/>
                          </a:solidFill>
                        </a:rPr>
                        <a:t>—</a:t>
                      </a:r>
                      <a:endParaRPr lang="en-US" sz="1400" dirty="0"/>
                    </a:p>
                  </a:txBody>
                  <a:tcPr marL="73152" marR="73152" marT="73152" marB="73152" anchor="ctr">
                    <a:lnL w="9525" cap="flat" cmpd="sng" algn="ctr">
                      <a:solidFill>
                        <a:srgbClr val="E3E7EC"/>
                      </a:solidFill>
                      <a:prstDash val="solid"/>
                      <a:round/>
                      <a:headEnd type="none" w="med" len="med"/>
                      <a:tailEnd type="none" w="med" len="med"/>
                    </a:lnL>
                    <a:lnR w="9525" cap="flat" cmpd="sng" algn="ctr">
                      <a:solidFill>
                        <a:srgbClr val="E3E7EC"/>
                      </a:solidFill>
                      <a:prstDash val="solid"/>
                      <a:round/>
                      <a:headEnd type="none" w="med" len="med"/>
                      <a:tailEnd type="none" w="med" len="med"/>
                    </a:lnR>
                    <a:lnT w="9525" cap="flat" cmpd="sng" algn="ctr">
                      <a:solidFill>
                        <a:srgbClr val="E3E7EC"/>
                      </a:solidFill>
                      <a:prstDash val="solid"/>
                      <a:round/>
                      <a:headEnd type="none" w="med" len="med"/>
                      <a:tailEnd type="none" w="med" len="med"/>
                    </a:lnT>
                    <a:lnB w="9525" cap="flat" cmpd="sng" algn="ctr">
                      <a:solidFill>
                        <a:srgbClr val="E3E7EC"/>
                      </a:solidFill>
                      <a:prstDash val="solid"/>
                      <a:round/>
                      <a:headEnd type="none" w="med" len="med"/>
                      <a:tailEnd type="none" w="med" len="med"/>
                    </a:lnB>
                  </a:tcPr>
                </a:tc>
                <a:tc>
                  <a:txBody>
                    <a:bodyPr/>
                    <a:lstStyle/>
                    <a:p>
                      <a:pPr algn="ctr" indent="0" marL="0">
                        <a:buNone/>
                      </a:pPr>
                      <a:r>
                        <a:rPr lang="en-US" sz="1400" dirty="0">
                          <a:solidFill>
                            <a:srgbClr val="B0B7C0"/>
                          </a:solidFill>
                        </a:rPr>
                        <a:t>—</a:t>
                      </a:r>
                      <a:endParaRPr lang="en-US" sz="1400" dirty="0"/>
                    </a:p>
                  </a:txBody>
                  <a:tcPr marL="73152" marR="73152" marT="73152" marB="73152" anchor="ctr">
                    <a:lnL w="9525" cap="flat" cmpd="sng" algn="ctr">
                      <a:solidFill>
                        <a:srgbClr val="E3E7EC"/>
                      </a:solidFill>
                      <a:prstDash val="solid"/>
                      <a:round/>
                      <a:headEnd type="none" w="med" len="med"/>
                      <a:tailEnd type="none" w="med" len="med"/>
                    </a:lnL>
                    <a:lnR w="9525" cap="flat" cmpd="sng" algn="ctr">
                      <a:solidFill>
                        <a:srgbClr val="E3E7EC"/>
                      </a:solidFill>
                      <a:prstDash val="solid"/>
                      <a:round/>
                      <a:headEnd type="none" w="med" len="med"/>
                      <a:tailEnd type="none" w="med" len="med"/>
                    </a:lnR>
                    <a:lnT w="9525" cap="flat" cmpd="sng" algn="ctr">
                      <a:solidFill>
                        <a:srgbClr val="E3E7EC"/>
                      </a:solidFill>
                      <a:prstDash val="solid"/>
                      <a:round/>
                      <a:headEnd type="none" w="med" len="med"/>
                      <a:tailEnd type="none" w="med" len="med"/>
                    </a:lnT>
                    <a:lnB w="9525" cap="flat" cmpd="sng" algn="ctr">
                      <a:solidFill>
                        <a:srgbClr val="E3E7EC"/>
                      </a:solidFill>
                      <a:prstDash val="solid"/>
                      <a:round/>
                      <a:headEnd type="none" w="med" len="med"/>
                      <a:tailEnd type="none" w="med" len="med"/>
                    </a:lnB>
                  </a:tcPr>
                </a:tc>
                <a:tc>
                  <a:txBody>
                    <a:bodyPr/>
                    <a:lstStyle/>
                    <a:p>
                      <a:pPr algn="ctr" indent="0" marL="0">
                        <a:buNone/>
                      </a:pPr>
                      <a:r>
                        <a:rPr lang="en-US" sz="1400" b="1" dirty="0">
                          <a:solidFill>
                            <a:schemeClr val="accent1"/>
                          </a:solidFill>
                        </a:rPr>
                        <a:t>✓</a:t>
                      </a:r>
                      <a:endParaRPr lang="en-US" sz="1400" dirty="0"/>
                    </a:p>
                  </a:txBody>
                  <a:tcPr marL="73152" marR="73152" marT="73152" marB="73152" anchor="ctr">
                    <a:lnL w="9525" cap="flat" cmpd="sng" algn="ctr">
                      <a:solidFill>
                        <a:srgbClr val="E3E7EC"/>
                      </a:solidFill>
                      <a:prstDash val="solid"/>
                      <a:round/>
                      <a:headEnd type="none" w="med" len="med"/>
                      <a:tailEnd type="none" w="med" len="med"/>
                    </a:lnL>
                    <a:lnR w="9525" cap="flat" cmpd="sng" algn="ctr">
                      <a:solidFill>
                        <a:srgbClr val="E3E7EC"/>
                      </a:solidFill>
                      <a:prstDash val="solid"/>
                      <a:round/>
                      <a:headEnd type="none" w="med" len="med"/>
                      <a:tailEnd type="none" w="med" len="med"/>
                    </a:lnR>
                    <a:lnT w="9525" cap="flat" cmpd="sng" algn="ctr">
                      <a:solidFill>
                        <a:srgbClr val="E3E7EC"/>
                      </a:solidFill>
                      <a:prstDash val="solid"/>
                      <a:round/>
                      <a:headEnd type="none" w="med" len="med"/>
                      <a:tailEnd type="none" w="med" len="med"/>
                    </a:lnT>
                    <a:lnB w="9525" cap="flat" cmpd="sng" algn="ctr">
                      <a:solidFill>
                        <a:srgbClr val="E3E7EC"/>
                      </a:solidFill>
                      <a:prstDash val="solid"/>
                      <a:round/>
                      <a:headEnd type="none" w="med" len="med"/>
                      <a:tailEnd type="none" w="med" len="med"/>
                    </a:lnB>
                  </a:tcPr>
                </a:tc>
              </a:tr>
            </a:tbl>
          </a:graphicData>
        </a:graphic>
      </p:graphicFrame>
      <p:sp>
        <p:nvSpPr>
          <p:cNvPr id="4" name="callout-amber"/>
          <p:cNvSpPr/>
          <p:nvPr/>
        </p:nvSpPr>
        <p:spPr>
          <a:xfrm>
            <a:off x="548640" y="5349240"/>
            <a:ext cx="11064240" cy="777240"/>
          </a:xfrm>
          <a:prstGeom prst="roundRect">
            <a:avLst>
              <a:gd name="adj" fmla="val 14118"/>
            </a:avLst>
          </a:prstGeom>
          <a:solidFill>
            <a:srgbClr val="FFF4E0"/>
          </a:solidFill>
          <a:ln w="12700">
            <a:solidFill>
              <a:srgbClr val="F3D9A8"/>
            </a:solidFill>
            <a:prstDash val="solid"/>
          </a:ln>
        </p:spPr>
      </p:sp>
      <p:sp>
        <p:nvSpPr>
          <p:cNvPr id="5" name="Text 2"/>
          <p:cNvSpPr txBox="1"/>
          <p:nvPr/>
        </p:nvSpPr>
        <p:spPr>
          <a:xfrm>
            <a:off x="731520" y="5458968"/>
            <a:ext cx="10698480" cy="557784"/>
          </a:xfrm>
          <a:prstGeom prst="rect">
            <a:avLst/>
          </a:prstGeom>
          <a:noFill/>
          <a:ln/>
        </p:spPr>
        <p:txBody>
          <a:bodyPr wrap="square" lIns="0" tIns="0" rIns="0" bIns="0" rtlCol="0" anchor="t"/>
          <a:lstStyle/>
          <a:p>
            <a:pPr indent="0" marL="0">
              <a:spcAft>
                <a:spcPts val="400"/>
              </a:spcAft>
              <a:buNone/>
            </a:pPr>
            <a:r>
              <a:rPr lang="en-US" sz="1400" b="1" dirty="0">
                <a:solidFill>
                  <a:schemeClr val="accent4"/>
                </a:solidFill>
              </a:rPr>
              <a:t>See a greyed-out button?</a:t>
            </a:r>
            <a:endParaRPr lang="en-US" sz="1400" dirty="0"/>
          </a:p>
          <a:p>
            <a:pPr indent="0" marL="0">
              <a:spcAft>
                <a:spcPts val="400"/>
              </a:spcAft>
              <a:buNone/>
            </a:pPr>
            <a:r>
              <a:rPr lang="en-US" sz="1400" dirty="0">
                <a:solidFill>
                  <a:schemeClr val="tx1"/>
                </a:solidFill>
              </a:rPr>
              <a:t>Your role doesn't allow it. Ask your administrator — Settings → Accounts → Users.</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731520" y="2651760"/>
            <a:ext cx="10515600" cy="1097280"/>
          </a:xfrm>
          <a:prstGeom prst="rect">
            <a:avLst/>
          </a:prstGeom>
          <a:noFill/>
          <a:ln/>
        </p:spPr>
        <p:txBody>
          <a:bodyPr wrap="square" lIns="0" tIns="0" rIns="0" bIns="0" rtlCol="0"/>
          <a:lstStyle/>
          <a:p>
            <a:pPr algn="l" indent="0" marL="0">
              <a:buNone/>
            </a:pPr>
            <a:r>
              <a:rPr lang="en-US" sz="4000" b="1" dirty="0">
                <a:solidFill>
                  <a:schemeClr val="bg1"/>
                </a:solidFill>
              </a:rPr>
              <a:t>Getting started</a:t>
            </a:r>
            <a:endParaRPr lang="en-US" sz="4000" dirty="0"/>
          </a:p>
        </p:txBody>
      </p:sp>
      <p:sp>
        <p:nvSpPr>
          <p:cNvPr id="3" name="Text 0"/>
          <p:cNvSpPr/>
          <p:nvPr>
            <p:ph idx="101" type="body" hasCustomPrompt="1"/>
          </p:nvPr>
        </p:nvSpPr>
        <p:spPr>
          <a:xfrm>
            <a:off x="731520" y="3794760"/>
            <a:ext cx="10515600" cy="822960"/>
          </a:xfrm>
          <a:prstGeom prst="rect">
            <a:avLst/>
          </a:prstGeom>
          <a:noFill/>
          <a:ln/>
        </p:spPr>
        <p:txBody>
          <a:bodyPr wrap="square" lIns="0" tIns="0" rIns="0" bIns="0" rtlCol="0"/>
          <a:lstStyle/>
          <a:p>
            <a:pPr algn="l" indent="0" marL="0">
              <a:buNone/>
            </a:pPr>
            <a:r>
              <a:rPr lang="en-US" sz="2000" dirty="0">
                <a:solidFill>
                  <a:schemeClr val="bg1"/>
                </a:solidFill>
              </a:rPr>
              <a:t>Sign in, find your way around, read the alerts</a:t>
            </a:r>
            <a:endParaRPr lang="en-US" sz="2000" dirty="0"/>
          </a:p>
        </p:txBody>
      </p:sp>
      <p:sp>
        <p:nvSpPr>
          <p:cNvPr id="4" name="ring-0"/>
          <p:cNvSpPr/>
          <p:nvPr/>
        </p:nvSpPr>
        <p:spPr>
          <a:xfrm>
            <a:off x="8778240" y="1965960"/>
            <a:ext cx="2926080" cy="2926080"/>
          </a:xfrm>
          <a:prstGeom prst="ellipse">
            <a:avLst/>
          </a:prstGeom>
          <a:ln w="19050">
            <a:solidFill>
              <a:schemeClr val="bg1">
                <a:alpha val="60000"/>
              </a:schemeClr>
            </a:solidFill>
            <a:prstDash val="solid"/>
          </a:ln>
        </p:spPr>
      </p:sp>
      <p:sp>
        <p:nvSpPr>
          <p:cNvPr id="5" name="ring-1"/>
          <p:cNvSpPr/>
          <p:nvPr/>
        </p:nvSpPr>
        <p:spPr>
          <a:xfrm>
            <a:off x="9144000" y="2331720"/>
            <a:ext cx="2194560" cy="2194560"/>
          </a:xfrm>
          <a:prstGeom prst="ellipse">
            <a:avLst/>
          </a:prstGeom>
          <a:ln w="19050">
            <a:solidFill>
              <a:schemeClr val="bg1">
                <a:alpha val="50000"/>
              </a:schemeClr>
            </a:solidFill>
            <a:prstDash val="solid"/>
          </a:ln>
        </p:spPr>
      </p:sp>
      <p:sp>
        <p:nvSpPr>
          <p:cNvPr id="6" name="ring-2"/>
          <p:cNvSpPr/>
          <p:nvPr/>
        </p:nvSpPr>
        <p:spPr>
          <a:xfrm>
            <a:off x="9509760" y="2697480"/>
            <a:ext cx="1463040" cy="1463040"/>
          </a:xfrm>
          <a:prstGeom prst="ellipse">
            <a:avLst/>
          </a:prstGeom>
          <a:ln w="19050">
            <a:solidFill>
              <a:schemeClr val="bg1">
                <a:alpha val="40000"/>
              </a:schemeClr>
            </a:solidFill>
            <a:prstDash val="solid"/>
          </a:ln>
        </p:spPr>
      </p:sp>
      <p:sp>
        <p:nvSpPr>
          <p:cNvPr id="7" name="ring-core"/>
          <p:cNvSpPr/>
          <p:nvPr/>
        </p:nvSpPr>
        <p:spPr>
          <a:xfrm>
            <a:off x="9875520" y="3063240"/>
            <a:ext cx="731520" cy="731520"/>
          </a:xfrm>
          <a:prstGeom prst="ellipse">
            <a:avLst/>
          </a:prstGeom>
          <a:solidFill>
            <a:schemeClr val="bg1">
              <a:alpha val="80000"/>
            </a:schemeClr>
          </a:solidFill>
          <a:ln w="12700">
            <a:solidFill>
              <a:schemeClr val="bg1">
                <a:alpha val="80000"/>
              </a:schemeClr>
            </a:solidFill>
            <a:prstDash val="solid"/>
          </a:ln>
        </p:spPr>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rPr>
              <a:t>Activate your account, then sign in</a:t>
            </a:r>
            <a:endParaRPr lang="en-US" sz="3200" dirty="0"/>
          </a:p>
        </p:txBody>
      </p:sp>
      <p:sp>
        <p:nvSpPr>
          <p:cNvPr id="3" name="step-dot-1"/>
          <p:cNvSpPr/>
          <p:nvPr/>
        </p:nvSpPr>
        <p:spPr>
          <a:xfrm>
            <a:off x="548640" y="1463040"/>
            <a:ext cx="365760" cy="365760"/>
          </a:xfrm>
          <a:prstGeom prst="ellipse">
            <a:avLst/>
          </a:prstGeom>
          <a:solidFill>
            <a:schemeClr val="accent1"/>
          </a:solidFill>
          <a:ln w="12700">
            <a:solidFill>
              <a:schemeClr val="accent1"/>
            </a:solidFill>
            <a:prstDash val="solid"/>
          </a:ln>
        </p:spPr>
      </p:sp>
      <p:sp>
        <p:nvSpPr>
          <p:cNvPr id="4" name="Text 2"/>
          <p:cNvSpPr txBox="1"/>
          <p:nvPr/>
        </p:nvSpPr>
        <p:spPr>
          <a:xfrm>
            <a:off x="548640" y="1463040"/>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5" name="Text 3"/>
          <p:cNvSpPr txBox="1"/>
          <p:nvPr/>
        </p:nvSpPr>
        <p:spPr>
          <a:xfrm>
            <a:off x="1051560" y="1408176"/>
            <a:ext cx="4617720" cy="868680"/>
          </a:xfrm>
          <a:prstGeom prst="rect">
            <a:avLst/>
          </a:prstGeom>
          <a:noFill/>
          <a:ln/>
        </p:spPr>
        <p:txBody>
          <a:bodyPr wrap="square" lIns="0" tIns="0" rIns="0" bIns="0" rtlCol="0" anchor="t"/>
          <a:lstStyle/>
          <a:p>
            <a:pPr indent="0" marL="0">
              <a:buNone/>
            </a:pPr>
            <a:r>
              <a:rPr lang="en-US" sz="1500" dirty="0">
                <a:solidFill>
                  <a:schemeClr val="tx1"/>
                </a:solidFill>
              </a:rPr>
              <a:t>Open the “Activate your RFPIS APP account” email (sent to e.g. user@example.com)</a:t>
            </a:r>
            <a:endParaRPr lang="en-US" sz="1500" dirty="0"/>
          </a:p>
        </p:txBody>
      </p:sp>
      <p:sp>
        <p:nvSpPr>
          <p:cNvPr id="6" name="step-dot-2"/>
          <p:cNvSpPr/>
          <p:nvPr/>
        </p:nvSpPr>
        <p:spPr>
          <a:xfrm>
            <a:off x="548640" y="2331720"/>
            <a:ext cx="365760" cy="365760"/>
          </a:xfrm>
          <a:prstGeom prst="ellipse">
            <a:avLst/>
          </a:prstGeom>
          <a:solidFill>
            <a:schemeClr val="accent1"/>
          </a:solidFill>
          <a:ln w="12700">
            <a:solidFill>
              <a:schemeClr val="accent1"/>
            </a:solidFill>
            <a:prstDash val="solid"/>
          </a:ln>
        </p:spPr>
      </p:sp>
      <p:sp>
        <p:nvSpPr>
          <p:cNvPr id="7" name="Text 5"/>
          <p:cNvSpPr txBox="1"/>
          <p:nvPr/>
        </p:nvSpPr>
        <p:spPr>
          <a:xfrm>
            <a:off x="548640" y="2331720"/>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8" name="Text 6"/>
          <p:cNvSpPr txBox="1"/>
          <p:nvPr/>
        </p:nvSpPr>
        <p:spPr>
          <a:xfrm>
            <a:off x="1051560" y="2276856"/>
            <a:ext cx="4617720" cy="868680"/>
          </a:xfrm>
          <a:prstGeom prst="rect">
            <a:avLst/>
          </a:prstGeom>
          <a:noFill/>
          <a:ln/>
        </p:spPr>
        <p:txBody>
          <a:bodyPr wrap="square" lIns="0" tIns="0" rIns="0" bIns="0" rtlCol="0" anchor="t"/>
          <a:lstStyle/>
          <a:p>
            <a:pPr indent="0" marL="0">
              <a:buNone/>
            </a:pPr>
            <a:r>
              <a:rPr lang="en-US" sz="1500" dirty="0">
                <a:solidFill>
                  <a:schemeClr val="tx1"/>
                </a:solidFill>
              </a:rPr>
              <a:t>Click Activate my account — the link works for 7 days</a:t>
            </a:r>
            <a:endParaRPr lang="en-US" sz="1500" dirty="0"/>
          </a:p>
        </p:txBody>
      </p:sp>
      <p:sp>
        <p:nvSpPr>
          <p:cNvPr id="9" name="step-dot-3"/>
          <p:cNvSpPr/>
          <p:nvPr/>
        </p:nvSpPr>
        <p:spPr>
          <a:xfrm>
            <a:off x="548640" y="3200400"/>
            <a:ext cx="365760" cy="365760"/>
          </a:xfrm>
          <a:prstGeom prst="ellipse">
            <a:avLst/>
          </a:prstGeom>
          <a:solidFill>
            <a:schemeClr val="accent1"/>
          </a:solidFill>
          <a:ln w="12700">
            <a:solidFill>
              <a:schemeClr val="accent1"/>
            </a:solidFill>
            <a:prstDash val="solid"/>
          </a:ln>
        </p:spPr>
      </p:sp>
      <p:sp>
        <p:nvSpPr>
          <p:cNvPr id="10" name="Text 8"/>
          <p:cNvSpPr txBox="1"/>
          <p:nvPr/>
        </p:nvSpPr>
        <p:spPr>
          <a:xfrm>
            <a:off x="548640" y="3200400"/>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1" name="Text 9"/>
          <p:cNvSpPr txBox="1"/>
          <p:nvPr/>
        </p:nvSpPr>
        <p:spPr>
          <a:xfrm>
            <a:off x="1051560" y="3145536"/>
            <a:ext cx="4617720" cy="868680"/>
          </a:xfrm>
          <a:prstGeom prst="rect">
            <a:avLst/>
          </a:prstGeom>
          <a:noFill/>
          <a:ln/>
        </p:spPr>
        <p:txBody>
          <a:bodyPr wrap="square" lIns="0" tIns="0" rIns="0" bIns="0" rtlCol="0" anchor="t"/>
          <a:lstStyle/>
          <a:p>
            <a:pPr indent="0" marL="0">
              <a:buNone/>
            </a:pPr>
            <a:r>
              <a:rPr lang="en-US" sz="1500" dirty="0">
                <a:solidFill>
                  <a:schemeClr val="tx1"/>
                </a:solidFill>
              </a:rPr>
              <a:t>Choose your password twice → Save password → Go to sign in</a:t>
            </a:r>
            <a:endParaRPr lang="en-US" sz="1500" dirty="0"/>
          </a:p>
        </p:txBody>
      </p:sp>
      <p:sp>
        <p:nvSpPr>
          <p:cNvPr id="12" name="step-dot-4"/>
          <p:cNvSpPr/>
          <p:nvPr/>
        </p:nvSpPr>
        <p:spPr>
          <a:xfrm>
            <a:off x="548640" y="4069080"/>
            <a:ext cx="365760" cy="365760"/>
          </a:xfrm>
          <a:prstGeom prst="ellipse">
            <a:avLst/>
          </a:prstGeom>
          <a:solidFill>
            <a:schemeClr val="accent1"/>
          </a:solidFill>
          <a:ln w="12700">
            <a:solidFill>
              <a:schemeClr val="accent1"/>
            </a:solidFill>
            <a:prstDash val="solid"/>
          </a:ln>
        </p:spPr>
      </p:sp>
      <p:sp>
        <p:nvSpPr>
          <p:cNvPr id="13" name="Text 11"/>
          <p:cNvSpPr txBox="1"/>
          <p:nvPr/>
        </p:nvSpPr>
        <p:spPr>
          <a:xfrm>
            <a:off x="548640" y="4069080"/>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14" name="Text 12"/>
          <p:cNvSpPr txBox="1"/>
          <p:nvPr/>
        </p:nvSpPr>
        <p:spPr>
          <a:xfrm>
            <a:off x="1051560" y="4014216"/>
            <a:ext cx="4617720" cy="868680"/>
          </a:xfrm>
          <a:prstGeom prst="rect">
            <a:avLst/>
          </a:prstGeom>
          <a:noFill/>
          <a:ln/>
        </p:spPr>
        <p:txBody>
          <a:bodyPr wrap="square" lIns="0" tIns="0" rIns="0" bIns="0" rtlCol="0" anchor="t"/>
          <a:lstStyle/>
          <a:p>
            <a:pPr indent="0" marL="0">
              <a:buNone/>
            </a:pPr>
            <a:r>
              <a:rPr lang="en-US" sz="1500" dirty="0">
                <a:solidFill>
                  <a:schemeClr val="tx1"/>
                </a:solidFill>
              </a:rPr>
              <a:t>Sign in: Username = your email, then your password → Login</a:t>
            </a:r>
            <a:endParaRPr lang="en-US" sz="1500" dirty="0"/>
          </a:p>
        </p:txBody>
      </p:sp>
      <p:sp>
        <p:nvSpPr>
          <p:cNvPr id="15" name="step-dot-5"/>
          <p:cNvSpPr/>
          <p:nvPr/>
        </p:nvSpPr>
        <p:spPr>
          <a:xfrm>
            <a:off x="548640" y="4937760"/>
            <a:ext cx="365760" cy="365760"/>
          </a:xfrm>
          <a:prstGeom prst="ellipse">
            <a:avLst/>
          </a:prstGeom>
          <a:solidFill>
            <a:schemeClr val="accent1"/>
          </a:solidFill>
          <a:ln w="12700">
            <a:solidFill>
              <a:schemeClr val="accent1"/>
            </a:solidFill>
            <a:prstDash val="solid"/>
          </a:ln>
        </p:spPr>
      </p:sp>
      <p:sp>
        <p:nvSpPr>
          <p:cNvPr id="16" name="Text 14"/>
          <p:cNvSpPr txBox="1"/>
          <p:nvPr/>
        </p:nvSpPr>
        <p:spPr>
          <a:xfrm>
            <a:off x="548640" y="4937760"/>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rPr>
              <a:t>5</a:t>
            </a:r>
            <a:endParaRPr lang="en-US" sz="1400" dirty="0"/>
          </a:p>
        </p:txBody>
      </p:sp>
      <p:sp>
        <p:nvSpPr>
          <p:cNvPr id="17" name="Text 15"/>
          <p:cNvSpPr txBox="1"/>
          <p:nvPr/>
        </p:nvSpPr>
        <p:spPr>
          <a:xfrm>
            <a:off x="1051560" y="4882896"/>
            <a:ext cx="4617720" cy="868680"/>
          </a:xfrm>
          <a:prstGeom prst="rect">
            <a:avLst/>
          </a:prstGeom>
          <a:noFill/>
          <a:ln/>
        </p:spPr>
        <p:txBody>
          <a:bodyPr wrap="square" lIns="0" tIns="0" rIns="0" bIns="0" rtlCol="0" anchor="t"/>
          <a:lstStyle/>
          <a:p>
            <a:pPr indent="0" marL="0">
              <a:buNone/>
            </a:pPr>
            <a:r>
              <a:rPr lang="en-US" sz="1500" dirty="0">
                <a:solidFill>
                  <a:schemeClr val="tx1"/>
                </a:solidFill>
              </a:rPr>
              <a:t>Forgot it? Forgot password? → Request password reset (an admin approves it)</a:t>
            </a:r>
            <a:endParaRPr lang="en-US" sz="1500" dirty="0"/>
          </a:p>
        </p:txBody>
      </p:sp>
      <p:sp>
        <p:nvSpPr>
          <p:cNvPr id="18" name="frame-01-login"/>
          <p:cNvSpPr/>
          <p:nvPr/>
        </p:nvSpPr>
        <p:spPr>
          <a:xfrm>
            <a:off x="6016752" y="1399032"/>
            <a:ext cx="5614416" cy="3522726"/>
          </a:xfrm>
          <a:prstGeom prst="rect">
            <a:avLst/>
          </a:prstGeom>
          <a:solidFill>
            <a:schemeClr val="bg1"/>
          </a:solidFill>
          <a:ln w="12700">
            <a:solidFill>
              <a:srgbClr val="D5DBE2"/>
            </a:solidFill>
            <a:prstDash val="solid"/>
          </a:ln>
          <a:effectLst>
            <a:outerShdw sx="100000" sy="100000" kx="0" ky="0" algn="bl" rotWithShape="0" blurRad="127000" dist="38100" dir="5400000">
              <a:srgbClr val="14254F">
                <a:alpha val="18000"/>
              </a:srgbClr>
            </a:outerShdw>
          </a:effectLst>
        </p:spPr>
      </p:sp>
      <p:pic>
        <p:nvPicPr>
          <p:cNvPr id="19" name="shot-01-login" descr="The sign-in screen">    </p:cNvPr>
          <p:cNvPicPr>
            <a:picLocks noChangeAspect="1"/>
          </p:cNvPicPr>
          <p:nvPr/>
        </p:nvPicPr>
        <p:blipFill>
          <a:blip r:embed="rId1"/>
          <a:stretch>
            <a:fillRect/>
          </a:stretch>
        </p:blipFill>
        <p:spPr>
          <a:xfrm>
            <a:off x="6035040" y="1417320"/>
            <a:ext cx="5577840" cy="3486150"/>
          </a:xfrm>
          <a:prstGeom prst="rect">
            <a:avLst/>
          </a:prstGeom>
        </p:spPr>
      </p:pic>
      <p:sp>
        <p:nvSpPr>
          <p:cNvPr id="20" name="Text 17"/>
          <p:cNvSpPr txBox="1"/>
          <p:nvPr/>
        </p:nvSpPr>
        <p:spPr>
          <a:xfrm>
            <a:off x="6035040" y="4976622"/>
            <a:ext cx="5577840" cy="274320"/>
          </a:xfrm>
          <a:prstGeom prst="rect">
            <a:avLst/>
          </a:prstGeom>
          <a:noFill/>
          <a:ln/>
        </p:spPr>
        <p:txBody>
          <a:bodyPr wrap="square" lIns="0" tIns="0" rIns="0" bIns="0" rtlCol="0" anchor="ctr"/>
          <a:lstStyle/>
          <a:p>
            <a:pPr algn="ctr" indent="0" marL="0">
              <a:buNone/>
            </a:pPr>
            <a:r>
              <a:rPr lang="en-US" sz="1100" i="1" dirty="0">
                <a:solidFill>
                  <a:srgbClr val="5B6573"/>
                </a:solidFill>
              </a:rPr>
              <a:t>The sign-in screen</a:t>
            </a:r>
            <a:endParaRPr lang="en-US" sz="11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rPr>
              <a:t>Finding your way around</a:t>
            </a:r>
            <a:endParaRPr lang="en-US" sz="3200" dirty="0"/>
          </a:p>
        </p:txBody>
      </p:sp>
      <p:sp>
        <p:nvSpPr>
          <p:cNvPr id="3" name="frame-06-sidebar"/>
          <p:cNvSpPr/>
          <p:nvPr/>
        </p:nvSpPr>
        <p:spPr>
          <a:xfrm>
            <a:off x="530352" y="1353312"/>
            <a:ext cx="6803136" cy="4265676"/>
          </a:xfrm>
          <a:prstGeom prst="rect">
            <a:avLst/>
          </a:prstGeom>
          <a:solidFill>
            <a:schemeClr val="bg1"/>
          </a:solidFill>
          <a:ln w="12700">
            <a:solidFill>
              <a:srgbClr val="D5DBE2"/>
            </a:solidFill>
            <a:prstDash val="solid"/>
          </a:ln>
          <a:effectLst>
            <a:outerShdw sx="100000" sy="100000" kx="0" ky="0" algn="bl" rotWithShape="0" blurRad="127000" dist="38100" dir="5400000">
              <a:srgbClr val="14254F">
                <a:alpha val="18000"/>
              </a:srgbClr>
            </a:outerShdw>
          </a:effectLst>
        </p:spPr>
      </p:sp>
      <p:pic>
        <p:nvPicPr>
          <p:cNvPr id="4" name="shot-06-sidebar" descr="06-sidebar">    </p:cNvPr>
          <p:cNvPicPr>
            <a:picLocks noChangeAspect="1"/>
          </p:cNvPicPr>
          <p:nvPr/>
        </p:nvPicPr>
        <p:blipFill>
          <a:blip r:embed="rId1"/>
          <a:stretch>
            <a:fillRect/>
          </a:stretch>
        </p:blipFill>
        <p:spPr>
          <a:xfrm>
            <a:off x="548640" y="1371600"/>
            <a:ext cx="6766560" cy="4229100"/>
          </a:xfrm>
          <a:prstGeom prst="rect">
            <a:avLst/>
          </a:prstGeom>
        </p:spPr>
      </p:pic>
      <p:sp>
        <p:nvSpPr>
          <p:cNvPr id="5" name="callout-green"/>
          <p:cNvSpPr/>
          <p:nvPr/>
        </p:nvSpPr>
        <p:spPr>
          <a:xfrm>
            <a:off x="7680960" y="1371600"/>
            <a:ext cx="3931920" cy="1325880"/>
          </a:xfrm>
          <a:prstGeom prst="roundRect">
            <a:avLst>
              <a:gd name="adj" fmla="val 8276"/>
            </a:avLst>
          </a:prstGeom>
          <a:solidFill>
            <a:srgbClr val="E6F2EB"/>
          </a:solidFill>
          <a:ln w="12700">
            <a:solidFill>
              <a:srgbClr val="CFE6DA"/>
            </a:solidFill>
            <a:prstDash val="solid"/>
          </a:ln>
        </p:spPr>
      </p:sp>
      <p:sp>
        <p:nvSpPr>
          <p:cNvPr id="6" name="Text 3"/>
          <p:cNvSpPr txBox="1"/>
          <p:nvPr/>
        </p:nvSpPr>
        <p:spPr>
          <a:xfrm>
            <a:off x="7863840" y="1481328"/>
            <a:ext cx="3566160" cy="1106424"/>
          </a:xfrm>
          <a:prstGeom prst="rect">
            <a:avLst/>
          </a:prstGeom>
          <a:noFill/>
          <a:ln/>
        </p:spPr>
        <p:txBody>
          <a:bodyPr wrap="square" lIns="0" tIns="0" rIns="0" bIns="0" rtlCol="0" anchor="t"/>
          <a:lstStyle/>
          <a:p>
            <a:pPr indent="0" marL="0">
              <a:spcAft>
                <a:spcPts val="400"/>
              </a:spcAft>
              <a:buNone/>
            </a:pPr>
            <a:r>
              <a:rPr lang="en-US" sz="1400" b="1" dirty="0">
                <a:solidFill>
                  <a:schemeClr val="tx2"/>
                </a:solidFill>
              </a:rPr>
              <a:t>Left sidebar</a:t>
            </a:r>
            <a:endParaRPr lang="en-US" sz="1400" dirty="0"/>
          </a:p>
          <a:p>
            <a:pPr indent="0" marL="0">
              <a:spcAft>
                <a:spcPts val="400"/>
              </a:spcAft>
              <a:buNone/>
            </a:pPr>
            <a:r>
              <a:rPr lang="en-US" sz="1400" dirty="0">
                <a:solidFill>
                  <a:schemeClr val="tx1"/>
                </a:solidFill>
              </a:rPr>
              <a:t>Home · Pipelines · Grants · Actions · Report · Donors · Tenant · Submit. Your role is at the bottom.</a:t>
            </a:r>
            <a:endParaRPr lang="en-US" sz="1400" dirty="0"/>
          </a:p>
        </p:txBody>
      </p:sp>
      <p:sp>
        <p:nvSpPr>
          <p:cNvPr id="7" name="callout-blue"/>
          <p:cNvSpPr/>
          <p:nvPr/>
        </p:nvSpPr>
        <p:spPr>
          <a:xfrm>
            <a:off x="7680960" y="2880360"/>
            <a:ext cx="3931920" cy="1188720"/>
          </a:xfrm>
          <a:prstGeom prst="roundRect">
            <a:avLst>
              <a:gd name="adj" fmla="val 9231"/>
            </a:avLst>
          </a:prstGeom>
          <a:solidFill>
            <a:srgbClr val="EEF3FB"/>
          </a:solidFill>
          <a:ln w="12700">
            <a:solidFill>
              <a:srgbClr val="D6E1F3"/>
            </a:solidFill>
            <a:prstDash val="solid"/>
          </a:ln>
        </p:spPr>
      </p:sp>
      <p:sp>
        <p:nvSpPr>
          <p:cNvPr id="8" name="Text 5"/>
          <p:cNvSpPr txBox="1"/>
          <p:nvPr/>
        </p:nvSpPr>
        <p:spPr>
          <a:xfrm>
            <a:off x="7863840" y="2990088"/>
            <a:ext cx="3566160" cy="969264"/>
          </a:xfrm>
          <a:prstGeom prst="rect">
            <a:avLst/>
          </a:prstGeom>
          <a:noFill/>
          <a:ln/>
        </p:spPr>
        <p:txBody>
          <a:bodyPr wrap="square" lIns="0" tIns="0" rIns="0" bIns="0" rtlCol="0" anchor="t"/>
          <a:lstStyle/>
          <a:p>
            <a:pPr indent="0" marL="0">
              <a:spcAft>
                <a:spcPts val="400"/>
              </a:spcAft>
              <a:buNone/>
            </a:pPr>
            <a:r>
              <a:rPr lang="en-US" sz="1400" b="1" dirty="0">
                <a:solidFill>
                  <a:schemeClr val="tx2"/>
                </a:solidFill>
              </a:rPr>
              <a:t>Top bar</a:t>
            </a:r>
            <a:endParaRPr lang="en-US" sz="1400" dirty="0"/>
          </a:p>
          <a:p>
            <a:pPr indent="0" marL="0">
              <a:spcAft>
                <a:spcPts val="400"/>
              </a:spcAft>
              <a:buNone/>
            </a:pPr>
            <a:r>
              <a:rPr lang="en-US" sz="1400" dirty="0">
                <a:solidFill>
                  <a:schemeClr val="tx1"/>
                </a:solidFill>
              </a:rPr>
              <a:t>Search · Notifications bell · Person menu (Help, Tenant, Profile, Sign Out).</a:t>
            </a:r>
            <a:endParaRPr lang="en-US" sz="1400" dirty="0"/>
          </a:p>
        </p:txBody>
      </p:sp>
      <p:sp>
        <p:nvSpPr>
          <p:cNvPr id="9" name="callout-amber"/>
          <p:cNvSpPr/>
          <p:nvPr/>
        </p:nvSpPr>
        <p:spPr>
          <a:xfrm>
            <a:off x="7680960" y="4251960"/>
            <a:ext cx="3931920" cy="1188720"/>
          </a:xfrm>
          <a:prstGeom prst="roundRect">
            <a:avLst>
              <a:gd name="adj" fmla="val 9231"/>
            </a:avLst>
          </a:prstGeom>
          <a:solidFill>
            <a:srgbClr val="FFF4E0"/>
          </a:solidFill>
          <a:ln w="12700">
            <a:solidFill>
              <a:srgbClr val="F3D9A8"/>
            </a:solidFill>
            <a:prstDash val="solid"/>
          </a:ln>
        </p:spPr>
      </p:sp>
      <p:sp>
        <p:nvSpPr>
          <p:cNvPr id="10" name="Text 7"/>
          <p:cNvSpPr txBox="1"/>
          <p:nvPr/>
        </p:nvSpPr>
        <p:spPr>
          <a:xfrm>
            <a:off x="7863840" y="4361688"/>
            <a:ext cx="3566160" cy="969264"/>
          </a:xfrm>
          <a:prstGeom prst="rect">
            <a:avLst/>
          </a:prstGeom>
          <a:noFill/>
          <a:ln/>
        </p:spPr>
        <p:txBody>
          <a:bodyPr wrap="square" lIns="0" tIns="0" rIns="0" bIns="0" rtlCol="0" anchor="t"/>
          <a:lstStyle/>
          <a:p>
            <a:pPr indent="0" marL="0">
              <a:spcAft>
                <a:spcPts val="400"/>
              </a:spcAft>
              <a:buNone/>
            </a:pPr>
            <a:r>
              <a:rPr lang="en-US" sz="1400" b="1" dirty="0">
                <a:solidFill>
                  <a:schemeClr val="accent4"/>
                </a:solidFill>
              </a:rPr>
              <a:t>Admins only</a:t>
            </a:r>
            <a:endParaRPr lang="en-US" sz="1400" dirty="0"/>
          </a:p>
          <a:p>
            <a:pPr indent="0" marL="0">
              <a:spcAft>
                <a:spcPts val="400"/>
              </a:spcAft>
              <a:buNone/>
            </a:pPr>
            <a:r>
              <a:rPr lang="en-US" sz="1400" dirty="0">
                <a:solidFill>
                  <a:schemeClr val="tx1"/>
                </a:solidFill>
              </a:rPr>
              <a:t>Settings appears in the sidebar and person menu for administrators only.</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rPr>
              <a:t>The bell is your alert</a:t>
            </a:r>
            <a:endParaRPr lang="en-US" sz="3200" dirty="0"/>
          </a:p>
        </p:txBody>
      </p:sp>
      <p:sp>
        <p:nvSpPr>
          <p:cNvPr id="3" name="frame-08-bell"/>
          <p:cNvSpPr/>
          <p:nvPr/>
        </p:nvSpPr>
        <p:spPr>
          <a:xfrm>
            <a:off x="530352" y="1353312"/>
            <a:ext cx="6803136" cy="4265676"/>
          </a:xfrm>
          <a:prstGeom prst="rect">
            <a:avLst/>
          </a:prstGeom>
          <a:solidFill>
            <a:schemeClr val="bg1"/>
          </a:solidFill>
          <a:ln w="12700">
            <a:solidFill>
              <a:srgbClr val="D5DBE2"/>
            </a:solidFill>
            <a:prstDash val="solid"/>
          </a:ln>
          <a:effectLst>
            <a:outerShdw sx="100000" sy="100000" kx="0" ky="0" algn="bl" rotWithShape="0" blurRad="127000" dist="38100" dir="5400000">
              <a:srgbClr val="14254F">
                <a:alpha val="18000"/>
              </a:srgbClr>
            </a:outerShdw>
          </a:effectLst>
        </p:spPr>
      </p:sp>
      <p:pic>
        <p:nvPicPr>
          <p:cNvPr id="4" name="shot-08-bell" descr="08-bell">    </p:cNvPr>
          <p:cNvPicPr>
            <a:picLocks noChangeAspect="1"/>
          </p:cNvPicPr>
          <p:nvPr/>
        </p:nvPicPr>
        <p:blipFill>
          <a:blip r:embed="rId1"/>
          <a:stretch>
            <a:fillRect/>
          </a:stretch>
        </p:blipFill>
        <p:spPr>
          <a:xfrm>
            <a:off x="548640" y="1371600"/>
            <a:ext cx="6766560" cy="4229100"/>
          </a:xfrm>
          <a:prstGeom prst="rect">
            <a:avLst/>
          </a:prstGeom>
        </p:spPr>
      </p:pic>
      <p:sp>
        <p:nvSpPr>
          <p:cNvPr id="5" name="step-dot-1"/>
          <p:cNvSpPr/>
          <p:nvPr/>
        </p:nvSpPr>
        <p:spPr>
          <a:xfrm>
            <a:off x="7680960" y="1463040"/>
            <a:ext cx="365760" cy="365760"/>
          </a:xfrm>
          <a:prstGeom prst="ellipse">
            <a:avLst/>
          </a:prstGeom>
          <a:solidFill>
            <a:schemeClr val="accent1"/>
          </a:solidFill>
          <a:ln w="12700">
            <a:solidFill>
              <a:schemeClr val="accent1"/>
            </a:solidFill>
            <a:prstDash val="solid"/>
          </a:ln>
        </p:spPr>
      </p:sp>
      <p:sp>
        <p:nvSpPr>
          <p:cNvPr id="6" name="Text 3"/>
          <p:cNvSpPr txBox="1"/>
          <p:nvPr/>
        </p:nvSpPr>
        <p:spPr>
          <a:xfrm>
            <a:off x="7680960" y="1463040"/>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7" name="Text 4"/>
          <p:cNvSpPr txBox="1"/>
          <p:nvPr/>
        </p:nvSpPr>
        <p:spPr>
          <a:xfrm>
            <a:off x="8183880" y="1408176"/>
            <a:ext cx="3429000" cy="868680"/>
          </a:xfrm>
          <a:prstGeom prst="rect">
            <a:avLst/>
          </a:prstGeom>
          <a:noFill/>
          <a:ln/>
        </p:spPr>
        <p:txBody>
          <a:bodyPr wrap="square" lIns="0" tIns="0" rIns="0" bIns="0" rtlCol="0" anchor="t"/>
          <a:lstStyle/>
          <a:p>
            <a:pPr indent="0" marL="0">
              <a:buNone/>
            </a:pPr>
            <a:r>
              <a:rPr lang="en-US" sz="1400" dirty="0">
                <a:solidFill>
                  <a:schemeClr val="tx1"/>
                </a:solidFill>
              </a:rPr>
              <a:t>A red number = new items since you last looked</a:t>
            </a:r>
            <a:endParaRPr lang="en-US" sz="1400" dirty="0"/>
          </a:p>
        </p:txBody>
      </p:sp>
      <p:sp>
        <p:nvSpPr>
          <p:cNvPr id="8" name="step-dot-2"/>
          <p:cNvSpPr/>
          <p:nvPr/>
        </p:nvSpPr>
        <p:spPr>
          <a:xfrm>
            <a:off x="7680960" y="2331720"/>
            <a:ext cx="365760" cy="365760"/>
          </a:xfrm>
          <a:prstGeom prst="ellipse">
            <a:avLst/>
          </a:prstGeom>
          <a:solidFill>
            <a:schemeClr val="accent1"/>
          </a:solidFill>
          <a:ln w="12700">
            <a:solidFill>
              <a:schemeClr val="accent1"/>
            </a:solidFill>
            <a:prstDash val="solid"/>
          </a:ln>
        </p:spPr>
      </p:sp>
      <p:sp>
        <p:nvSpPr>
          <p:cNvPr id="9" name="Text 6"/>
          <p:cNvSpPr txBox="1"/>
          <p:nvPr/>
        </p:nvSpPr>
        <p:spPr>
          <a:xfrm>
            <a:off x="7680960" y="2331720"/>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0" name="Text 7"/>
          <p:cNvSpPr txBox="1"/>
          <p:nvPr/>
        </p:nvSpPr>
        <p:spPr>
          <a:xfrm>
            <a:off x="8183880" y="2276856"/>
            <a:ext cx="3429000" cy="868680"/>
          </a:xfrm>
          <a:prstGeom prst="rect">
            <a:avLst/>
          </a:prstGeom>
          <a:noFill/>
          <a:ln/>
        </p:spPr>
        <p:txBody>
          <a:bodyPr wrap="square" lIns="0" tIns="0" rIns="0" bIns="0" rtlCol="0" anchor="t"/>
          <a:lstStyle/>
          <a:p>
            <a:pPr indent="0" marL="0">
              <a:buNone/>
            </a:pPr>
            <a:r>
              <a:rPr lang="en-US" sz="1400" dirty="0">
                <a:solidFill>
                  <a:schemeClr val="tx1"/>
                </a:solidFill>
              </a:rPr>
              <a:t>Next auto-scan: Friday 06:00 UTC; Next call: this week's rota</a:t>
            </a:r>
            <a:endParaRPr lang="en-US" sz="1400" dirty="0"/>
          </a:p>
        </p:txBody>
      </p:sp>
      <p:sp>
        <p:nvSpPr>
          <p:cNvPr id="11" name="step-dot-3"/>
          <p:cNvSpPr/>
          <p:nvPr/>
        </p:nvSpPr>
        <p:spPr>
          <a:xfrm>
            <a:off x="7680960" y="3200400"/>
            <a:ext cx="365760" cy="365760"/>
          </a:xfrm>
          <a:prstGeom prst="ellipse">
            <a:avLst/>
          </a:prstGeom>
          <a:solidFill>
            <a:schemeClr val="accent1"/>
          </a:solidFill>
          <a:ln w="12700">
            <a:solidFill>
              <a:schemeClr val="accent1"/>
            </a:solidFill>
            <a:prstDash val="solid"/>
          </a:ln>
        </p:spPr>
      </p:sp>
      <p:sp>
        <p:nvSpPr>
          <p:cNvPr id="12" name="Text 9"/>
          <p:cNvSpPr txBox="1"/>
          <p:nvPr/>
        </p:nvSpPr>
        <p:spPr>
          <a:xfrm>
            <a:off x="7680960" y="3200400"/>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3" name="Text 10"/>
          <p:cNvSpPr txBox="1"/>
          <p:nvPr/>
        </p:nvSpPr>
        <p:spPr>
          <a:xfrm>
            <a:off x="8183880" y="3145536"/>
            <a:ext cx="3429000" cy="868680"/>
          </a:xfrm>
          <a:prstGeom prst="rect">
            <a:avLst/>
          </a:prstGeom>
          <a:noFill/>
          <a:ln/>
        </p:spPr>
        <p:txBody>
          <a:bodyPr wrap="square" lIns="0" tIns="0" rIns="0" bIns="0" rtlCol="0" anchor="t"/>
          <a:lstStyle/>
          <a:p>
            <a:pPr indent="0" marL="0">
              <a:buNone/>
            </a:pPr>
            <a:r>
              <a:rPr lang="en-US" sz="1400" dirty="0">
                <a:solidFill>
                  <a:schemeClr val="tx1"/>
                </a:solidFill>
              </a:rPr>
              <a:t>“Scan completed” → raw records are ready: go and run the Eligibility Scan</a:t>
            </a:r>
            <a:endParaRPr lang="en-US" sz="1400" dirty="0"/>
          </a:p>
        </p:txBody>
      </p:sp>
      <p:sp>
        <p:nvSpPr>
          <p:cNvPr id="14" name="step-dot-4"/>
          <p:cNvSpPr/>
          <p:nvPr/>
        </p:nvSpPr>
        <p:spPr>
          <a:xfrm>
            <a:off x="7680960" y="4069080"/>
            <a:ext cx="365760" cy="365760"/>
          </a:xfrm>
          <a:prstGeom prst="ellipse">
            <a:avLst/>
          </a:prstGeom>
          <a:solidFill>
            <a:schemeClr val="accent1"/>
          </a:solidFill>
          <a:ln w="12700">
            <a:solidFill>
              <a:schemeClr val="accent1"/>
            </a:solidFill>
            <a:prstDash val="solid"/>
          </a:ln>
        </p:spPr>
      </p:sp>
      <p:sp>
        <p:nvSpPr>
          <p:cNvPr id="15" name="Text 12"/>
          <p:cNvSpPr txBox="1"/>
          <p:nvPr/>
        </p:nvSpPr>
        <p:spPr>
          <a:xfrm>
            <a:off x="7680960" y="4069080"/>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16" name="Text 13"/>
          <p:cNvSpPr txBox="1"/>
          <p:nvPr/>
        </p:nvSpPr>
        <p:spPr>
          <a:xfrm>
            <a:off x="8183880" y="4014216"/>
            <a:ext cx="3429000" cy="868680"/>
          </a:xfrm>
          <a:prstGeom prst="rect">
            <a:avLst/>
          </a:prstGeom>
          <a:noFill/>
          <a:ln/>
        </p:spPr>
        <p:txBody>
          <a:bodyPr wrap="square" lIns="0" tIns="0" rIns="0" bIns="0" rtlCol="0" anchor="t"/>
          <a:lstStyle/>
          <a:p>
            <a:pPr indent="0" marL="0">
              <a:buNone/>
            </a:pPr>
            <a:r>
              <a:rPr lang="en-US" sz="1400" dirty="0">
                <a:solidFill>
                  <a:schemeClr val="tx1"/>
                </a:solidFill>
              </a:rPr>
              <a:t>“New opportunity” → a teammate submitted an RFP</a:t>
            </a:r>
            <a:endParaRPr lang="en-US" sz="1400" dirty="0"/>
          </a:p>
        </p:txBody>
      </p:sp>
      <p:sp>
        <p:nvSpPr>
          <p:cNvPr id="17" name="step-dot-5"/>
          <p:cNvSpPr/>
          <p:nvPr/>
        </p:nvSpPr>
        <p:spPr>
          <a:xfrm>
            <a:off x="7680960" y="4937760"/>
            <a:ext cx="365760" cy="365760"/>
          </a:xfrm>
          <a:prstGeom prst="ellipse">
            <a:avLst/>
          </a:prstGeom>
          <a:solidFill>
            <a:schemeClr val="accent1"/>
          </a:solidFill>
          <a:ln w="12700">
            <a:solidFill>
              <a:schemeClr val="accent1"/>
            </a:solidFill>
            <a:prstDash val="solid"/>
          </a:ln>
        </p:spPr>
      </p:sp>
      <p:sp>
        <p:nvSpPr>
          <p:cNvPr id="18" name="Text 15"/>
          <p:cNvSpPr txBox="1"/>
          <p:nvPr/>
        </p:nvSpPr>
        <p:spPr>
          <a:xfrm>
            <a:off x="7680960" y="4937760"/>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rPr>
              <a:t>5</a:t>
            </a:r>
            <a:endParaRPr lang="en-US" sz="1400" dirty="0"/>
          </a:p>
        </p:txBody>
      </p:sp>
      <p:sp>
        <p:nvSpPr>
          <p:cNvPr id="19" name="Text 16"/>
          <p:cNvSpPr txBox="1"/>
          <p:nvPr/>
        </p:nvSpPr>
        <p:spPr>
          <a:xfrm>
            <a:off x="8183880" y="4882896"/>
            <a:ext cx="3429000" cy="868680"/>
          </a:xfrm>
          <a:prstGeom prst="rect">
            <a:avLst/>
          </a:prstGeom>
          <a:noFill/>
          <a:ln/>
        </p:spPr>
        <p:txBody>
          <a:bodyPr wrap="square" lIns="0" tIns="0" rIns="0" bIns="0" rtlCol="0" anchor="t"/>
          <a:lstStyle/>
          <a:p>
            <a:pPr indent="0" marL="0">
              <a:buNone/>
            </a:pPr>
            <a:r>
              <a:rPr lang="en-US" sz="1400" dirty="0">
                <a:solidFill>
                  <a:schemeClr val="tx1"/>
                </a:solidFill>
              </a:rPr>
              <a:t>Mark all as read clears the count</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731520" y="2651760"/>
            <a:ext cx="10515600" cy="1097280"/>
          </a:xfrm>
          <a:prstGeom prst="rect">
            <a:avLst/>
          </a:prstGeom>
          <a:noFill/>
          <a:ln/>
        </p:spPr>
        <p:txBody>
          <a:bodyPr wrap="square" lIns="0" tIns="0" rIns="0" bIns="0" rtlCol="0"/>
          <a:lstStyle/>
          <a:p>
            <a:pPr algn="l" indent="0" marL="0">
              <a:buNone/>
            </a:pPr>
            <a:r>
              <a:rPr lang="en-US" sz="4000" b="1" dirty="0">
                <a:solidFill>
                  <a:schemeClr val="bg1"/>
                </a:solidFill>
              </a:rPr>
              <a:t>Screening &amp; decisions</a:t>
            </a:r>
            <a:endParaRPr lang="en-US" sz="4000" dirty="0"/>
          </a:p>
        </p:txBody>
      </p:sp>
      <p:sp>
        <p:nvSpPr>
          <p:cNvPr id="3" name="Text 0"/>
          <p:cNvSpPr/>
          <p:nvPr>
            <p:ph idx="101" type="body" hasCustomPrompt="1"/>
          </p:nvPr>
        </p:nvSpPr>
        <p:spPr>
          <a:xfrm>
            <a:off x="731520" y="3794760"/>
            <a:ext cx="10515600" cy="822960"/>
          </a:xfrm>
          <a:prstGeom prst="rect">
            <a:avLst/>
          </a:prstGeom>
          <a:noFill/>
          <a:ln/>
        </p:spPr>
        <p:txBody>
          <a:bodyPr wrap="square" lIns="0" tIns="0" rIns="0" bIns="0" rtlCol="0"/>
          <a:lstStyle/>
          <a:p>
            <a:pPr algn="l" indent="0" marL="0">
              <a:buNone/>
            </a:pPr>
            <a:r>
              <a:rPr lang="en-US" sz="2000" dirty="0">
                <a:solidFill>
                  <a:schemeClr val="bg1"/>
                </a:solidFill>
              </a:rPr>
              <a:t>Run the Eligibility Scan, review, update a decision</a:t>
            </a:r>
            <a:endParaRPr lang="en-US" sz="2000" dirty="0"/>
          </a:p>
        </p:txBody>
      </p:sp>
      <p:sp>
        <p:nvSpPr>
          <p:cNvPr id="4" name="ring-0"/>
          <p:cNvSpPr/>
          <p:nvPr/>
        </p:nvSpPr>
        <p:spPr>
          <a:xfrm>
            <a:off x="8778240" y="1965960"/>
            <a:ext cx="2926080" cy="2926080"/>
          </a:xfrm>
          <a:prstGeom prst="ellipse">
            <a:avLst/>
          </a:prstGeom>
          <a:ln w="19050">
            <a:solidFill>
              <a:schemeClr val="bg1">
                <a:alpha val="60000"/>
              </a:schemeClr>
            </a:solidFill>
            <a:prstDash val="solid"/>
          </a:ln>
        </p:spPr>
      </p:sp>
      <p:sp>
        <p:nvSpPr>
          <p:cNvPr id="5" name="ring-1"/>
          <p:cNvSpPr/>
          <p:nvPr/>
        </p:nvSpPr>
        <p:spPr>
          <a:xfrm>
            <a:off x="9144000" y="2331720"/>
            <a:ext cx="2194560" cy="2194560"/>
          </a:xfrm>
          <a:prstGeom prst="ellipse">
            <a:avLst/>
          </a:prstGeom>
          <a:ln w="19050">
            <a:solidFill>
              <a:schemeClr val="bg1">
                <a:alpha val="50000"/>
              </a:schemeClr>
            </a:solidFill>
            <a:prstDash val="solid"/>
          </a:ln>
        </p:spPr>
      </p:sp>
      <p:sp>
        <p:nvSpPr>
          <p:cNvPr id="6" name="ring-2"/>
          <p:cNvSpPr/>
          <p:nvPr/>
        </p:nvSpPr>
        <p:spPr>
          <a:xfrm>
            <a:off x="9509760" y="2697480"/>
            <a:ext cx="1463040" cy="1463040"/>
          </a:xfrm>
          <a:prstGeom prst="ellipse">
            <a:avLst/>
          </a:prstGeom>
          <a:ln w="19050">
            <a:solidFill>
              <a:schemeClr val="bg1">
                <a:alpha val="40000"/>
              </a:schemeClr>
            </a:solidFill>
            <a:prstDash val="solid"/>
          </a:ln>
        </p:spPr>
      </p:sp>
      <p:sp>
        <p:nvSpPr>
          <p:cNvPr id="7" name="ring-core"/>
          <p:cNvSpPr/>
          <p:nvPr/>
        </p:nvSpPr>
        <p:spPr>
          <a:xfrm>
            <a:off x="9875520" y="3063240"/>
            <a:ext cx="731520" cy="731520"/>
          </a:xfrm>
          <a:prstGeom prst="ellipse">
            <a:avLst/>
          </a:prstGeom>
          <a:solidFill>
            <a:schemeClr val="bg1">
              <a:alpha val="80000"/>
            </a:schemeClr>
          </a:solidFill>
          <a:ln w="12700">
            <a:solidFill>
              <a:schemeClr val="bg1">
                <a:alpha val="80000"/>
              </a:schemeClr>
            </a:solidFill>
            <a:prstDash val="solid"/>
          </a:ln>
        </p:spPr>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rPr>
              <a:t>Run the Eligibility Scan</a:t>
            </a:r>
            <a:endParaRPr lang="en-US" sz="3200" dirty="0"/>
          </a:p>
        </p:txBody>
      </p:sp>
      <p:sp>
        <p:nvSpPr>
          <p:cNvPr id="3" name="Shape 1"/>
          <p:cNvSpPr/>
          <p:nvPr/>
        </p:nvSpPr>
        <p:spPr>
          <a:xfrm>
            <a:off x="10195560" y="548640"/>
            <a:ext cx="1417320" cy="310896"/>
          </a:xfrm>
          <a:prstGeom prst="roundRect">
            <a:avLst>
              <a:gd name="adj" fmla="val 50000"/>
            </a:avLst>
          </a:prstGeom>
          <a:solidFill>
            <a:srgbClr val="E6F2EB"/>
          </a:solidFill>
          <a:ln w="12700">
            <a:solidFill>
              <a:srgbClr val="E6F2EB"/>
            </a:solidFill>
            <a:prstDash val="solid"/>
          </a:ln>
        </p:spPr>
      </p:sp>
      <p:sp>
        <p:nvSpPr>
          <p:cNvPr id="4" name="Text 2"/>
          <p:cNvSpPr txBox="1"/>
          <p:nvPr/>
        </p:nvSpPr>
        <p:spPr>
          <a:xfrm>
            <a:off x="10195560" y="548640"/>
            <a:ext cx="1417320" cy="310896"/>
          </a:xfrm>
          <a:prstGeom prst="rect">
            <a:avLst/>
          </a:prstGeom>
          <a:noFill/>
          <a:ln/>
        </p:spPr>
        <p:txBody>
          <a:bodyPr wrap="square" lIns="0" tIns="0" rIns="0" bIns="0" rtlCol="0" anchor="ctr"/>
          <a:lstStyle/>
          <a:p>
            <a:pPr algn="ctr" indent="0" marL="0">
              <a:buNone/>
            </a:pPr>
            <a:r>
              <a:rPr lang="en-US" sz="1100" b="1" spc="100" kern="0" dirty="0">
                <a:solidFill>
                  <a:schemeClr val="accent1"/>
                </a:solidFill>
              </a:rPr>
              <a:t>KEY TASK</a:t>
            </a:r>
            <a:endParaRPr lang="en-US" sz="1100" dirty="0"/>
          </a:p>
        </p:txBody>
      </p:sp>
      <p:sp>
        <p:nvSpPr>
          <p:cNvPr id="5" name="step-dot-1"/>
          <p:cNvSpPr/>
          <p:nvPr/>
        </p:nvSpPr>
        <p:spPr>
          <a:xfrm>
            <a:off x="548640" y="1463040"/>
            <a:ext cx="365760" cy="365760"/>
          </a:xfrm>
          <a:prstGeom prst="ellipse">
            <a:avLst/>
          </a:prstGeom>
          <a:solidFill>
            <a:schemeClr val="accent1"/>
          </a:solidFill>
          <a:ln w="12700">
            <a:solidFill>
              <a:schemeClr val="accent1"/>
            </a:solidFill>
            <a:prstDash val="solid"/>
          </a:ln>
        </p:spPr>
      </p:sp>
      <p:sp>
        <p:nvSpPr>
          <p:cNvPr id="6" name="Text 4"/>
          <p:cNvSpPr txBox="1"/>
          <p:nvPr/>
        </p:nvSpPr>
        <p:spPr>
          <a:xfrm>
            <a:off x="548640" y="1463040"/>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7" name="Text 5"/>
          <p:cNvSpPr txBox="1"/>
          <p:nvPr/>
        </p:nvSpPr>
        <p:spPr>
          <a:xfrm>
            <a:off x="1051560" y="1408176"/>
            <a:ext cx="4434840" cy="868680"/>
          </a:xfrm>
          <a:prstGeom prst="rect">
            <a:avLst/>
          </a:prstGeom>
          <a:noFill/>
          <a:ln/>
        </p:spPr>
        <p:txBody>
          <a:bodyPr wrap="square" lIns="0" tIns="0" rIns="0" bIns="0" rtlCol="0" anchor="t"/>
          <a:lstStyle/>
          <a:p>
            <a:pPr indent="0" marL="0">
              <a:buNone/>
            </a:pPr>
            <a:r>
              <a:rPr lang="en-US" sz="1500" dirty="0">
                <a:solidFill>
                  <a:schemeClr val="tx1"/>
                </a:solidFill>
              </a:rPr>
              <a:t>Open Pipelines — stay on the Screen tab</a:t>
            </a:r>
            <a:endParaRPr lang="en-US" sz="1500" dirty="0"/>
          </a:p>
        </p:txBody>
      </p:sp>
      <p:sp>
        <p:nvSpPr>
          <p:cNvPr id="8" name="step-dot-2"/>
          <p:cNvSpPr/>
          <p:nvPr/>
        </p:nvSpPr>
        <p:spPr>
          <a:xfrm>
            <a:off x="548640" y="2331720"/>
            <a:ext cx="365760" cy="365760"/>
          </a:xfrm>
          <a:prstGeom prst="ellipse">
            <a:avLst/>
          </a:prstGeom>
          <a:solidFill>
            <a:schemeClr val="accent1"/>
          </a:solidFill>
          <a:ln w="12700">
            <a:solidFill>
              <a:schemeClr val="accent1"/>
            </a:solidFill>
            <a:prstDash val="solid"/>
          </a:ln>
        </p:spPr>
      </p:sp>
      <p:sp>
        <p:nvSpPr>
          <p:cNvPr id="9" name="Text 7"/>
          <p:cNvSpPr txBox="1"/>
          <p:nvPr/>
        </p:nvSpPr>
        <p:spPr>
          <a:xfrm>
            <a:off x="548640" y="2331720"/>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0" name="Text 8"/>
          <p:cNvSpPr txBox="1"/>
          <p:nvPr/>
        </p:nvSpPr>
        <p:spPr>
          <a:xfrm>
            <a:off x="1051560" y="2276856"/>
            <a:ext cx="4434840" cy="868680"/>
          </a:xfrm>
          <a:prstGeom prst="rect">
            <a:avLst/>
          </a:prstGeom>
          <a:noFill/>
          <a:ln/>
        </p:spPr>
        <p:txBody>
          <a:bodyPr wrap="square" lIns="0" tIns="0" rIns="0" bIns="0" rtlCol="0" anchor="t"/>
          <a:lstStyle/>
          <a:p>
            <a:pPr indent="0" marL="0">
              <a:buNone/>
            </a:pPr>
            <a:r>
              <a:rPr lang="en-US" sz="1500" dirty="0">
                <a:solidFill>
                  <a:schemeClr val="tx1"/>
                </a:solidFill>
              </a:rPr>
              <a:t>Click 🎯 Eligibility Scan (top right, beside Submit New Funding)</a:t>
            </a:r>
            <a:endParaRPr lang="en-US" sz="1500" dirty="0"/>
          </a:p>
        </p:txBody>
      </p:sp>
      <p:sp>
        <p:nvSpPr>
          <p:cNvPr id="11" name="step-dot-3"/>
          <p:cNvSpPr/>
          <p:nvPr/>
        </p:nvSpPr>
        <p:spPr>
          <a:xfrm>
            <a:off x="548640" y="3200400"/>
            <a:ext cx="365760" cy="365760"/>
          </a:xfrm>
          <a:prstGeom prst="ellipse">
            <a:avLst/>
          </a:prstGeom>
          <a:solidFill>
            <a:schemeClr val="accent1"/>
          </a:solidFill>
          <a:ln w="12700">
            <a:solidFill>
              <a:schemeClr val="accent1"/>
            </a:solidFill>
            <a:prstDash val="solid"/>
          </a:ln>
        </p:spPr>
      </p:sp>
      <p:sp>
        <p:nvSpPr>
          <p:cNvPr id="12" name="Text 10"/>
          <p:cNvSpPr txBox="1"/>
          <p:nvPr/>
        </p:nvSpPr>
        <p:spPr>
          <a:xfrm>
            <a:off x="548640" y="3200400"/>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3" name="Text 11"/>
          <p:cNvSpPr txBox="1"/>
          <p:nvPr/>
        </p:nvSpPr>
        <p:spPr>
          <a:xfrm>
            <a:off x="1051560" y="3145536"/>
            <a:ext cx="4434840" cy="868680"/>
          </a:xfrm>
          <a:prstGeom prst="rect">
            <a:avLst/>
          </a:prstGeom>
          <a:noFill/>
          <a:ln/>
        </p:spPr>
        <p:txBody>
          <a:bodyPr wrap="square" lIns="0" tIns="0" rIns="0" bIns="0" rtlCol="0" anchor="t"/>
          <a:lstStyle/>
          <a:p>
            <a:pPr indent="0" marL="0">
              <a:buNone/>
            </a:pPr>
            <a:r>
              <a:rPr lang="en-US" sz="1500" dirty="0">
                <a:solidFill>
                  <a:schemeClr val="tx1"/>
                </a:solidFill>
              </a:rPr>
              <a:t>Wait while it shows ⏳ Scanning… — seconds, no web crawl</a:t>
            </a:r>
            <a:endParaRPr lang="en-US" sz="1500" dirty="0"/>
          </a:p>
        </p:txBody>
      </p:sp>
      <p:sp>
        <p:nvSpPr>
          <p:cNvPr id="14" name="step-dot-4"/>
          <p:cNvSpPr/>
          <p:nvPr/>
        </p:nvSpPr>
        <p:spPr>
          <a:xfrm>
            <a:off x="548640" y="4069080"/>
            <a:ext cx="365760" cy="365760"/>
          </a:xfrm>
          <a:prstGeom prst="ellipse">
            <a:avLst/>
          </a:prstGeom>
          <a:solidFill>
            <a:schemeClr val="accent1"/>
          </a:solidFill>
          <a:ln w="12700">
            <a:solidFill>
              <a:schemeClr val="accent1"/>
            </a:solidFill>
            <a:prstDash val="solid"/>
          </a:ln>
        </p:spPr>
      </p:sp>
      <p:sp>
        <p:nvSpPr>
          <p:cNvPr id="15" name="Text 13"/>
          <p:cNvSpPr txBox="1"/>
          <p:nvPr/>
        </p:nvSpPr>
        <p:spPr>
          <a:xfrm>
            <a:off x="548640" y="4069080"/>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16" name="Text 14"/>
          <p:cNvSpPr txBox="1"/>
          <p:nvPr/>
        </p:nvSpPr>
        <p:spPr>
          <a:xfrm>
            <a:off x="1051560" y="4014216"/>
            <a:ext cx="4434840" cy="868680"/>
          </a:xfrm>
          <a:prstGeom prst="rect">
            <a:avLst/>
          </a:prstGeom>
          <a:noFill/>
          <a:ln/>
        </p:spPr>
        <p:txBody>
          <a:bodyPr wrap="square" lIns="0" tIns="0" rIns="0" bIns="0" rtlCol="0" anchor="t"/>
          <a:lstStyle/>
          <a:p>
            <a:pPr indent="0" marL="0">
              <a:buNone/>
            </a:pPr>
            <a:r>
              <a:rPr lang="en-US" sz="1500" dirty="0">
                <a:solidFill>
                  <a:schemeClr val="tx1"/>
                </a:solidFill>
              </a:rPr>
              <a:t>Read the banner: “… → 8 eligible for your org (5 newly added …)”</a:t>
            </a:r>
            <a:endParaRPr lang="en-US" sz="1500" dirty="0"/>
          </a:p>
        </p:txBody>
      </p:sp>
      <p:sp>
        <p:nvSpPr>
          <p:cNvPr id="17" name="step-dot-5"/>
          <p:cNvSpPr/>
          <p:nvPr/>
        </p:nvSpPr>
        <p:spPr>
          <a:xfrm>
            <a:off x="548640" y="4937760"/>
            <a:ext cx="365760" cy="365760"/>
          </a:xfrm>
          <a:prstGeom prst="ellipse">
            <a:avLst/>
          </a:prstGeom>
          <a:solidFill>
            <a:schemeClr val="accent1"/>
          </a:solidFill>
          <a:ln w="12700">
            <a:solidFill>
              <a:schemeClr val="accent1"/>
            </a:solidFill>
            <a:prstDash val="solid"/>
          </a:ln>
        </p:spPr>
      </p:sp>
      <p:sp>
        <p:nvSpPr>
          <p:cNvPr id="18" name="Text 16"/>
          <p:cNvSpPr txBox="1"/>
          <p:nvPr/>
        </p:nvSpPr>
        <p:spPr>
          <a:xfrm>
            <a:off x="548640" y="4937760"/>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rPr>
              <a:t>5</a:t>
            </a:r>
            <a:endParaRPr lang="en-US" sz="1400" dirty="0"/>
          </a:p>
        </p:txBody>
      </p:sp>
      <p:sp>
        <p:nvSpPr>
          <p:cNvPr id="19" name="Text 17"/>
          <p:cNvSpPr txBox="1"/>
          <p:nvPr/>
        </p:nvSpPr>
        <p:spPr>
          <a:xfrm>
            <a:off x="1051560" y="4882896"/>
            <a:ext cx="4434840" cy="868680"/>
          </a:xfrm>
          <a:prstGeom prst="rect">
            <a:avLst/>
          </a:prstGeom>
          <a:noFill/>
          <a:ln/>
        </p:spPr>
        <p:txBody>
          <a:bodyPr wrap="square" lIns="0" tIns="0" rIns="0" bIns="0" rtlCol="0" anchor="t"/>
          <a:lstStyle/>
          <a:p>
            <a:pPr indent="0" marL="0">
              <a:buNone/>
            </a:pPr>
            <a:r>
              <a:rPr lang="en-US" sz="1500" dirty="0">
                <a:solidFill>
                  <a:schemeClr val="tx1"/>
                </a:solidFill>
              </a:rPr>
              <a:t>Scroll down: the new opportunities are in this review week</a:t>
            </a:r>
            <a:endParaRPr lang="en-US" sz="1500" dirty="0"/>
          </a:p>
        </p:txBody>
      </p:sp>
      <p:sp>
        <p:nvSpPr>
          <p:cNvPr id="20" name="frame-10-screen-top"/>
          <p:cNvSpPr/>
          <p:nvPr/>
        </p:nvSpPr>
        <p:spPr>
          <a:xfrm>
            <a:off x="5833872" y="1399032"/>
            <a:ext cx="5797296" cy="3637026"/>
          </a:xfrm>
          <a:prstGeom prst="rect">
            <a:avLst/>
          </a:prstGeom>
          <a:solidFill>
            <a:schemeClr val="bg1"/>
          </a:solidFill>
          <a:ln w="12700">
            <a:solidFill>
              <a:srgbClr val="D5DBE2"/>
            </a:solidFill>
            <a:prstDash val="solid"/>
          </a:ln>
          <a:effectLst>
            <a:outerShdw sx="100000" sy="100000" kx="0" ky="0" algn="bl" rotWithShape="0" blurRad="127000" dist="38100" dir="5400000">
              <a:srgbClr val="14254F">
                <a:alpha val="18000"/>
              </a:srgbClr>
            </a:outerShdw>
          </a:effectLst>
        </p:spPr>
      </p:sp>
      <p:pic>
        <p:nvPicPr>
          <p:cNvPr id="21" name="shot-10-screen-top" descr="Pipelines → Screen">    </p:cNvPr>
          <p:cNvPicPr>
            <a:picLocks noChangeAspect="1"/>
          </p:cNvPicPr>
          <p:nvPr/>
        </p:nvPicPr>
        <p:blipFill>
          <a:blip r:embed="rId1"/>
          <a:stretch>
            <a:fillRect/>
          </a:stretch>
        </p:blipFill>
        <p:spPr>
          <a:xfrm>
            <a:off x="5852160" y="1417320"/>
            <a:ext cx="5760720" cy="3600450"/>
          </a:xfrm>
          <a:prstGeom prst="rect">
            <a:avLst/>
          </a:prstGeom>
        </p:spPr>
      </p:pic>
      <p:sp>
        <p:nvSpPr>
          <p:cNvPr id="22" name="Text 19"/>
          <p:cNvSpPr txBox="1"/>
          <p:nvPr/>
        </p:nvSpPr>
        <p:spPr>
          <a:xfrm>
            <a:off x="5852160" y="5090922"/>
            <a:ext cx="5760720" cy="274320"/>
          </a:xfrm>
          <a:prstGeom prst="rect">
            <a:avLst/>
          </a:prstGeom>
          <a:noFill/>
          <a:ln/>
        </p:spPr>
        <p:txBody>
          <a:bodyPr wrap="square" lIns="0" tIns="0" rIns="0" bIns="0" rtlCol="0" anchor="ctr"/>
          <a:lstStyle/>
          <a:p>
            <a:pPr algn="ctr" indent="0" marL="0">
              <a:buNone/>
            </a:pPr>
            <a:r>
              <a:rPr lang="en-US" sz="1100" i="1" dirty="0">
                <a:solidFill>
                  <a:srgbClr val="5B6573"/>
                </a:solidFill>
              </a:rPr>
              <a:t>Pipelines → Screen</a:t>
            </a:r>
            <a:endParaRPr lang="en-US" sz="1100" dirty="0"/>
          </a:p>
        </p:txBody>
      </p:sp>
      <p:sp>
        <p:nvSpPr>
          <p:cNvPr id="23" name="callout-green"/>
          <p:cNvSpPr/>
          <p:nvPr/>
        </p:nvSpPr>
        <p:spPr>
          <a:xfrm>
            <a:off x="548640" y="5715000"/>
            <a:ext cx="4937760" cy="640080"/>
          </a:xfrm>
          <a:prstGeom prst="roundRect">
            <a:avLst>
              <a:gd name="adj" fmla="val 17143"/>
            </a:avLst>
          </a:prstGeom>
          <a:solidFill>
            <a:srgbClr val="E6F2EB"/>
          </a:solidFill>
          <a:ln w="12700">
            <a:solidFill>
              <a:srgbClr val="CFE6DA"/>
            </a:solidFill>
            <a:prstDash val="solid"/>
          </a:ln>
        </p:spPr>
      </p:sp>
      <p:sp>
        <p:nvSpPr>
          <p:cNvPr id="24" name="Text 21"/>
          <p:cNvSpPr txBox="1"/>
          <p:nvPr/>
        </p:nvSpPr>
        <p:spPr>
          <a:xfrm>
            <a:off x="731520" y="5824728"/>
            <a:ext cx="4572000" cy="420624"/>
          </a:xfrm>
          <a:prstGeom prst="rect">
            <a:avLst/>
          </a:prstGeom>
          <a:noFill/>
          <a:ln/>
        </p:spPr>
        <p:txBody>
          <a:bodyPr wrap="square" lIns="0" tIns="0" rIns="0" bIns="0" rtlCol="0" anchor="t"/>
          <a:lstStyle/>
          <a:p>
            <a:pPr indent="0" marL="0">
              <a:spcAft>
                <a:spcPts val="400"/>
              </a:spcAft>
              <a:buNone/>
            </a:pPr>
            <a:r>
              <a:rPr lang="en-US" sz="1400" b="1" dirty="0">
                <a:solidFill>
                  <a:schemeClr val="tx2"/>
                </a:solidFill>
              </a:rPr>
              <a:t>Run it as often as you like</a:t>
            </a:r>
            <a:endParaRPr lang="en-US" sz="1400" dirty="0"/>
          </a:p>
          <a:p>
            <a:pPr indent="0" marL="0">
              <a:spcAft>
                <a:spcPts val="400"/>
              </a:spcAft>
              <a:buNone/>
            </a:pPr>
            <a:r>
              <a:rPr lang="en-US" sz="1400" dirty="0">
                <a:solidFill>
                  <a:schemeClr val="tx1"/>
                </a:solidFill>
              </a:rPr>
              <a:t>Calls already in your pipeline are never added twice.</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rPr>
              <a:t>Read the Screen tab</a:t>
            </a:r>
            <a:endParaRPr lang="en-US" sz="3200" dirty="0"/>
          </a:p>
        </p:txBody>
      </p:sp>
      <p:sp>
        <p:nvSpPr>
          <p:cNvPr id="3" name="frame-12-screen-table"/>
          <p:cNvSpPr/>
          <p:nvPr/>
        </p:nvSpPr>
        <p:spPr>
          <a:xfrm>
            <a:off x="530352" y="1353312"/>
            <a:ext cx="6803136" cy="4265676"/>
          </a:xfrm>
          <a:prstGeom prst="rect">
            <a:avLst/>
          </a:prstGeom>
          <a:solidFill>
            <a:schemeClr val="bg1"/>
          </a:solidFill>
          <a:ln w="12700">
            <a:solidFill>
              <a:srgbClr val="D5DBE2"/>
            </a:solidFill>
            <a:prstDash val="solid"/>
          </a:ln>
          <a:effectLst>
            <a:outerShdw sx="100000" sy="100000" kx="0" ky="0" algn="bl" rotWithShape="0" blurRad="127000" dist="38100" dir="5400000">
              <a:srgbClr val="14254F">
                <a:alpha val="18000"/>
              </a:srgbClr>
            </a:outerShdw>
          </a:effectLst>
        </p:spPr>
      </p:sp>
      <p:pic>
        <p:nvPicPr>
          <p:cNvPr id="4" name="shot-12-screen-table" descr="12-screen-table">    </p:cNvPr>
          <p:cNvPicPr>
            <a:picLocks noChangeAspect="1"/>
          </p:cNvPicPr>
          <p:nvPr/>
        </p:nvPicPr>
        <p:blipFill>
          <a:blip r:embed="rId1"/>
          <a:stretch>
            <a:fillRect/>
          </a:stretch>
        </p:blipFill>
        <p:spPr>
          <a:xfrm>
            <a:off x="548640" y="1371600"/>
            <a:ext cx="6766560" cy="4229100"/>
          </a:xfrm>
          <a:prstGeom prst="rect">
            <a:avLst/>
          </a:prstGeom>
        </p:spPr>
      </p:pic>
      <p:sp>
        <p:nvSpPr>
          <p:cNvPr id="5" name="step-dot-1"/>
          <p:cNvSpPr/>
          <p:nvPr/>
        </p:nvSpPr>
        <p:spPr>
          <a:xfrm>
            <a:off x="7680960" y="1463040"/>
            <a:ext cx="365760" cy="365760"/>
          </a:xfrm>
          <a:prstGeom prst="ellipse">
            <a:avLst/>
          </a:prstGeom>
          <a:solidFill>
            <a:schemeClr val="accent1"/>
          </a:solidFill>
          <a:ln w="12700">
            <a:solidFill>
              <a:schemeClr val="accent1"/>
            </a:solidFill>
            <a:prstDash val="solid"/>
          </a:ln>
        </p:spPr>
      </p:sp>
      <p:sp>
        <p:nvSpPr>
          <p:cNvPr id="6" name="Text 3"/>
          <p:cNvSpPr txBox="1"/>
          <p:nvPr/>
        </p:nvSpPr>
        <p:spPr>
          <a:xfrm>
            <a:off x="7680960" y="1463040"/>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7" name="Text 4"/>
          <p:cNvSpPr txBox="1"/>
          <p:nvPr/>
        </p:nvSpPr>
        <p:spPr>
          <a:xfrm>
            <a:off x="8183880" y="1408176"/>
            <a:ext cx="3429000" cy="960120"/>
          </a:xfrm>
          <a:prstGeom prst="rect">
            <a:avLst/>
          </a:prstGeom>
          <a:noFill/>
          <a:ln/>
        </p:spPr>
        <p:txBody>
          <a:bodyPr wrap="square" lIns="0" tIns="0" rIns="0" bIns="0" rtlCol="0" anchor="t"/>
          <a:lstStyle/>
          <a:p>
            <a:pPr indent="0" marL="0">
              <a:buNone/>
            </a:pPr>
            <a:r>
              <a:rPr lang="en-US" sz="1400" dirty="0">
                <a:solidFill>
                  <a:schemeClr val="tx1"/>
                </a:solidFill>
              </a:rPr>
              <a:t>Pick the Review week (defaults to this week)</a:t>
            </a:r>
            <a:endParaRPr lang="en-US" sz="1400" dirty="0"/>
          </a:p>
        </p:txBody>
      </p:sp>
      <p:sp>
        <p:nvSpPr>
          <p:cNvPr id="8" name="step-dot-2"/>
          <p:cNvSpPr/>
          <p:nvPr/>
        </p:nvSpPr>
        <p:spPr>
          <a:xfrm>
            <a:off x="7680960" y="2423160"/>
            <a:ext cx="365760" cy="365760"/>
          </a:xfrm>
          <a:prstGeom prst="ellipse">
            <a:avLst/>
          </a:prstGeom>
          <a:solidFill>
            <a:schemeClr val="accent1"/>
          </a:solidFill>
          <a:ln w="12700">
            <a:solidFill>
              <a:schemeClr val="accent1"/>
            </a:solidFill>
            <a:prstDash val="solid"/>
          </a:ln>
        </p:spPr>
      </p:sp>
      <p:sp>
        <p:nvSpPr>
          <p:cNvPr id="9" name="Text 6"/>
          <p:cNvSpPr txBox="1"/>
          <p:nvPr/>
        </p:nvSpPr>
        <p:spPr>
          <a:xfrm>
            <a:off x="7680960" y="2423160"/>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0" name="Text 7"/>
          <p:cNvSpPr txBox="1"/>
          <p:nvPr/>
        </p:nvSpPr>
        <p:spPr>
          <a:xfrm>
            <a:off x="8183880" y="2368296"/>
            <a:ext cx="3429000" cy="960120"/>
          </a:xfrm>
          <a:prstGeom prst="rect">
            <a:avLst/>
          </a:prstGeom>
          <a:noFill/>
          <a:ln/>
        </p:spPr>
        <p:txBody>
          <a:bodyPr wrap="square" lIns="0" tIns="0" rIns="0" bIns="0" rtlCol="0" anchor="t"/>
          <a:lstStyle/>
          <a:p>
            <a:pPr indent="0" marL="0">
              <a:buNone/>
            </a:pPr>
            <a:r>
              <a:rPr lang="en-US" sz="1400" dirty="0">
                <a:solidFill>
                  <a:schemeClr val="tx1"/>
                </a:solidFill>
              </a:rPr>
              <a:t>Optional: Filters — decision, feasibility, geography, program area</a:t>
            </a:r>
            <a:endParaRPr lang="en-US" sz="1400" dirty="0"/>
          </a:p>
        </p:txBody>
      </p:sp>
      <p:sp>
        <p:nvSpPr>
          <p:cNvPr id="11" name="step-dot-3"/>
          <p:cNvSpPr/>
          <p:nvPr/>
        </p:nvSpPr>
        <p:spPr>
          <a:xfrm>
            <a:off x="7680960" y="3383280"/>
            <a:ext cx="365760" cy="365760"/>
          </a:xfrm>
          <a:prstGeom prst="ellipse">
            <a:avLst/>
          </a:prstGeom>
          <a:solidFill>
            <a:schemeClr val="accent1"/>
          </a:solidFill>
          <a:ln w="12700">
            <a:solidFill>
              <a:schemeClr val="accent1"/>
            </a:solidFill>
            <a:prstDash val="solid"/>
          </a:ln>
        </p:spPr>
      </p:sp>
      <p:sp>
        <p:nvSpPr>
          <p:cNvPr id="12" name="Text 9"/>
          <p:cNvSpPr txBox="1"/>
          <p:nvPr/>
        </p:nvSpPr>
        <p:spPr>
          <a:xfrm>
            <a:off x="7680960" y="3383280"/>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3" name="Text 10"/>
          <p:cNvSpPr txBox="1"/>
          <p:nvPr/>
        </p:nvSpPr>
        <p:spPr>
          <a:xfrm>
            <a:off x="8183880" y="3328416"/>
            <a:ext cx="3429000" cy="960120"/>
          </a:xfrm>
          <a:prstGeom prst="rect">
            <a:avLst/>
          </a:prstGeom>
          <a:noFill/>
          <a:ln/>
        </p:spPr>
        <p:txBody>
          <a:bodyPr wrap="square" lIns="0" tIns="0" rIns="0" bIns="0" rtlCol="0" anchor="t"/>
          <a:lstStyle/>
          <a:p>
            <a:pPr indent="0" marL="0">
              <a:buNone/>
            </a:pPr>
            <a:r>
              <a:rPr lang="en-US" sz="1400" dirty="0">
                <a:solidFill>
                  <a:schemeClr val="tx1"/>
                </a:solidFill>
              </a:rPr>
              <a:t>Counters: Total Screened, Proceed, Parked, Declined</a:t>
            </a:r>
            <a:endParaRPr lang="en-US" sz="1400" dirty="0"/>
          </a:p>
        </p:txBody>
      </p:sp>
      <p:sp>
        <p:nvSpPr>
          <p:cNvPr id="14" name="step-dot-4"/>
          <p:cNvSpPr/>
          <p:nvPr/>
        </p:nvSpPr>
        <p:spPr>
          <a:xfrm>
            <a:off x="7680960" y="4343400"/>
            <a:ext cx="365760" cy="365760"/>
          </a:xfrm>
          <a:prstGeom prst="ellipse">
            <a:avLst/>
          </a:prstGeom>
          <a:solidFill>
            <a:schemeClr val="accent1"/>
          </a:solidFill>
          <a:ln w="12700">
            <a:solidFill>
              <a:schemeClr val="accent1"/>
            </a:solidFill>
            <a:prstDash val="solid"/>
          </a:ln>
        </p:spPr>
      </p:sp>
      <p:sp>
        <p:nvSpPr>
          <p:cNvPr id="15" name="Text 12"/>
          <p:cNvSpPr txBox="1"/>
          <p:nvPr/>
        </p:nvSpPr>
        <p:spPr>
          <a:xfrm>
            <a:off x="7680960" y="4343400"/>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16" name="Text 13"/>
          <p:cNvSpPr txBox="1"/>
          <p:nvPr/>
        </p:nvSpPr>
        <p:spPr>
          <a:xfrm>
            <a:off x="8183880" y="4288536"/>
            <a:ext cx="3429000" cy="960120"/>
          </a:xfrm>
          <a:prstGeom prst="rect">
            <a:avLst/>
          </a:prstGeom>
          <a:noFill/>
          <a:ln/>
        </p:spPr>
        <p:txBody>
          <a:bodyPr wrap="square" lIns="0" tIns="0" rIns="0" bIns="0" rtlCol="0" anchor="t"/>
          <a:lstStyle/>
          <a:p>
            <a:pPr indent="0" marL="0">
              <a:buNone/>
            </a:pPr>
            <a:r>
              <a:rPr lang="en-US" sz="1400" dirty="0">
                <a:solidFill>
                  <a:schemeClr val="tx1"/>
                </a:solidFill>
              </a:rPr>
              <a:t>Table: score, Auto-rec (system) vs Decision (team), key risks</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rPr>
              <a:t>How an opportunity is scored</a:t>
            </a:r>
            <a:endParaRPr lang="en-US" sz="3200" dirty="0"/>
          </a:p>
        </p:txBody>
      </p:sp>
      <p:sp>
        <p:nvSpPr>
          <p:cNvPr id="3" name="Text 1"/>
          <p:cNvSpPr txBox="1"/>
          <p:nvPr/>
        </p:nvSpPr>
        <p:spPr>
          <a:xfrm>
            <a:off x="548640" y="1325880"/>
            <a:ext cx="11064240" cy="457200"/>
          </a:xfrm>
          <a:prstGeom prst="rect">
            <a:avLst/>
          </a:prstGeom>
          <a:noFill/>
          <a:ln/>
        </p:spPr>
        <p:txBody>
          <a:bodyPr wrap="square" lIns="0" tIns="0" rIns="0" bIns="0" rtlCol="0" anchor="ctr"/>
          <a:lstStyle/>
          <a:p>
            <a:pPr indent="0" marL="0">
              <a:buNone/>
            </a:pPr>
            <a:r>
              <a:rPr lang="en-US" sz="1800" dirty="0">
                <a:solidFill>
                  <a:schemeClr val="tx1"/>
                </a:solidFill>
              </a:rPr>
              <a:t>Nine criteria. Five MUSTs carry 65% of the score; four PREFERs carry 35%.</a:t>
            </a:r>
            <a:endParaRPr lang="en-US" sz="1800" dirty="0"/>
          </a:p>
        </p:txBody>
      </p:sp>
      <p:sp>
        <p:nvSpPr>
          <p:cNvPr id="4" name="verdict-Proceed"/>
          <p:cNvSpPr/>
          <p:nvPr/>
        </p:nvSpPr>
        <p:spPr>
          <a:xfrm>
            <a:off x="548640" y="2011680"/>
            <a:ext cx="3474720" cy="2103120"/>
          </a:xfrm>
          <a:prstGeom prst="roundRect">
            <a:avLst>
              <a:gd name="adj" fmla="val 5217"/>
            </a:avLst>
          </a:prstGeom>
          <a:solidFill>
            <a:srgbClr val="E7F4EC"/>
          </a:solidFill>
          <a:ln w="12700">
            <a:solidFill>
              <a:srgbClr val="E7F4EC"/>
            </a:solidFill>
            <a:prstDash val="solid"/>
          </a:ln>
        </p:spPr>
      </p:sp>
      <p:sp>
        <p:nvSpPr>
          <p:cNvPr id="5" name="Text 3"/>
          <p:cNvSpPr txBox="1"/>
          <p:nvPr/>
        </p:nvSpPr>
        <p:spPr>
          <a:xfrm>
            <a:off x="822960" y="2148840"/>
            <a:ext cx="2926080" cy="914400"/>
          </a:xfrm>
          <a:prstGeom prst="rect">
            <a:avLst/>
          </a:prstGeom>
          <a:noFill/>
          <a:ln/>
        </p:spPr>
        <p:txBody>
          <a:bodyPr wrap="square" lIns="0" tIns="0" rIns="0" bIns="0" rtlCol="0" anchor="ctr"/>
          <a:lstStyle/>
          <a:p>
            <a:pPr indent="0" marL="0">
              <a:buNone/>
            </a:pPr>
            <a:r>
              <a:rPr lang="en-US" sz="5400" b="1" dirty="0">
                <a:solidFill>
                  <a:schemeClr val="accent1"/>
                </a:solidFill>
              </a:rPr>
              <a:t>90+</a:t>
            </a:r>
            <a:endParaRPr lang="en-US" sz="5400" dirty="0"/>
          </a:p>
        </p:txBody>
      </p:sp>
      <p:sp>
        <p:nvSpPr>
          <p:cNvPr id="6" name="Text 4"/>
          <p:cNvSpPr txBox="1"/>
          <p:nvPr/>
        </p:nvSpPr>
        <p:spPr>
          <a:xfrm>
            <a:off x="822960" y="3108960"/>
            <a:ext cx="2926080" cy="411480"/>
          </a:xfrm>
          <a:prstGeom prst="rect">
            <a:avLst/>
          </a:prstGeom>
          <a:noFill/>
          <a:ln/>
        </p:spPr>
        <p:txBody>
          <a:bodyPr wrap="square" lIns="0" tIns="0" rIns="0" bIns="0" rtlCol="0" anchor="ctr"/>
          <a:lstStyle/>
          <a:p>
            <a:pPr indent="0" marL="0">
              <a:buNone/>
            </a:pPr>
            <a:r>
              <a:rPr lang="en-US" sz="2200" b="1" dirty="0">
                <a:solidFill>
                  <a:schemeClr val="tx2"/>
                </a:solidFill>
              </a:rPr>
              <a:t>Proceed</a:t>
            </a:r>
            <a:endParaRPr lang="en-US" sz="2200" dirty="0"/>
          </a:p>
        </p:txBody>
      </p:sp>
      <p:sp>
        <p:nvSpPr>
          <p:cNvPr id="7" name="Text 5"/>
          <p:cNvSpPr txBox="1"/>
          <p:nvPr/>
        </p:nvSpPr>
        <p:spPr>
          <a:xfrm>
            <a:off x="822960" y="3520440"/>
            <a:ext cx="2926080" cy="365760"/>
          </a:xfrm>
          <a:prstGeom prst="rect">
            <a:avLst/>
          </a:prstGeom>
          <a:noFill/>
          <a:ln/>
        </p:spPr>
        <p:txBody>
          <a:bodyPr wrap="square" lIns="0" tIns="0" rIns="0" bIns="0" rtlCol="0" anchor="ctr"/>
          <a:lstStyle/>
          <a:p>
            <a:pPr indent="0" marL="0">
              <a:buNone/>
            </a:pPr>
            <a:r>
              <a:rPr lang="en-US" sz="1400" dirty="0">
                <a:solidFill>
                  <a:srgbClr val="5B6573"/>
                </a:solidFill>
              </a:rPr>
              <a:t>Pursue it</a:t>
            </a:r>
            <a:endParaRPr lang="en-US" sz="1400" dirty="0"/>
          </a:p>
        </p:txBody>
      </p:sp>
      <p:sp>
        <p:nvSpPr>
          <p:cNvPr id="8" name="verdict-Park"/>
          <p:cNvSpPr/>
          <p:nvPr/>
        </p:nvSpPr>
        <p:spPr>
          <a:xfrm>
            <a:off x="4297680" y="2011680"/>
            <a:ext cx="3474720" cy="2103120"/>
          </a:xfrm>
          <a:prstGeom prst="roundRect">
            <a:avLst>
              <a:gd name="adj" fmla="val 5217"/>
            </a:avLst>
          </a:prstGeom>
          <a:solidFill>
            <a:srgbClr val="FFF6E2"/>
          </a:solidFill>
          <a:ln w="12700">
            <a:solidFill>
              <a:srgbClr val="FFF6E2"/>
            </a:solidFill>
            <a:prstDash val="solid"/>
          </a:ln>
        </p:spPr>
      </p:sp>
      <p:sp>
        <p:nvSpPr>
          <p:cNvPr id="9" name="Text 7"/>
          <p:cNvSpPr txBox="1"/>
          <p:nvPr/>
        </p:nvSpPr>
        <p:spPr>
          <a:xfrm>
            <a:off x="4572000" y="2148840"/>
            <a:ext cx="2926080" cy="914400"/>
          </a:xfrm>
          <a:prstGeom prst="rect">
            <a:avLst/>
          </a:prstGeom>
          <a:noFill/>
          <a:ln/>
        </p:spPr>
        <p:txBody>
          <a:bodyPr wrap="square" lIns="0" tIns="0" rIns="0" bIns="0" rtlCol="0" anchor="ctr"/>
          <a:lstStyle/>
          <a:p>
            <a:pPr indent="0" marL="0">
              <a:buNone/>
            </a:pPr>
            <a:r>
              <a:rPr lang="en-US" sz="5400" b="1" dirty="0">
                <a:solidFill>
                  <a:schemeClr val="accent4"/>
                </a:solidFill>
              </a:rPr>
              <a:t>70–89</a:t>
            </a:r>
            <a:endParaRPr lang="en-US" sz="5400" dirty="0"/>
          </a:p>
        </p:txBody>
      </p:sp>
      <p:sp>
        <p:nvSpPr>
          <p:cNvPr id="10" name="Text 8"/>
          <p:cNvSpPr txBox="1"/>
          <p:nvPr/>
        </p:nvSpPr>
        <p:spPr>
          <a:xfrm>
            <a:off x="4572000" y="3108960"/>
            <a:ext cx="2926080" cy="411480"/>
          </a:xfrm>
          <a:prstGeom prst="rect">
            <a:avLst/>
          </a:prstGeom>
          <a:noFill/>
          <a:ln/>
        </p:spPr>
        <p:txBody>
          <a:bodyPr wrap="square" lIns="0" tIns="0" rIns="0" bIns="0" rtlCol="0" anchor="ctr"/>
          <a:lstStyle/>
          <a:p>
            <a:pPr indent="0" marL="0">
              <a:buNone/>
            </a:pPr>
            <a:r>
              <a:rPr lang="en-US" sz="2200" b="1" dirty="0">
                <a:solidFill>
                  <a:schemeClr val="tx2"/>
                </a:solidFill>
              </a:rPr>
              <a:t>Park</a:t>
            </a:r>
            <a:endParaRPr lang="en-US" sz="2200" dirty="0"/>
          </a:p>
        </p:txBody>
      </p:sp>
      <p:sp>
        <p:nvSpPr>
          <p:cNvPr id="11" name="Text 9"/>
          <p:cNvSpPr txBox="1"/>
          <p:nvPr/>
        </p:nvSpPr>
        <p:spPr>
          <a:xfrm>
            <a:off x="4572000" y="3520440"/>
            <a:ext cx="2926080" cy="365760"/>
          </a:xfrm>
          <a:prstGeom prst="rect">
            <a:avLst/>
          </a:prstGeom>
          <a:noFill/>
          <a:ln/>
        </p:spPr>
        <p:txBody>
          <a:bodyPr wrap="square" lIns="0" tIns="0" rIns="0" bIns="0" rtlCol="0" anchor="ctr"/>
          <a:lstStyle/>
          <a:p>
            <a:pPr indent="0" marL="0">
              <a:buNone/>
            </a:pPr>
            <a:r>
              <a:rPr lang="en-US" sz="1400" dirty="0">
                <a:solidFill>
                  <a:srgbClr val="5B6573"/>
                </a:solidFill>
              </a:rPr>
              <a:t>Worth a human look</a:t>
            </a:r>
            <a:endParaRPr lang="en-US" sz="1400" dirty="0"/>
          </a:p>
        </p:txBody>
      </p:sp>
      <p:sp>
        <p:nvSpPr>
          <p:cNvPr id="12" name="verdict-Decline"/>
          <p:cNvSpPr/>
          <p:nvPr/>
        </p:nvSpPr>
        <p:spPr>
          <a:xfrm>
            <a:off x="8046720" y="2011680"/>
            <a:ext cx="3474720" cy="2103120"/>
          </a:xfrm>
          <a:prstGeom prst="roundRect">
            <a:avLst>
              <a:gd name="adj" fmla="val 5217"/>
            </a:avLst>
          </a:prstGeom>
          <a:solidFill>
            <a:srgbClr val="FDECEE"/>
          </a:solidFill>
          <a:ln w="12700">
            <a:solidFill>
              <a:srgbClr val="FDECEE"/>
            </a:solidFill>
            <a:prstDash val="solid"/>
          </a:ln>
        </p:spPr>
      </p:sp>
      <p:sp>
        <p:nvSpPr>
          <p:cNvPr id="13" name="Text 11"/>
          <p:cNvSpPr txBox="1"/>
          <p:nvPr/>
        </p:nvSpPr>
        <p:spPr>
          <a:xfrm>
            <a:off x="8321040" y="2148840"/>
            <a:ext cx="2926080" cy="914400"/>
          </a:xfrm>
          <a:prstGeom prst="rect">
            <a:avLst/>
          </a:prstGeom>
          <a:noFill/>
          <a:ln/>
        </p:spPr>
        <p:txBody>
          <a:bodyPr wrap="square" lIns="0" tIns="0" rIns="0" bIns="0" rtlCol="0" anchor="ctr"/>
          <a:lstStyle/>
          <a:p>
            <a:pPr indent="0" marL="0">
              <a:buNone/>
            </a:pPr>
            <a:r>
              <a:rPr lang="en-US" sz="5400" b="1" dirty="0">
                <a:solidFill>
                  <a:schemeClr val="accent5"/>
                </a:solidFill>
              </a:rPr>
              <a:t>&lt;70</a:t>
            </a:r>
            <a:endParaRPr lang="en-US" sz="5400" dirty="0"/>
          </a:p>
        </p:txBody>
      </p:sp>
      <p:sp>
        <p:nvSpPr>
          <p:cNvPr id="14" name="Text 12"/>
          <p:cNvSpPr txBox="1"/>
          <p:nvPr/>
        </p:nvSpPr>
        <p:spPr>
          <a:xfrm>
            <a:off x="8321040" y="3108960"/>
            <a:ext cx="2926080" cy="411480"/>
          </a:xfrm>
          <a:prstGeom prst="rect">
            <a:avLst/>
          </a:prstGeom>
          <a:noFill/>
          <a:ln/>
        </p:spPr>
        <p:txBody>
          <a:bodyPr wrap="square" lIns="0" tIns="0" rIns="0" bIns="0" rtlCol="0" anchor="ctr"/>
          <a:lstStyle/>
          <a:p>
            <a:pPr indent="0" marL="0">
              <a:buNone/>
            </a:pPr>
            <a:r>
              <a:rPr lang="en-US" sz="2200" b="1" dirty="0">
                <a:solidFill>
                  <a:schemeClr val="tx2"/>
                </a:solidFill>
              </a:rPr>
              <a:t>Decline</a:t>
            </a:r>
            <a:endParaRPr lang="en-US" sz="2200" dirty="0"/>
          </a:p>
        </p:txBody>
      </p:sp>
      <p:sp>
        <p:nvSpPr>
          <p:cNvPr id="15" name="Text 13"/>
          <p:cNvSpPr txBox="1"/>
          <p:nvPr/>
        </p:nvSpPr>
        <p:spPr>
          <a:xfrm>
            <a:off x="8321040" y="3520440"/>
            <a:ext cx="2926080" cy="365760"/>
          </a:xfrm>
          <a:prstGeom prst="rect">
            <a:avLst/>
          </a:prstGeom>
          <a:noFill/>
          <a:ln/>
        </p:spPr>
        <p:txBody>
          <a:bodyPr wrap="square" lIns="0" tIns="0" rIns="0" bIns="0" rtlCol="0" anchor="ctr"/>
          <a:lstStyle/>
          <a:p>
            <a:pPr indent="0" marL="0">
              <a:buNone/>
            </a:pPr>
            <a:r>
              <a:rPr lang="en-US" sz="1400" dirty="0">
                <a:solidFill>
                  <a:srgbClr val="5B6573"/>
                </a:solidFill>
              </a:rPr>
              <a:t>Or a fatal eligibility gate</a:t>
            </a:r>
            <a:endParaRPr lang="en-US" sz="1400" dirty="0"/>
          </a:p>
        </p:txBody>
      </p:sp>
      <p:sp>
        <p:nvSpPr>
          <p:cNvPr id="16" name="Text 14"/>
          <p:cNvSpPr txBox="1"/>
          <p:nvPr/>
        </p:nvSpPr>
        <p:spPr>
          <a:xfrm>
            <a:off x="548640" y="4434840"/>
            <a:ext cx="11064240" cy="822960"/>
          </a:xfrm>
          <a:prstGeom prst="rect">
            <a:avLst/>
          </a:prstGeom>
          <a:noFill/>
          <a:ln/>
        </p:spPr>
        <p:txBody>
          <a:bodyPr wrap="square" lIns="0" tIns="0" rIns="0" bIns="0" rtlCol="0" anchor="ctr"/>
          <a:lstStyle/>
          <a:p>
            <a:pPr indent="0" marL="0">
              <a:spcAft>
                <a:spcPts val="600"/>
              </a:spcAft>
              <a:buNone/>
            </a:pPr>
            <a:r>
              <a:rPr lang="en-US" sz="1500" b="1" dirty="0">
                <a:solidFill>
                  <a:schemeClr val="tx2"/>
                </a:solidFill>
              </a:rPr>
              <a:t>MUSTs: </a:t>
            </a:r>
            <a:pPr indent="0" marL="0">
              <a:spcAft>
                <a:spcPts val="600"/>
              </a:spcAft>
              <a:buNone/>
            </a:pPr>
            <a:r>
              <a:rPr lang="en-US" sz="1500" dirty="0">
                <a:solidFill>
                  <a:schemeClr val="tx1"/>
                </a:solidFill>
              </a:rPr>
              <a:t>legal status · strategic fit · implementation capacity · geographic fit · co-financing &amp; compliance</a:t>
            </a:r>
            <a:endParaRPr lang="en-US" sz="1500" dirty="0"/>
          </a:p>
          <a:p>
            <a:pPr indent="0" marL="0">
              <a:spcAft>
                <a:spcPts val="600"/>
              </a:spcAft>
              <a:buNone/>
            </a:pPr>
            <a:r>
              <a:rPr lang="en-US" sz="1500" b="1" dirty="0">
                <a:solidFill>
                  <a:schemeClr val="tx2"/>
                </a:solidFill>
              </a:rPr>
              <a:t>PREFERs: </a:t>
            </a:r>
            <a:pPr indent="0" marL="0">
              <a:spcAft>
                <a:spcPts val="600"/>
              </a:spcAft>
              <a:buNone/>
            </a:pPr>
            <a:r>
              <a:rPr lang="en-US" sz="1500" dirty="0">
                <a:solidFill>
                  <a:schemeClr val="tx1"/>
                </a:solidFill>
              </a:rPr>
              <a:t>funding quality · donor relationship · competitiveness · bid effort</a:t>
            </a:r>
            <a:endParaRPr lang="en-US" sz="1500" dirty="0"/>
          </a:p>
        </p:txBody>
      </p:sp>
      <p:sp>
        <p:nvSpPr>
          <p:cNvPr id="17" name="callout-green"/>
          <p:cNvSpPr/>
          <p:nvPr/>
        </p:nvSpPr>
        <p:spPr>
          <a:xfrm>
            <a:off x="548640" y="5440680"/>
            <a:ext cx="11064240" cy="731520"/>
          </a:xfrm>
          <a:prstGeom prst="roundRect">
            <a:avLst>
              <a:gd name="adj" fmla="val 15000"/>
            </a:avLst>
          </a:prstGeom>
          <a:solidFill>
            <a:srgbClr val="E6F2EB"/>
          </a:solidFill>
          <a:ln w="12700">
            <a:solidFill>
              <a:srgbClr val="CFE6DA"/>
            </a:solidFill>
            <a:prstDash val="solid"/>
          </a:ln>
        </p:spPr>
      </p:sp>
      <p:sp>
        <p:nvSpPr>
          <p:cNvPr id="18" name="Text 16"/>
          <p:cNvSpPr txBox="1"/>
          <p:nvPr/>
        </p:nvSpPr>
        <p:spPr>
          <a:xfrm>
            <a:off x="731520" y="5550408"/>
            <a:ext cx="10698480" cy="512064"/>
          </a:xfrm>
          <a:prstGeom prst="rect">
            <a:avLst/>
          </a:prstGeom>
          <a:noFill/>
          <a:ln/>
        </p:spPr>
        <p:txBody>
          <a:bodyPr wrap="square" lIns="0" tIns="0" rIns="0" bIns="0" rtlCol="0" anchor="t"/>
          <a:lstStyle/>
          <a:p>
            <a:pPr indent="0" marL="0">
              <a:spcAft>
                <a:spcPts val="400"/>
              </a:spcAft>
              <a:buNone/>
            </a:pPr>
            <a:r>
              <a:rPr lang="en-US" sz="1400" b="1" dirty="0">
                <a:solidFill>
                  <a:schemeClr val="tx2"/>
                </a:solidFill>
              </a:rPr>
              <a:t>People outrank the system</a:t>
            </a:r>
            <a:endParaRPr lang="en-US" sz="1400" dirty="0"/>
          </a:p>
          <a:p>
            <a:pPr indent="0" marL="0">
              <a:spcAft>
                <a:spcPts val="400"/>
              </a:spcAft>
              <a:buNone/>
            </a:pPr>
            <a:r>
              <a:rPr lang="en-US" sz="1400" dirty="0">
                <a:solidFill>
                  <a:schemeClr val="tx1"/>
                </a:solidFill>
              </a:rPr>
              <a:t>Correct any criterion in Update Decision and the score follows. A human who has read the call knows best.</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rPr>
              <a:t>Update a decision</a:t>
            </a:r>
            <a:endParaRPr lang="en-US" sz="3200" dirty="0"/>
          </a:p>
        </p:txBody>
      </p:sp>
      <p:sp>
        <p:nvSpPr>
          <p:cNvPr id="3" name="Shape 1"/>
          <p:cNvSpPr/>
          <p:nvPr/>
        </p:nvSpPr>
        <p:spPr>
          <a:xfrm>
            <a:off x="10195560" y="548640"/>
            <a:ext cx="1417320" cy="310896"/>
          </a:xfrm>
          <a:prstGeom prst="roundRect">
            <a:avLst>
              <a:gd name="adj" fmla="val 50000"/>
            </a:avLst>
          </a:prstGeom>
          <a:solidFill>
            <a:srgbClr val="E6F2EB"/>
          </a:solidFill>
          <a:ln w="12700">
            <a:solidFill>
              <a:srgbClr val="E6F2EB"/>
            </a:solidFill>
            <a:prstDash val="solid"/>
          </a:ln>
        </p:spPr>
      </p:sp>
      <p:sp>
        <p:nvSpPr>
          <p:cNvPr id="4" name="Text 2"/>
          <p:cNvSpPr txBox="1"/>
          <p:nvPr/>
        </p:nvSpPr>
        <p:spPr>
          <a:xfrm>
            <a:off x="10195560" y="548640"/>
            <a:ext cx="1417320" cy="310896"/>
          </a:xfrm>
          <a:prstGeom prst="rect">
            <a:avLst/>
          </a:prstGeom>
          <a:noFill/>
          <a:ln/>
        </p:spPr>
        <p:txBody>
          <a:bodyPr wrap="square" lIns="0" tIns="0" rIns="0" bIns="0" rtlCol="0" anchor="ctr"/>
          <a:lstStyle/>
          <a:p>
            <a:pPr algn="ctr" indent="0" marL="0">
              <a:buNone/>
            </a:pPr>
            <a:r>
              <a:rPr lang="en-US" sz="1100" b="1" spc="100" kern="0" dirty="0">
                <a:solidFill>
                  <a:schemeClr val="accent1"/>
                </a:solidFill>
              </a:rPr>
              <a:t>KEY TASK</a:t>
            </a:r>
            <a:endParaRPr lang="en-US" sz="1100" dirty="0"/>
          </a:p>
        </p:txBody>
      </p:sp>
      <p:sp>
        <p:nvSpPr>
          <p:cNvPr id="5" name="step-dot-1"/>
          <p:cNvSpPr/>
          <p:nvPr/>
        </p:nvSpPr>
        <p:spPr>
          <a:xfrm>
            <a:off x="548640" y="1463040"/>
            <a:ext cx="365760" cy="365760"/>
          </a:xfrm>
          <a:prstGeom prst="ellipse">
            <a:avLst/>
          </a:prstGeom>
          <a:solidFill>
            <a:schemeClr val="accent1"/>
          </a:solidFill>
          <a:ln w="12700">
            <a:solidFill>
              <a:schemeClr val="accent1"/>
            </a:solidFill>
            <a:prstDash val="solid"/>
          </a:ln>
        </p:spPr>
      </p:sp>
      <p:sp>
        <p:nvSpPr>
          <p:cNvPr id="6" name="Text 4"/>
          <p:cNvSpPr txBox="1"/>
          <p:nvPr/>
        </p:nvSpPr>
        <p:spPr>
          <a:xfrm>
            <a:off x="548640" y="1463040"/>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7" name="Text 5"/>
          <p:cNvSpPr txBox="1"/>
          <p:nvPr/>
        </p:nvSpPr>
        <p:spPr>
          <a:xfrm>
            <a:off x="1051560" y="1408176"/>
            <a:ext cx="4434840" cy="749808"/>
          </a:xfrm>
          <a:prstGeom prst="rect">
            <a:avLst/>
          </a:prstGeom>
          <a:noFill/>
          <a:ln/>
        </p:spPr>
        <p:txBody>
          <a:bodyPr wrap="square" lIns="0" tIns="0" rIns="0" bIns="0" rtlCol="0" anchor="t"/>
          <a:lstStyle/>
          <a:p>
            <a:pPr indent="0" marL="0">
              <a:buNone/>
            </a:pPr>
            <a:r>
              <a:rPr lang="en-US" sz="1500" dirty="0">
                <a:solidFill>
                  <a:schemeClr val="tx1"/>
                </a:solidFill>
              </a:rPr>
              <a:t>Pipelines → Review: pick the week, then the RFP</a:t>
            </a:r>
            <a:endParaRPr lang="en-US" sz="1500" dirty="0"/>
          </a:p>
        </p:txBody>
      </p:sp>
      <p:sp>
        <p:nvSpPr>
          <p:cNvPr id="8" name="step-dot-2"/>
          <p:cNvSpPr/>
          <p:nvPr/>
        </p:nvSpPr>
        <p:spPr>
          <a:xfrm>
            <a:off x="548640" y="2212848"/>
            <a:ext cx="365760" cy="365760"/>
          </a:xfrm>
          <a:prstGeom prst="ellipse">
            <a:avLst/>
          </a:prstGeom>
          <a:solidFill>
            <a:schemeClr val="accent1"/>
          </a:solidFill>
          <a:ln w="12700">
            <a:solidFill>
              <a:schemeClr val="accent1"/>
            </a:solidFill>
            <a:prstDash val="solid"/>
          </a:ln>
        </p:spPr>
      </p:sp>
      <p:sp>
        <p:nvSpPr>
          <p:cNvPr id="9" name="Text 7"/>
          <p:cNvSpPr txBox="1"/>
          <p:nvPr/>
        </p:nvSpPr>
        <p:spPr>
          <a:xfrm>
            <a:off x="548640" y="2212848"/>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0" name="Text 8"/>
          <p:cNvSpPr txBox="1"/>
          <p:nvPr/>
        </p:nvSpPr>
        <p:spPr>
          <a:xfrm>
            <a:off x="1051560" y="2157984"/>
            <a:ext cx="4434840" cy="749808"/>
          </a:xfrm>
          <a:prstGeom prst="rect">
            <a:avLst/>
          </a:prstGeom>
          <a:noFill/>
          <a:ln/>
        </p:spPr>
        <p:txBody>
          <a:bodyPr wrap="square" lIns="0" tIns="0" rIns="0" bIns="0" rtlCol="0" anchor="t"/>
          <a:lstStyle/>
          <a:p>
            <a:pPr indent="0" marL="0">
              <a:buNone/>
            </a:pPr>
            <a:r>
              <a:rPr lang="en-US" sz="1500" dirty="0">
                <a:solidFill>
                  <a:schemeClr val="tx1"/>
                </a:solidFill>
              </a:rPr>
              <a:t>Read Key details, Bid Strength and the Eligibility criteria</a:t>
            </a:r>
            <a:endParaRPr lang="en-US" sz="1500" dirty="0"/>
          </a:p>
        </p:txBody>
      </p:sp>
      <p:sp>
        <p:nvSpPr>
          <p:cNvPr id="11" name="step-dot-3"/>
          <p:cNvSpPr/>
          <p:nvPr/>
        </p:nvSpPr>
        <p:spPr>
          <a:xfrm>
            <a:off x="548640" y="2962656"/>
            <a:ext cx="365760" cy="365760"/>
          </a:xfrm>
          <a:prstGeom prst="ellipse">
            <a:avLst/>
          </a:prstGeom>
          <a:solidFill>
            <a:schemeClr val="accent1"/>
          </a:solidFill>
          <a:ln w="12700">
            <a:solidFill>
              <a:schemeClr val="accent1"/>
            </a:solidFill>
            <a:prstDash val="solid"/>
          </a:ln>
        </p:spPr>
      </p:sp>
      <p:sp>
        <p:nvSpPr>
          <p:cNvPr id="12" name="Text 10"/>
          <p:cNvSpPr txBox="1"/>
          <p:nvPr/>
        </p:nvSpPr>
        <p:spPr>
          <a:xfrm>
            <a:off x="548640" y="2962656"/>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3" name="Text 11"/>
          <p:cNvSpPr txBox="1"/>
          <p:nvPr/>
        </p:nvSpPr>
        <p:spPr>
          <a:xfrm>
            <a:off x="1051560" y="2907792"/>
            <a:ext cx="4434840" cy="749808"/>
          </a:xfrm>
          <a:prstGeom prst="rect">
            <a:avLst/>
          </a:prstGeom>
          <a:noFill/>
          <a:ln/>
        </p:spPr>
        <p:txBody>
          <a:bodyPr wrap="square" lIns="0" tIns="0" rIns="0" bIns="0" rtlCol="0" anchor="t"/>
          <a:lstStyle/>
          <a:p>
            <a:pPr indent="0" marL="0">
              <a:buNone/>
            </a:pPr>
            <a:r>
              <a:rPr lang="en-US" sz="1500" dirty="0">
                <a:solidFill>
                  <a:schemeClr val="tx1"/>
                </a:solidFill>
              </a:rPr>
              <a:t>Click ✏ Update Decision; fix any criterion the system got wrong</a:t>
            </a:r>
            <a:endParaRPr lang="en-US" sz="1500" dirty="0"/>
          </a:p>
        </p:txBody>
      </p:sp>
      <p:sp>
        <p:nvSpPr>
          <p:cNvPr id="14" name="step-dot-4"/>
          <p:cNvSpPr/>
          <p:nvPr/>
        </p:nvSpPr>
        <p:spPr>
          <a:xfrm>
            <a:off x="548640" y="3712464"/>
            <a:ext cx="365760" cy="365760"/>
          </a:xfrm>
          <a:prstGeom prst="ellipse">
            <a:avLst/>
          </a:prstGeom>
          <a:solidFill>
            <a:schemeClr val="accent1"/>
          </a:solidFill>
          <a:ln w="12700">
            <a:solidFill>
              <a:schemeClr val="accent1"/>
            </a:solidFill>
            <a:prstDash val="solid"/>
          </a:ln>
        </p:spPr>
      </p:sp>
      <p:sp>
        <p:nvSpPr>
          <p:cNvPr id="15" name="Text 13"/>
          <p:cNvSpPr txBox="1"/>
          <p:nvPr/>
        </p:nvSpPr>
        <p:spPr>
          <a:xfrm>
            <a:off x="548640" y="3712464"/>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16" name="Text 14"/>
          <p:cNvSpPr txBox="1"/>
          <p:nvPr/>
        </p:nvSpPr>
        <p:spPr>
          <a:xfrm>
            <a:off x="1051560" y="3657600"/>
            <a:ext cx="4434840" cy="749808"/>
          </a:xfrm>
          <a:prstGeom prst="rect">
            <a:avLst/>
          </a:prstGeom>
          <a:noFill/>
          <a:ln/>
        </p:spPr>
        <p:txBody>
          <a:bodyPr wrap="square" lIns="0" tIns="0" rIns="0" bIns="0" rtlCol="0" anchor="t"/>
          <a:lstStyle/>
          <a:p>
            <a:pPr indent="0" marL="0">
              <a:buNone/>
            </a:pPr>
            <a:r>
              <a:rPr lang="en-US" sz="1500" dirty="0">
                <a:solidFill>
                  <a:schemeClr val="tx1"/>
                </a:solidFill>
              </a:rPr>
              <a:t>Set Decline flags, Key risks, the Decision: Proceed / Park / Decline</a:t>
            </a:r>
            <a:endParaRPr lang="en-US" sz="1500" dirty="0"/>
          </a:p>
        </p:txBody>
      </p:sp>
      <p:sp>
        <p:nvSpPr>
          <p:cNvPr id="17" name="step-dot-5"/>
          <p:cNvSpPr/>
          <p:nvPr/>
        </p:nvSpPr>
        <p:spPr>
          <a:xfrm>
            <a:off x="548640" y="4462272"/>
            <a:ext cx="365760" cy="365760"/>
          </a:xfrm>
          <a:prstGeom prst="ellipse">
            <a:avLst/>
          </a:prstGeom>
          <a:solidFill>
            <a:schemeClr val="accent1"/>
          </a:solidFill>
          <a:ln w="12700">
            <a:solidFill>
              <a:schemeClr val="accent1"/>
            </a:solidFill>
            <a:prstDash val="solid"/>
          </a:ln>
        </p:spPr>
      </p:sp>
      <p:sp>
        <p:nvSpPr>
          <p:cNvPr id="18" name="Text 16"/>
          <p:cNvSpPr txBox="1"/>
          <p:nvPr/>
        </p:nvSpPr>
        <p:spPr>
          <a:xfrm>
            <a:off x="548640" y="4462272"/>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rPr>
              <a:t>5</a:t>
            </a:r>
            <a:endParaRPr lang="en-US" sz="1400" dirty="0"/>
          </a:p>
        </p:txBody>
      </p:sp>
      <p:sp>
        <p:nvSpPr>
          <p:cNvPr id="19" name="Text 17"/>
          <p:cNvSpPr txBox="1"/>
          <p:nvPr/>
        </p:nvSpPr>
        <p:spPr>
          <a:xfrm>
            <a:off x="1051560" y="4407408"/>
            <a:ext cx="4434840" cy="749808"/>
          </a:xfrm>
          <a:prstGeom prst="rect">
            <a:avLst/>
          </a:prstGeom>
          <a:noFill/>
          <a:ln/>
        </p:spPr>
        <p:txBody>
          <a:bodyPr wrap="square" lIns="0" tIns="0" rIns="0" bIns="0" rtlCol="0" anchor="t"/>
          <a:lstStyle/>
          <a:p>
            <a:pPr indent="0" marL="0">
              <a:buNone/>
            </a:pPr>
            <a:r>
              <a:rPr lang="en-US" sz="1500" dirty="0">
                <a:solidFill>
                  <a:schemeClr val="tx1"/>
                </a:solidFill>
              </a:rPr>
              <a:t>Write the rationale (2–3 lines); answer Donor already engaged?</a:t>
            </a:r>
            <a:endParaRPr lang="en-US" sz="1500" dirty="0"/>
          </a:p>
        </p:txBody>
      </p:sp>
      <p:sp>
        <p:nvSpPr>
          <p:cNvPr id="20" name="step-dot-6"/>
          <p:cNvSpPr/>
          <p:nvPr/>
        </p:nvSpPr>
        <p:spPr>
          <a:xfrm>
            <a:off x="548640" y="5212080"/>
            <a:ext cx="365760" cy="365760"/>
          </a:xfrm>
          <a:prstGeom prst="ellipse">
            <a:avLst/>
          </a:prstGeom>
          <a:solidFill>
            <a:schemeClr val="accent1"/>
          </a:solidFill>
          <a:ln w="12700">
            <a:solidFill>
              <a:schemeClr val="accent1"/>
            </a:solidFill>
            <a:prstDash val="solid"/>
          </a:ln>
        </p:spPr>
      </p:sp>
      <p:sp>
        <p:nvSpPr>
          <p:cNvPr id="21" name="Text 19"/>
          <p:cNvSpPr txBox="1"/>
          <p:nvPr/>
        </p:nvSpPr>
        <p:spPr>
          <a:xfrm>
            <a:off x="548640" y="5212080"/>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rPr>
              <a:t>6</a:t>
            </a:r>
            <a:endParaRPr lang="en-US" sz="1400" dirty="0"/>
          </a:p>
        </p:txBody>
      </p:sp>
      <p:sp>
        <p:nvSpPr>
          <p:cNvPr id="22" name="Text 20"/>
          <p:cNvSpPr txBox="1"/>
          <p:nvPr/>
        </p:nvSpPr>
        <p:spPr>
          <a:xfrm>
            <a:off x="1051560" y="5157216"/>
            <a:ext cx="4434840" cy="749808"/>
          </a:xfrm>
          <a:prstGeom prst="rect">
            <a:avLst/>
          </a:prstGeom>
          <a:noFill/>
          <a:ln/>
        </p:spPr>
        <p:txBody>
          <a:bodyPr wrap="square" lIns="0" tIns="0" rIns="0" bIns="0" rtlCol="0" anchor="t"/>
          <a:lstStyle/>
          <a:p>
            <a:pPr indent="0" marL="0">
              <a:buNone/>
            </a:pPr>
            <a:r>
              <a:rPr lang="en-US" sz="1500" dirty="0">
                <a:solidFill>
                  <a:schemeClr val="tx1"/>
                </a:solidFill>
              </a:rPr>
              <a:t>Click 💾 Save changes</a:t>
            </a:r>
            <a:endParaRPr lang="en-US" sz="1500" dirty="0"/>
          </a:p>
        </p:txBody>
      </p:sp>
      <p:sp>
        <p:nvSpPr>
          <p:cNvPr id="23" name="frame-16-update-decision"/>
          <p:cNvSpPr/>
          <p:nvPr/>
        </p:nvSpPr>
        <p:spPr>
          <a:xfrm>
            <a:off x="5833872" y="1399032"/>
            <a:ext cx="5797296" cy="3637026"/>
          </a:xfrm>
          <a:prstGeom prst="rect">
            <a:avLst/>
          </a:prstGeom>
          <a:solidFill>
            <a:schemeClr val="bg1"/>
          </a:solidFill>
          <a:ln w="12700">
            <a:solidFill>
              <a:srgbClr val="D5DBE2"/>
            </a:solidFill>
            <a:prstDash val="solid"/>
          </a:ln>
          <a:effectLst>
            <a:outerShdw sx="100000" sy="100000" kx="0" ky="0" algn="bl" rotWithShape="0" blurRad="127000" dist="38100" dir="5400000">
              <a:srgbClr val="14254F">
                <a:alpha val="18000"/>
              </a:srgbClr>
            </a:outerShdw>
          </a:effectLst>
        </p:spPr>
      </p:sp>
      <p:pic>
        <p:nvPicPr>
          <p:cNvPr id="24" name="shot-16-update-decision" descr="Review → Update Decision">    </p:cNvPr>
          <p:cNvPicPr>
            <a:picLocks noChangeAspect="1"/>
          </p:cNvPicPr>
          <p:nvPr/>
        </p:nvPicPr>
        <p:blipFill>
          <a:blip r:embed="rId1"/>
          <a:stretch>
            <a:fillRect/>
          </a:stretch>
        </p:blipFill>
        <p:spPr>
          <a:xfrm>
            <a:off x="5852160" y="1417320"/>
            <a:ext cx="5760720" cy="3600450"/>
          </a:xfrm>
          <a:prstGeom prst="rect">
            <a:avLst/>
          </a:prstGeom>
        </p:spPr>
      </p:pic>
      <p:sp>
        <p:nvSpPr>
          <p:cNvPr id="25" name="Text 22"/>
          <p:cNvSpPr txBox="1"/>
          <p:nvPr/>
        </p:nvSpPr>
        <p:spPr>
          <a:xfrm>
            <a:off x="5852160" y="5090922"/>
            <a:ext cx="5760720" cy="274320"/>
          </a:xfrm>
          <a:prstGeom prst="rect">
            <a:avLst/>
          </a:prstGeom>
          <a:noFill/>
          <a:ln/>
        </p:spPr>
        <p:txBody>
          <a:bodyPr wrap="square" lIns="0" tIns="0" rIns="0" bIns="0" rtlCol="0" anchor="ctr"/>
          <a:lstStyle/>
          <a:p>
            <a:pPr algn="ctr" indent="0" marL="0">
              <a:buNone/>
            </a:pPr>
            <a:r>
              <a:rPr lang="en-US" sz="1100" i="1" dirty="0">
                <a:solidFill>
                  <a:srgbClr val="5B6573"/>
                </a:solidFill>
              </a:rPr>
              <a:t>Review → Update Decision</a:t>
            </a:r>
            <a:endParaRPr lang="en-US" sz="1100" dirty="0"/>
          </a:p>
        </p:txBody>
      </p:sp>
      <p:sp>
        <p:nvSpPr>
          <p:cNvPr id="26" name="callout-blue"/>
          <p:cNvSpPr/>
          <p:nvPr/>
        </p:nvSpPr>
        <p:spPr>
          <a:xfrm>
            <a:off x="548640" y="5715000"/>
            <a:ext cx="4937760" cy="640080"/>
          </a:xfrm>
          <a:prstGeom prst="roundRect">
            <a:avLst>
              <a:gd name="adj" fmla="val 17143"/>
            </a:avLst>
          </a:prstGeom>
          <a:solidFill>
            <a:srgbClr val="EEF3FB"/>
          </a:solidFill>
          <a:ln w="12700">
            <a:solidFill>
              <a:srgbClr val="D6E1F3"/>
            </a:solidFill>
            <a:prstDash val="solid"/>
          </a:ln>
        </p:spPr>
      </p:sp>
      <p:sp>
        <p:nvSpPr>
          <p:cNvPr id="27" name="Text 24"/>
          <p:cNvSpPr txBox="1"/>
          <p:nvPr/>
        </p:nvSpPr>
        <p:spPr>
          <a:xfrm>
            <a:off x="731520" y="5824728"/>
            <a:ext cx="4572000" cy="420624"/>
          </a:xfrm>
          <a:prstGeom prst="rect">
            <a:avLst/>
          </a:prstGeom>
          <a:noFill/>
          <a:ln/>
        </p:spPr>
        <p:txBody>
          <a:bodyPr wrap="square" lIns="0" tIns="0" rIns="0" bIns="0" rtlCol="0" anchor="t"/>
          <a:lstStyle/>
          <a:p>
            <a:pPr indent="0" marL="0">
              <a:spcAft>
                <a:spcPts val="400"/>
              </a:spcAft>
              <a:buNone/>
            </a:pPr>
            <a:r>
              <a:rPr lang="en-US" sz="1400" b="1" dirty="0">
                <a:solidFill>
                  <a:schemeClr val="tx2"/>
                </a:solidFill>
              </a:rPr>
              <a:t>Proposal lead, next action, deadline?</a:t>
            </a:r>
            <a:endParaRPr lang="en-US" sz="1400" dirty="0"/>
          </a:p>
          <a:p>
            <a:pPr indent="0" marL="0">
              <a:spcAft>
                <a:spcPts val="400"/>
              </a:spcAft>
              <a:buNone/>
            </a:pPr>
            <a:r>
              <a:rPr lang="en-US" sz="1400" dirty="0">
                <a:solidFill>
                  <a:schemeClr val="tx1"/>
                </a:solidFill>
              </a:rPr>
              <a:t>Use ✏️ Edit RFP beside Update Decision.</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731520" y="2651760"/>
            <a:ext cx="10515600" cy="1097280"/>
          </a:xfrm>
          <a:prstGeom prst="rect">
            <a:avLst/>
          </a:prstGeom>
          <a:noFill/>
          <a:ln/>
        </p:spPr>
        <p:txBody>
          <a:bodyPr wrap="square" lIns="0" tIns="0" rIns="0" bIns="0" rtlCol="0"/>
          <a:lstStyle/>
          <a:p>
            <a:pPr algn="l" indent="0" marL="0">
              <a:buNone/>
            </a:pPr>
            <a:r>
              <a:rPr lang="en-US" sz="4000" b="1" dirty="0">
                <a:solidFill>
                  <a:schemeClr val="bg1"/>
                </a:solidFill>
              </a:rPr>
              <a:t>Finding more</a:t>
            </a:r>
            <a:endParaRPr lang="en-US" sz="4000" dirty="0"/>
          </a:p>
        </p:txBody>
      </p:sp>
      <p:sp>
        <p:nvSpPr>
          <p:cNvPr id="3" name="Text 0"/>
          <p:cNvSpPr/>
          <p:nvPr>
            <p:ph idx="101" type="body" hasCustomPrompt="1"/>
          </p:nvPr>
        </p:nvSpPr>
        <p:spPr>
          <a:xfrm>
            <a:off x="731520" y="3794760"/>
            <a:ext cx="10515600" cy="822960"/>
          </a:xfrm>
          <a:prstGeom prst="rect">
            <a:avLst/>
          </a:prstGeom>
          <a:noFill/>
          <a:ln/>
        </p:spPr>
        <p:txBody>
          <a:bodyPr wrap="square" lIns="0" tIns="0" rIns="0" bIns="0" rtlCol="0"/>
          <a:lstStyle/>
          <a:p>
            <a:pPr algn="l" indent="0" marL="0">
              <a:buNone/>
            </a:pPr>
            <a:r>
              <a:rPr lang="en-US" sz="2000" dirty="0">
                <a:solidFill>
                  <a:schemeClr val="bg1"/>
                </a:solidFill>
              </a:rPr>
              <a:t>Search inside RFPIS and the web; submit what the scan missed</a:t>
            </a:r>
            <a:endParaRPr lang="en-US" sz="2000" dirty="0"/>
          </a:p>
        </p:txBody>
      </p:sp>
      <p:sp>
        <p:nvSpPr>
          <p:cNvPr id="4" name="ring-0"/>
          <p:cNvSpPr/>
          <p:nvPr/>
        </p:nvSpPr>
        <p:spPr>
          <a:xfrm>
            <a:off x="8778240" y="1965960"/>
            <a:ext cx="2926080" cy="2926080"/>
          </a:xfrm>
          <a:prstGeom prst="ellipse">
            <a:avLst/>
          </a:prstGeom>
          <a:ln w="19050">
            <a:solidFill>
              <a:schemeClr val="bg1">
                <a:alpha val="60000"/>
              </a:schemeClr>
            </a:solidFill>
            <a:prstDash val="solid"/>
          </a:ln>
        </p:spPr>
      </p:sp>
      <p:sp>
        <p:nvSpPr>
          <p:cNvPr id="5" name="ring-1"/>
          <p:cNvSpPr/>
          <p:nvPr/>
        </p:nvSpPr>
        <p:spPr>
          <a:xfrm>
            <a:off x="9144000" y="2331720"/>
            <a:ext cx="2194560" cy="2194560"/>
          </a:xfrm>
          <a:prstGeom prst="ellipse">
            <a:avLst/>
          </a:prstGeom>
          <a:ln w="19050">
            <a:solidFill>
              <a:schemeClr val="bg1">
                <a:alpha val="50000"/>
              </a:schemeClr>
            </a:solidFill>
            <a:prstDash val="solid"/>
          </a:ln>
        </p:spPr>
      </p:sp>
      <p:sp>
        <p:nvSpPr>
          <p:cNvPr id="6" name="ring-2"/>
          <p:cNvSpPr/>
          <p:nvPr/>
        </p:nvSpPr>
        <p:spPr>
          <a:xfrm>
            <a:off x="9509760" y="2697480"/>
            <a:ext cx="1463040" cy="1463040"/>
          </a:xfrm>
          <a:prstGeom prst="ellipse">
            <a:avLst/>
          </a:prstGeom>
          <a:ln w="19050">
            <a:solidFill>
              <a:schemeClr val="bg1">
                <a:alpha val="40000"/>
              </a:schemeClr>
            </a:solidFill>
            <a:prstDash val="solid"/>
          </a:ln>
        </p:spPr>
      </p:sp>
      <p:sp>
        <p:nvSpPr>
          <p:cNvPr id="7" name="ring-core"/>
          <p:cNvSpPr/>
          <p:nvPr/>
        </p:nvSpPr>
        <p:spPr>
          <a:xfrm>
            <a:off x="9875520" y="3063240"/>
            <a:ext cx="731520" cy="731520"/>
          </a:xfrm>
          <a:prstGeom prst="ellipse">
            <a:avLst/>
          </a:prstGeom>
          <a:solidFill>
            <a:schemeClr val="bg1">
              <a:alpha val="80000"/>
            </a:schemeClr>
          </a:solidFill>
          <a:ln w="12700">
            <a:solidFill>
              <a:schemeClr val="bg1">
                <a:alpha val="80000"/>
              </a:schemeClr>
            </a:solidFill>
            <a:prstDash val="solid"/>
          </a:ln>
        </p:spPr>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rPr>
              <a:t>Search: inside RFPIS and on the web</a:t>
            </a:r>
            <a:endParaRPr lang="en-US" sz="3200" dirty="0"/>
          </a:p>
        </p:txBody>
      </p:sp>
      <p:sp>
        <p:nvSpPr>
          <p:cNvPr id="3" name="Shape 1"/>
          <p:cNvSpPr/>
          <p:nvPr/>
        </p:nvSpPr>
        <p:spPr>
          <a:xfrm>
            <a:off x="10195560" y="548640"/>
            <a:ext cx="1417320" cy="310896"/>
          </a:xfrm>
          <a:prstGeom prst="roundRect">
            <a:avLst>
              <a:gd name="adj" fmla="val 50000"/>
            </a:avLst>
          </a:prstGeom>
          <a:solidFill>
            <a:srgbClr val="E6F2EB"/>
          </a:solidFill>
          <a:ln w="12700">
            <a:solidFill>
              <a:srgbClr val="E6F2EB"/>
            </a:solidFill>
            <a:prstDash val="solid"/>
          </a:ln>
        </p:spPr>
      </p:sp>
      <p:sp>
        <p:nvSpPr>
          <p:cNvPr id="4" name="Text 2"/>
          <p:cNvSpPr txBox="1"/>
          <p:nvPr/>
        </p:nvSpPr>
        <p:spPr>
          <a:xfrm>
            <a:off x="10195560" y="548640"/>
            <a:ext cx="1417320" cy="310896"/>
          </a:xfrm>
          <a:prstGeom prst="rect">
            <a:avLst/>
          </a:prstGeom>
          <a:noFill/>
          <a:ln/>
        </p:spPr>
        <p:txBody>
          <a:bodyPr wrap="square" lIns="0" tIns="0" rIns="0" bIns="0" rtlCol="0" anchor="ctr"/>
          <a:lstStyle/>
          <a:p>
            <a:pPr algn="ctr" indent="0" marL="0">
              <a:buNone/>
            </a:pPr>
            <a:r>
              <a:rPr lang="en-US" sz="1100" b="1" spc="100" kern="0" dirty="0">
                <a:solidFill>
                  <a:schemeClr val="accent1"/>
                </a:solidFill>
              </a:rPr>
              <a:t>KEY TASK</a:t>
            </a:r>
            <a:endParaRPr lang="en-US" sz="1100" dirty="0"/>
          </a:p>
        </p:txBody>
      </p:sp>
      <p:sp>
        <p:nvSpPr>
          <p:cNvPr id="5" name="frame-20-search"/>
          <p:cNvSpPr/>
          <p:nvPr/>
        </p:nvSpPr>
        <p:spPr>
          <a:xfrm>
            <a:off x="530352" y="1353312"/>
            <a:ext cx="6437376" cy="4037076"/>
          </a:xfrm>
          <a:prstGeom prst="rect">
            <a:avLst/>
          </a:prstGeom>
          <a:solidFill>
            <a:schemeClr val="bg1"/>
          </a:solidFill>
          <a:ln w="12700">
            <a:solidFill>
              <a:srgbClr val="D5DBE2"/>
            </a:solidFill>
            <a:prstDash val="solid"/>
          </a:ln>
          <a:effectLst>
            <a:outerShdw sx="100000" sy="100000" kx="0" ky="0" algn="bl" rotWithShape="0" blurRad="127000" dist="38100" dir="5400000">
              <a:srgbClr val="14254F">
                <a:alpha val="18000"/>
              </a:srgbClr>
            </a:outerShdw>
          </a:effectLst>
        </p:spPr>
      </p:sp>
      <p:pic>
        <p:nvPicPr>
          <p:cNvPr id="6" name="shot-20-search" descr="20-search">    </p:cNvPr>
          <p:cNvPicPr>
            <a:picLocks noChangeAspect="1"/>
          </p:cNvPicPr>
          <p:nvPr/>
        </p:nvPicPr>
        <p:blipFill>
          <a:blip r:embed="rId1"/>
          <a:stretch>
            <a:fillRect/>
          </a:stretch>
        </p:blipFill>
        <p:spPr>
          <a:xfrm>
            <a:off x="548640" y="1371600"/>
            <a:ext cx="6400800" cy="4000500"/>
          </a:xfrm>
          <a:prstGeom prst="rect">
            <a:avLst/>
          </a:prstGeom>
        </p:spPr>
      </p:pic>
      <p:sp>
        <p:nvSpPr>
          <p:cNvPr id="7" name="Text 4"/>
          <p:cNvSpPr txBox="1"/>
          <p:nvPr/>
        </p:nvSpPr>
        <p:spPr>
          <a:xfrm>
            <a:off x="7315200" y="1371600"/>
            <a:ext cx="4297680" cy="365760"/>
          </a:xfrm>
          <a:prstGeom prst="rect">
            <a:avLst/>
          </a:prstGeom>
          <a:noFill/>
          <a:ln/>
        </p:spPr>
        <p:txBody>
          <a:bodyPr wrap="square" lIns="0" tIns="0" rIns="0" bIns="0" rtlCol="0" anchor="ctr"/>
          <a:lstStyle/>
          <a:p>
            <a:pPr indent="0" marL="0">
              <a:buNone/>
            </a:pPr>
            <a:r>
              <a:rPr lang="en-US" sz="1800" b="1" dirty="0">
                <a:solidFill>
                  <a:schemeClr val="tx2"/>
                </a:solidFill>
              </a:rPr>
              <a:t>Inside RFPIS</a:t>
            </a:r>
            <a:endParaRPr lang="en-US" sz="1800" dirty="0"/>
          </a:p>
        </p:txBody>
      </p:sp>
      <p:sp>
        <p:nvSpPr>
          <p:cNvPr id="8" name="step-dot-1"/>
          <p:cNvSpPr/>
          <p:nvPr/>
        </p:nvSpPr>
        <p:spPr>
          <a:xfrm>
            <a:off x="7315200" y="1828800"/>
            <a:ext cx="365760" cy="365760"/>
          </a:xfrm>
          <a:prstGeom prst="ellipse">
            <a:avLst/>
          </a:prstGeom>
          <a:solidFill>
            <a:schemeClr val="accent1"/>
          </a:solidFill>
          <a:ln w="12700">
            <a:solidFill>
              <a:schemeClr val="accent1"/>
            </a:solidFill>
            <a:prstDash val="solid"/>
          </a:ln>
        </p:spPr>
      </p:sp>
      <p:sp>
        <p:nvSpPr>
          <p:cNvPr id="9" name="Text 6"/>
          <p:cNvSpPr txBox="1"/>
          <p:nvPr/>
        </p:nvSpPr>
        <p:spPr>
          <a:xfrm>
            <a:off x="7315200" y="1828800"/>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10" name="Text 7"/>
          <p:cNvSpPr txBox="1"/>
          <p:nvPr/>
        </p:nvSpPr>
        <p:spPr>
          <a:xfrm>
            <a:off x="7818120" y="1773936"/>
            <a:ext cx="3794760" cy="685800"/>
          </a:xfrm>
          <a:prstGeom prst="rect">
            <a:avLst/>
          </a:prstGeom>
          <a:noFill/>
          <a:ln/>
        </p:spPr>
        <p:txBody>
          <a:bodyPr wrap="square" lIns="0" tIns="0" rIns="0" bIns="0" rtlCol="0" anchor="t"/>
          <a:lstStyle/>
          <a:p>
            <a:pPr indent="0" marL="0">
              <a:buNone/>
            </a:pPr>
            <a:r>
              <a:rPr lang="en-US" sz="1400" dirty="0">
                <a:solidFill>
                  <a:schemeClr val="tx1"/>
                </a:solidFill>
              </a:rPr>
              <a:t>Click 🔍 in the top bar, type 2+ characters, Search</a:t>
            </a:r>
            <a:endParaRPr lang="en-US" sz="1400" dirty="0"/>
          </a:p>
        </p:txBody>
      </p:sp>
      <p:sp>
        <p:nvSpPr>
          <p:cNvPr id="11" name="step-dot-2"/>
          <p:cNvSpPr/>
          <p:nvPr/>
        </p:nvSpPr>
        <p:spPr>
          <a:xfrm>
            <a:off x="7315200" y="2514600"/>
            <a:ext cx="365760" cy="365760"/>
          </a:xfrm>
          <a:prstGeom prst="ellipse">
            <a:avLst/>
          </a:prstGeom>
          <a:solidFill>
            <a:schemeClr val="accent1"/>
          </a:solidFill>
          <a:ln w="12700">
            <a:solidFill>
              <a:schemeClr val="accent1"/>
            </a:solidFill>
            <a:prstDash val="solid"/>
          </a:ln>
        </p:spPr>
      </p:sp>
      <p:sp>
        <p:nvSpPr>
          <p:cNvPr id="12" name="Text 9"/>
          <p:cNvSpPr txBox="1"/>
          <p:nvPr/>
        </p:nvSpPr>
        <p:spPr>
          <a:xfrm>
            <a:off x="7315200" y="2514600"/>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3" name="Text 10"/>
          <p:cNvSpPr txBox="1"/>
          <p:nvPr/>
        </p:nvSpPr>
        <p:spPr>
          <a:xfrm>
            <a:off x="7818120" y="2459736"/>
            <a:ext cx="3794760" cy="685800"/>
          </a:xfrm>
          <a:prstGeom prst="rect">
            <a:avLst/>
          </a:prstGeom>
          <a:noFill/>
          <a:ln/>
        </p:spPr>
        <p:txBody>
          <a:bodyPr wrap="square" lIns="0" tIns="0" rIns="0" bIns="0" rtlCol="0" anchor="t"/>
          <a:lstStyle/>
          <a:p>
            <a:pPr indent="0" marL="0">
              <a:buNone/>
            </a:pPr>
            <a:r>
              <a:rPr lang="en-US" sz="1400" dirty="0">
                <a:solidFill>
                  <a:schemeClr val="tx1"/>
                </a:solidFill>
              </a:rPr>
              <a:t>Results: Pages &amp; tabs · Opportunities · Donors</a:t>
            </a:r>
            <a:endParaRPr lang="en-US" sz="1400" dirty="0"/>
          </a:p>
        </p:txBody>
      </p:sp>
      <p:sp>
        <p:nvSpPr>
          <p:cNvPr id="14" name="Text 11"/>
          <p:cNvSpPr txBox="1"/>
          <p:nvPr/>
        </p:nvSpPr>
        <p:spPr>
          <a:xfrm>
            <a:off x="7315200" y="3337560"/>
            <a:ext cx="4297680" cy="365760"/>
          </a:xfrm>
          <a:prstGeom prst="rect">
            <a:avLst/>
          </a:prstGeom>
          <a:noFill/>
          <a:ln/>
        </p:spPr>
        <p:txBody>
          <a:bodyPr wrap="square" lIns="0" tIns="0" rIns="0" bIns="0" rtlCol="0" anchor="ctr"/>
          <a:lstStyle/>
          <a:p>
            <a:pPr indent="0" marL="0">
              <a:buNone/>
            </a:pPr>
            <a:r>
              <a:rPr lang="en-US" sz="1800" b="1" dirty="0">
                <a:solidFill>
                  <a:schemeClr val="tx2"/>
                </a:solidFill>
              </a:rPr>
              <a:t>On the web</a:t>
            </a:r>
            <a:endParaRPr lang="en-US" sz="1800" dirty="0"/>
          </a:p>
        </p:txBody>
      </p:sp>
      <p:sp>
        <p:nvSpPr>
          <p:cNvPr id="15" name="step-dot-1"/>
          <p:cNvSpPr/>
          <p:nvPr/>
        </p:nvSpPr>
        <p:spPr>
          <a:xfrm>
            <a:off x="7315200" y="3794760"/>
            <a:ext cx="365760" cy="365760"/>
          </a:xfrm>
          <a:prstGeom prst="ellipse">
            <a:avLst/>
          </a:prstGeom>
          <a:solidFill>
            <a:schemeClr val="accent1"/>
          </a:solidFill>
          <a:ln w="12700">
            <a:solidFill>
              <a:schemeClr val="accent1"/>
            </a:solidFill>
            <a:prstDash val="solid"/>
          </a:ln>
        </p:spPr>
      </p:sp>
      <p:sp>
        <p:nvSpPr>
          <p:cNvPr id="16" name="Text 13"/>
          <p:cNvSpPr txBox="1"/>
          <p:nvPr/>
        </p:nvSpPr>
        <p:spPr>
          <a:xfrm>
            <a:off x="7315200" y="3794760"/>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17" name="Text 14"/>
          <p:cNvSpPr txBox="1"/>
          <p:nvPr/>
        </p:nvSpPr>
        <p:spPr>
          <a:xfrm>
            <a:off x="7818120" y="3739896"/>
            <a:ext cx="3794760" cy="685800"/>
          </a:xfrm>
          <a:prstGeom prst="rect">
            <a:avLst/>
          </a:prstGeom>
          <a:noFill/>
          <a:ln/>
        </p:spPr>
        <p:txBody>
          <a:bodyPr wrap="square" lIns="0" tIns="0" rIns="0" bIns="0" rtlCol="0" anchor="t"/>
          <a:lstStyle/>
          <a:p>
            <a:pPr indent="0" marL="0">
              <a:buNone/>
            </a:pPr>
            <a:r>
              <a:rPr lang="en-US" sz="1400" dirty="0">
                <a:solidFill>
                  <a:schemeClr val="tx1"/>
                </a:solidFill>
              </a:rPr>
              <a:t>Full search page → 🌐 Search the web for “…”</a:t>
            </a:r>
            <a:endParaRPr lang="en-US" sz="1400" dirty="0"/>
          </a:p>
        </p:txBody>
      </p:sp>
      <p:sp>
        <p:nvSpPr>
          <p:cNvPr id="18" name="step-dot-2"/>
          <p:cNvSpPr/>
          <p:nvPr/>
        </p:nvSpPr>
        <p:spPr>
          <a:xfrm>
            <a:off x="7315200" y="4480560"/>
            <a:ext cx="365760" cy="365760"/>
          </a:xfrm>
          <a:prstGeom prst="ellipse">
            <a:avLst/>
          </a:prstGeom>
          <a:solidFill>
            <a:schemeClr val="accent1"/>
          </a:solidFill>
          <a:ln w="12700">
            <a:solidFill>
              <a:schemeClr val="accent1"/>
            </a:solidFill>
            <a:prstDash val="solid"/>
          </a:ln>
        </p:spPr>
      </p:sp>
      <p:sp>
        <p:nvSpPr>
          <p:cNvPr id="19" name="Text 16"/>
          <p:cNvSpPr txBox="1"/>
          <p:nvPr/>
        </p:nvSpPr>
        <p:spPr>
          <a:xfrm>
            <a:off x="7315200" y="4480560"/>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20" name="Text 17"/>
          <p:cNvSpPr txBox="1"/>
          <p:nvPr/>
        </p:nvSpPr>
        <p:spPr>
          <a:xfrm>
            <a:off x="7818120" y="4425696"/>
            <a:ext cx="3794760" cy="685800"/>
          </a:xfrm>
          <a:prstGeom prst="rect">
            <a:avLst/>
          </a:prstGeom>
          <a:noFill/>
          <a:ln/>
        </p:spPr>
        <p:txBody>
          <a:bodyPr wrap="square" lIns="0" tIns="0" rIns="0" bIns="0" rtlCol="0" anchor="t"/>
          <a:lstStyle/>
          <a:p>
            <a:pPr indent="0" marL="0">
              <a:buNone/>
            </a:pPr>
            <a:r>
              <a:rPr lang="en-US" sz="1400" dirty="0">
                <a:solidFill>
                  <a:schemeClr val="tx1"/>
                </a:solidFill>
              </a:rPr>
              <a:t>Rate results 👍 😐 👎 to sharpen future searches</a:t>
            </a:r>
            <a:endParaRPr lang="en-US" sz="1400" dirty="0"/>
          </a:p>
        </p:txBody>
      </p:sp>
      <p:sp>
        <p:nvSpPr>
          <p:cNvPr id="21" name="step-dot-3"/>
          <p:cNvSpPr/>
          <p:nvPr/>
        </p:nvSpPr>
        <p:spPr>
          <a:xfrm>
            <a:off x="7315200" y="5166360"/>
            <a:ext cx="365760" cy="365760"/>
          </a:xfrm>
          <a:prstGeom prst="ellipse">
            <a:avLst/>
          </a:prstGeom>
          <a:solidFill>
            <a:schemeClr val="accent1"/>
          </a:solidFill>
          <a:ln w="12700">
            <a:solidFill>
              <a:schemeClr val="accent1"/>
            </a:solidFill>
            <a:prstDash val="solid"/>
          </a:ln>
        </p:spPr>
      </p:sp>
      <p:sp>
        <p:nvSpPr>
          <p:cNvPr id="22" name="Text 19"/>
          <p:cNvSpPr txBox="1"/>
          <p:nvPr/>
        </p:nvSpPr>
        <p:spPr>
          <a:xfrm>
            <a:off x="7315200" y="5166360"/>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23" name="Text 20"/>
          <p:cNvSpPr txBox="1"/>
          <p:nvPr/>
        </p:nvSpPr>
        <p:spPr>
          <a:xfrm>
            <a:off x="7818120" y="5111496"/>
            <a:ext cx="3794760" cy="685800"/>
          </a:xfrm>
          <a:prstGeom prst="rect">
            <a:avLst/>
          </a:prstGeom>
          <a:noFill/>
          <a:ln/>
        </p:spPr>
        <p:txBody>
          <a:bodyPr wrap="square" lIns="0" tIns="0" rIns="0" bIns="0" rtlCol="0" anchor="t"/>
          <a:lstStyle/>
          <a:p>
            <a:pPr indent="0" marL="0">
              <a:buNone/>
            </a:pPr>
            <a:r>
              <a:rPr lang="en-US" sz="1400" dirty="0">
                <a:solidFill>
                  <a:schemeClr val="tx1"/>
                </a:solidFill>
              </a:rPr>
              <a:t>Real call? ➕ Track adds and scores it</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rPr>
              <a:t>Submit an RFP you found elsewhere</a:t>
            </a:r>
            <a:endParaRPr lang="en-US" sz="3200" dirty="0"/>
          </a:p>
        </p:txBody>
      </p:sp>
      <p:sp>
        <p:nvSpPr>
          <p:cNvPr id="3" name="Shape 1"/>
          <p:cNvSpPr/>
          <p:nvPr/>
        </p:nvSpPr>
        <p:spPr>
          <a:xfrm>
            <a:off x="10195560" y="548640"/>
            <a:ext cx="1417320" cy="310896"/>
          </a:xfrm>
          <a:prstGeom prst="roundRect">
            <a:avLst>
              <a:gd name="adj" fmla="val 50000"/>
            </a:avLst>
          </a:prstGeom>
          <a:solidFill>
            <a:srgbClr val="E6F2EB"/>
          </a:solidFill>
          <a:ln w="12700">
            <a:solidFill>
              <a:srgbClr val="E6F2EB"/>
            </a:solidFill>
            <a:prstDash val="solid"/>
          </a:ln>
        </p:spPr>
      </p:sp>
      <p:sp>
        <p:nvSpPr>
          <p:cNvPr id="4" name="Text 2"/>
          <p:cNvSpPr txBox="1"/>
          <p:nvPr/>
        </p:nvSpPr>
        <p:spPr>
          <a:xfrm>
            <a:off x="10195560" y="548640"/>
            <a:ext cx="1417320" cy="310896"/>
          </a:xfrm>
          <a:prstGeom prst="rect">
            <a:avLst/>
          </a:prstGeom>
          <a:noFill/>
          <a:ln/>
        </p:spPr>
        <p:txBody>
          <a:bodyPr wrap="square" lIns="0" tIns="0" rIns="0" bIns="0" rtlCol="0" anchor="ctr"/>
          <a:lstStyle/>
          <a:p>
            <a:pPr algn="ctr" indent="0" marL="0">
              <a:buNone/>
            </a:pPr>
            <a:r>
              <a:rPr lang="en-US" sz="1100" b="1" spc="100" kern="0" dirty="0">
                <a:solidFill>
                  <a:schemeClr val="accent1"/>
                </a:solidFill>
              </a:rPr>
              <a:t>KEY TASK</a:t>
            </a:r>
            <a:endParaRPr lang="en-US" sz="1100" dirty="0"/>
          </a:p>
        </p:txBody>
      </p:sp>
      <p:sp>
        <p:nvSpPr>
          <p:cNvPr id="5" name="step-dot-1"/>
          <p:cNvSpPr/>
          <p:nvPr/>
        </p:nvSpPr>
        <p:spPr>
          <a:xfrm>
            <a:off x="548640" y="1463040"/>
            <a:ext cx="365760" cy="365760"/>
          </a:xfrm>
          <a:prstGeom prst="ellipse">
            <a:avLst/>
          </a:prstGeom>
          <a:solidFill>
            <a:schemeClr val="accent1"/>
          </a:solidFill>
          <a:ln w="12700">
            <a:solidFill>
              <a:schemeClr val="accent1"/>
            </a:solidFill>
            <a:prstDash val="solid"/>
          </a:ln>
        </p:spPr>
      </p:sp>
      <p:sp>
        <p:nvSpPr>
          <p:cNvPr id="6" name="Text 4"/>
          <p:cNvSpPr txBox="1"/>
          <p:nvPr/>
        </p:nvSpPr>
        <p:spPr>
          <a:xfrm>
            <a:off x="548640" y="1463040"/>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7" name="Text 5"/>
          <p:cNvSpPr txBox="1"/>
          <p:nvPr/>
        </p:nvSpPr>
        <p:spPr>
          <a:xfrm>
            <a:off x="1051560" y="1408176"/>
            <a:ext cx="4617720" cy="868680"/>
          </a:xfrm>
          <a:prstGeom prst="rect">
            <a:avLst/>
          </a:prstGeom>
          <a:noFill/>
          <a:ln/>
        </p:spPr>
        <p:txBody>
          <a:bodyPr wrap="square" lIns="0" tIns="0" rIns="0" bIns="0" rtlCol="0" anchor="t"/>
          <a:lstStyle/>
          <a:p>
            <a:pPr indent="0" marL="0">
              <a:buNone/>
            </a:pPr>
            <a:r>
              <a:rPr lang="en-US" sz="1500" dirty="0">
                <a:solidFill>
                  <a:schemeClr val="tx1"/>
                </a:solidFill>
              </a:rPr>
              <a:t>Pipelines → Screen → 📝 Submit New Funding</a:t>
            </a:r>
            <a:endParaRPr lang="en-US" sz="1500" dirty="0"/>
          </a:p>
        </p:txBody>
      </p:sp>
      <p:sp>
        <p:nvSpPr>
          <p:cNvPr id="8" name="step-dot-2"/>
          <p:cNvSpPr/>
          <p:nvPr/>
        </p:nvSpPr>
        <p:spPr>
          <a:xfrm>
            <a:off x="548640" y="2331720"/>
            <a:ext cx="365760" cy="365760"/>
          </a:xfrm>
          <a:prstGeom prst="ellipse">
            <a:avLst/>
          </a:prstGeom>
          <a:solidFill>
            <a:schemeClr val="accent1"/>
          </a:solidFill>
          <a:ln w="12700">
            <a:solidFill>
              <a:schemeClr val="accent1"/>
            </a:solidFill>
            <a:prstDash val="solid"/>
          </a:ln>
        </p:spPr>
      </p:sp>
      <p:sp>
        <p:nvSpPr>
          <p:cNvPr id="9" name="Text 7"/>
          <p:cNvSpPr txBox="1"/>
          <p:nvPr/>
        </p:nvSpPr>
        <p:spPr>
          <a:xfrm>
            <a:off x="548640" y="2331720"/>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0" name="Text 8"/>
          <p:cNvSpPr txBox="1"/>
          <p:nvPr/>
        </p:nvSpPr>
        <p:spPr>
          <a:xfrm>
            <a:off x="1051560" y="2276856"/>
            <a:ext cx="4617720" cy="868680"/>
          </a:xfrm>
          <a:prstGeom prst="rect">
            <a:avLst/>
          </a:prstGeom>
          <a:noFill/>
          <a:ln/>
        </p:spPr>
        <p:txBody>
          <a:bodyPr wrap="square" lIns="0" tIns="0" rIns="0" bIns="0" rtlCol="0" anchor="t"/>
          <a:lstStyle/>
          <a:p>
            <a:pPr indent="0" marL="0">
              <a:buNone/>
            </a:pPr>
            <a:r>
              <a:rPr lang="en-US" sz="1500" dirty="0">
                <a:solidFill>
                  <a:schemeClr val="tx1"/>
                </a:solidFill>
              </a:rPr>
              <a:t>1 · Title*, Donor*, deadline, link (URL), value, Lead applicant*</a:t>
            </a:r>
            <a:endParaRPr lang="en-US" sz="1500" dirty="0"/>
          </a:p>
        </p:txBody>
      </p:sp>
      <p:sp>
        <p:nvSpPr>
          <p:cNvPr id="11" name="step-dot-3"/>
          <p:cNvSpPr/>
          <p:nvPr/>
        </p:nvSpPr>
        <p:spPr>
          <a:xfrm>
            <a:off x="548640" y="3200400"/>
            <a:ext cx="365760" cy="365760"/>
          </a:xfrm>
          <a:prstGeom prst="ellipse">
            <a:avLst/>
          </a:prstGeom>
          <a:solidFill>
            <a:schemeClr val="accent1"/>
          </a:solidFill>
          <a:ln w="12700">
            <a:solidFill>
              <a:schemeClr val="accent1"/>
            </a:solidFill>
            <a:prstDash val="solid"/>
          </a:ln>
        </p:spPr>
      </p:sp>
      <p:sp>
        <p:nvSpPr>
          <p:cNvPr id="12" name="Text 10"/>
          <p:cNvSpPr txBox="1"/>
          <p:nvPr/>
        </p:nvSpPr>
        <p:spPr>
          <a:xfrm>
            <a:off x="548640" y="3200400"/>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3" name="Text 11"/>
          <p:cNvSpPr txBox="1"/>
          <p:nvPr/>
        </p:nvSpPr>
        <p:spPr>
          <a:xfrm>
            <a:off x="1051560" y="3145536"/>
            <a:ext cx="4617720" cy="868680"/>
          </a:xfrm>
          <a:prstGeom prst="rect">
            <a:avLst/>
          </a:prstGeom>
          <a:noFill/>
          <a:ln/>
        </p:spPr>
        <p:txBody>
          <a:bodyPr wrap="square" lIns="0" tIns="0" rIns="0" bIns="0" rtlCol="0" anchor="t"/>
          <a:lstStyle/>
          <a:p>
            <a:pPr indent="0" marL="0">
              <a:buNone/>
            </a:pPr>
            <a:r>
              <a:rPr lang="en-US" sz="1500" dirty="0">
                <a:solidFill>
                  <a:schemeClr val="tx1"/>
                </a:solidFill>
              </a:rPr>
              <a:t>2 · Nine eligibility questions — “Not sure” is fine</a:t>
            </a:r>
            <a:endParaRPr lang="en-US" sz="1500" dirty="0"/>
          </a:p>
        </p:txBody>
      </p:sp>
      <p:sp>
        <p:nvSpPr>
          <p:cNvPr id="14" name="step-dot-4"/>
          <p:cNvSpPr/>
          <p:nvPr/>
        </p:nvSpPr>
        <p:spPr>
          <a:xfrm>
            <a:off x="548640" y="4069080"/>
            <a:ext cx="365760" cy="365760"/>
          </a:xfrm>
          <a:prstGeom prst="ellipse">
            <a:avLst/>
          </a:prstGeom>
          <a:solidFill>
            <a:schemeClr val="accent1"/>
          </a:solidFill>
          <a:ln w="12700">
            <a:solidFill>
              <a:schemeClr val="accent1"/>
            </a:solidFill>
            <a:prstDash val="solid"/>
          </a:ln>
        </p:spPr>
      </p:sp>
      <p:sp>
        <p:nvSpPr>
          <p:cNvPr id="15" name="Text 13"/>
          <p:cNvSpPr txBox="1"/>
          <p:nvPr/>
        </p:nvSpPr>
        <p:spPr>
          <a:xfrm>
            <a:off x="548640" y="4069080"/>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16" name="Text 14"/>
          <p:cNvSpPr txBox="1"/>
          <p:nvPr/>
        </p:nvSpPr>
        <p:spPr>
          <a:xfrm>
            <a:off x="1051560" y="4014216"/>
            <a:ext cx="4617720" cy="868680"/>
          </a:xfrm>
          <a:prstGeom prst="rect">
            <a:avLst/>
          </a:prstGeom>
          <a:noFill/>
          <a:ln/>
        </p:spPr>
        <p:txBody>
          <a:bodyPr wrap="square" lIns="0" tIns="0" rIns="0" bIns="0" rtlCol="0" anchor="t"/>
          <a:lstStyle/>
          <a:p>
            <a:pPr indent="0" marL="0">
              <a:buNone/>
            </a:pPr>
            <a:r>
              <a:rPr lang="en-US" sz="1500" dirty="0">
                <a:solidFill>
                  <a:schemeClr val="tx1"/>
                </a:solidFill>
              </a:rPr>
              <a:t>3 · Decline flags*  ·  4 · Bid decision*  ·  5 · Proposal lead*</a:t>
            </a:r>
            <a:endParaRPr lang="en-US" sz="1500" dirty="0"/>
          </a:p>
        </p:txBody>
      </p:sp>
      <p:sp>
        <p:nvSpPr>
          <p:cNvPr id="17" name="step-dot-5"/>
          <p:cNvSpPr/>
          <p:nvPr/>
        </p:nvSpPr>
        <p:spPr>
          <a:xfrm>
            <a:off x="548640" y="4937760"/>
            <a:ext cx="365760" cy="365760"/>
          </a:xfrm>
          <a:prstGeom prst="ellipse">
            <a:avLst/>
          </a:prstGeom>
          <a:solidFill>
            <a:schemeClr val="accent1"/>
          </a:solidFill>
          <a:ln w="12700">
            <a:solidFill>
              <a:schemeClr val="accent1"/>
            </a:solidFill>
            <a:prstDash val="solid"/>
          </a:ln>
        </p:spPr>
      </p:sp>
      <p:sp>
        <p:nvSpPr>
          <p:cNvPr id="18" name="Text 16"/>
          <p:cNvSpPr txBox="1"/>
          <p:nvPr/>
        </p:nvSpPr>
        <p:spPr>
          <a:xfrm>
            <a:off x="548640" y="4937760"/>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rPr>
              <a:t>5</a:t>
            </a:r>
            <a:endParaRPr lang="en-US" sz="1400" dirty="0"/>
          </a:p>
        </p:txBody>
      </p:sp>
      <p:sp>
        <p:nvSpPr>
          <p:cNvPr id="19" name="Text 17"/>
          <p:cNvSpPr txBox="1"/>
          <p:nvPr/>
        </p:nvSpPr>
        <p:spPr>
          <a:xfrm>
            <a:off x="1051560" y="4882896"/>
            <a:ext cx="4617720" cy="868680"/>
          </a:xfrm>
          <a:prstGeom prst="rect">
            <a:avLst/>
          </a:prstGeom>
          <a:noFill/>
          <a:ln/>
        </p:spPr>
        <p:txBody>
          <a:bodyPr wrap="square" lIns="0" tIns="0" rIns="0" bIns="0" rtlCol="0" anchor="t"/>
          <a:lstStyle/>
          <a:p>
            <a:pPr indent="0" marL="0">
              <a:buNone/>
            </a:pPr>
            <a:r>
              <a:rPr lang="en-US" sz="1500" dirty="0">
                <a:solidFill>
                  <a:schemeClr val="tx1"/>
                </a:solidFill>
              </a:rPr>
              <a:t>Click Submit RFP → “Submitted as UID — alignment score X/100”</a:t>
            </a:r>
            <a:endParaRPr lang="en-US" sz="1500" dirty="0"/>
          </a:p>
        </p:txBody>
      </p:sp>
      <p:sp>
        <p:nvSpPr>
          <p:cNvPr id="20" name="frame-21-submit"/>
          <p:cNvSpPr/>
          <p:nvPr/>
        </p:nvSpPr>
        <p:spPr>
          <a:xfrm>
            <a:off x="6016752" y="1399032"/>
            <a:ext cx="5614416" cy="3522726"/>
          </a:xfrm>
          <a:prstGeom prst="rect">
            <a:avLst/>
          </a:prstGeom>
          <a:solidFill>
            <a:schemeClr val="bg1"/>
          </a:solidFill>
          <a:ln w="12700">
            <a:solidFill>
              <a:srgbClr val="D5DBE2"/>
            </a:solidFill>
            <a:prstDash val="solid"/>
          </a:ln>
          <a:effectLst>
            <a:outerShdw sx="100000" sy="100000" kx="0" ky="0" algn="bl" rotWithShape="0" blurRad="127000" dist="38100" dir="5400000">
              <a:srgbClr val="14254F">
                <a:alpha val="18000"/>
              </a:srgbClr>
            </a:outerShdw>
          </a:effectLst>
        </p:spPr>
      </p:sp>
      <p:pic>
        <p:nvPicPr>
          <p:cNvPr id="21" name="shot-21-submit" descr="📝 Submit New RFP">    </p:cNvPr>
          <p:cNvPicPr>
            <a:picLocks noChangeAspect="1"/>
          </p:cNvPicPr>
          <p:nvPr/>
        </p:nvPicPr>
        <p:blipFill>
          <a:blip r:embed="rId1"/>
          <a:stretch>
            <a:fillRect/>
          </a:stretch>
        </p:blipFill>
        <p:spPr>
          <a:xfrm>
            <a:off x="6035040" y="1417320"/>
            <a:ext cx="5577840" cy="3486150"/>
          </a:xfrm>
          <a:prstGeom prst="rect">
            <a:avLst/>
          </a:prstGeom>
        </p:spPr>
      </p:pic>
      <p:sp>
        <p:nvSpPr>
          <p:cNvPr id="22" name="Text 19"/>
          <p:cNvSpPr txBox="1"/>
          <p:nvPr/>
        </p:nvSpPr>
        <p:spPr>
          <a:xfrm>
            <a:off x="6035040" y="4976622"/>
            <a:ext cx="5577840" cy="274320"/>
          </a:xfrm>
          <a:prstGeom prst="rect">
            <a:avLst/>
          </a:prstGeom>
          <a:noFill/>
          <a:ln/>
        </p:spPr>
        <p:txBody>
          <a:bodyPr wrap="square" lIns="0" tIns="0" rIns="0" bIns="0" rtlCol="0" anchor="ctr"/>
          <a:lstStyle/>
          <a:p>
            <a:pPr algn="ctr" indent="0" marL="0">
              <a:buNone/>
            </a:pPr>
            <a:r>
              <a:rPr lang="en-US" sz="1100" i="1" dirty="0">
                <a:solidFill>
                  <a:srgbClr val="5B6573"/>
                </a:solidFill>
              </a:rPr>
              <a:t>📝 Submit New RFP</a:t>
            </a:r>
            <a:endParaRPr lang="en-US" sz="1100" dirty="0"/>
          </a:p>
        </p:txBody>
      </p:sp>
      <p:sp>
        <p:nvSpPr>
          <p:cNvPr id="23" name="callout-amber"/>
          <p:cNvSpPr/>
          <p:nvPr/>
        </p:nvSpPr>
        <p:spPr>
          <a:xfrm>
            <a:off x="548640" y="5715000"/>
            <a:ext cx="5120640" cy="640080"/>
          </a:xfrm>
          <a:prstGeom prst="roundRect">
            <a:avLst>
              <a:gd name="adj" fmla="val 17143"/>
            </a:avLst>
          </a:prstGeom>
          <a:solidFill>
            <a:srgbClr val="FFF4E0"/>
          </a:solidFill>
          <a:ln w="12700">
            <a:solidFill>
              <a:srgbClr val="F3D9A8"/>
            </a:solidFill>
            <a:prstDash val="solid"/>
          </a:ln>
        </p:spPr>
      </p:sp>
      <p:sp>
        <p:nvSpPr>
          <p:cNvPr id="24" name="Text 21"/>
          <p:cNvSpPr txBox="1"/>
          <p:nvPr/>
        </p:nvSpPr>
        <p:spPr>
          <a:xfrm>
            <a:off x="731520" y="5824728"/>
            <a:ext cx="4754880" cy="420624"/>
          </a:xfrm>
          <a:prstGeom prst="rect">
            <a:avLst/>
          </a:prstGeom>
          <a:noFill/>
          <a:ln/>
        </p:spPr>
        <p:txBody>
          <a:bodyPr wrap="square" lIns="0" tIns="0" rIns="0" bIns="0" rtlCol="0" anchor="t"/>
          <a:lstStyle/>
          <a:p>
            <a:pPr indent="0" marL="0">
              <a:spcAft>
                <a:spcPts val="400"/>
              </a:spcAft>
              <a:buNone/>
            </a:pPr>
            <a:r>
              <a:rPr lang="en-US" sz="1400" b="1" dirty="0">
                <a:solidFill>
                  <a:schemeClr val="accent4"/>
                </a:solidFill>
              </a:rPr>
              <a:t>Always paste the link</a:t>
            </a:r>
            <a:endParaRPr lang="en-US" sz="1400" dirty="0"/>
          </a:p>
          <a:p>
            <a:pPr indent="0" marL="0">
              <a:spcAft>
                <a:spcPts val="400"/>
              </a:spcAft>
              <a:buNone/>
            </a:pPr>
            <a:r>
              <a:rPr lang="en-US" sz="1400" dirty="0">
                <a:solidFill>
                  <a:schemeClr val="tx1"/>
                </a:solidFill>
              </a:rPr>
              <a:t>It lets RFPIS share the call with other organisations and recheck it.</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731520" y="2651760"/>
            <a:ext cx="10515600" cy="1097280"/>
          </a:xfrm>
          <a:prstGeom prst="rect">
            <a:avLst/>
          </a:prstGeom>
          <a:noFill/>
          <a:ln/>
        </p:spPr>
        <p:txBody>
          <a:bodyPr wrap="square" lIns="0" tIns="0" rIns="0" bIns="0" rtlCol="0"/>
          <a:lstStyle/>
          <a:p>
            <a:pPr algn="l" indent="0" marL="0">
              <a:buNone/>
            </a:pPr>
            <a:r>
              <a:rPr lang="en-US" sz="4000" b="1" dirty="0">
                <a:solidFill>
                  <a:schemeClr val="bg1"/>
                </a:solidFill>
              </a:rPr>
              <a:t>Team meetings</a:t>
            </a:r>
            <a:endParaRPr lang="en-US" sz="4000" dirty="0"/>
          </a:p>
        </p:txBody>
      </p:sp>
      <p:sp>
        <p:nvSpPr>
          <p:cNvPr id="3" name="Text 0"/>
          <p:cNvSpPr/>
          <p:nvPr>
            <p:ph idx="101" type="body" hasCustomPrompt="1"/>
          </p:nvPr>
        </p:nvSpPr>
        <p:spPr>
          <a:xfrm>
            <a:off x="731520" y="3794760"/>
            <a:ext cx="10515600" cy="822960"/>
          </a:xfrm>
          <a:prstGeom prst="rect">
            <a:avLst/>
          </a:prstGeom>
          <a:noFill/>
          <a:ln/>
        </p:spPr>
        <p:txBody>
          <a:bodyPr wrap="square" lIns="0" tIns="0" rIns="0" bIns="0" rtlCol="0"/>
          <a:lstStyle/>
          <a:p>
            <a:pPr algn="l" indent="0" marL="0">
              <a:buNone/>
            </a:pPr>
            <a:r>
              <a:rPr lang="en-US" sz="2000" dirty="0">
                <a:solidFill>
                  <a:schemeClr val="bg1"/>
                </a:solidFill>
              </a:rPr>
              <a:t>Where most of us work in RFPIS: notes, actions and follow-ups</a:t>
            </a:r>
            <a:endParaRPr lang="en-US" sz="2000" dirty="0"/>
          </a:p>
        </p:txBody>
      </p:sp>
      <p:sp>
        <p:nvSpPr>
          <p:cNvPr id="4" name="ring-0"/>
          <p:cNvSpPr/>
          <p:nvPr/>
        </p:nvSpPr>
        <p:spPr>
          <a:xfrm>
            <a:off x="8778240" y="1965960"/>
            <a:ext cx="2926080" cy="2926080"/>
          </a:xfrm>
          <a:prstGeom prst="ellipse">
            <a:avLst/>
          </a:prstGeom>
          <a:ln w="19050">
            <a:solidFill>
              <a:schemeClr val="bg1">
                <a:alpha val="60000"/>
              </a:schemeClr>
            </a:solidFill>
            <a:prstDash val="solid"/>
          </a:ln>
        </p:spPr>
      </p:sp>
      <p:sp>
        <p:nvSpPr>
          <p:cNvPr id="5" name="ring-1"/>
          <p:cNvSpPr/>
          <p:nvPr/>
        </p:nvSpPr>
        <p:spPr>
          <a:xfrm>
            <a:off x="9144000" y="2331720"/>
            <a:ext cx="2194560" cy="2194560"/>
          </a:xfrm>
          <a:prstGeom prst="ellipse">
            <a:avLst/>
          </a:prstGeom>
          <a:ln w="19050">
            <a:solidFill>
              <a:schemeClr val="bg1">
                <a:alpha val="50000"/>
              </a:schemeClr>
            </a:solidFill>
            <a:prstDash val="solid"/>
          </a:ln>
        </p:spPr>
      </p:sp>
      <p:sp>
        <p:nvSpPr>
          <p:cNvPr id="6" name="ring-2"/>
          <p:cNvSpPr/>
          <p:nvPr/>
        </p:nvSpPr>
        <p:spPr>
          <a:xfrm>
            <a:off x="9509760" y="2697480"/>
            <a:ext cx="1463040" cy="1463040"/>
          </a:xfrm>
          <a:prstGeom prst="ellipse">
            <a:avLst/>
          </a:prstGeom>
          <a:ln w="19050">
            <a:solidFill>
              <a:schemeClr val="bg1">
                <a:alpha val="40000"/>
              </a:schemeClr>
            </a:solidFill>
            <a:prstDash val="solid"/>
          </a:ln>
        </p:spPr>
      </p:sp>
      <p:sp>
        <p:nvSpPr>
          <p:cNvPr id="7" name="ring-core"/>
          <p:cNvSpPr/>
          <p:nvPr/>
        </p:nvSpPr>
        <p:spPr>
          <a:xfrm>
            <a:off x="9875520" y="3063240"/>
            <a:ext cx="731520" cy="731520"/>
          </a:xfrm>
          <a:prstGeom prst="ellipse">
            <a:avLst/>
          </a:prstGeom>
          <a:solidFill>
            <a:schemeClr val="bg1">
              <a:alpha val="80000"/>
            </a:schemeClr>
          </a:solidFill>
          <a:ln w="12700">
            <a:solidFill>
              <a:schemeClr val="bg1">
                <a:alpha val="80000"/>
              </a:schemeClr>
            </a:solidFill>
            <a:prstDash val="solid"/>
          </a:ln>
        </p:spPr>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rPr>
              <a:t>A good Monday-call routine</a:t>
            </a:r>
            <a:endParaRPr lang="en-US" sz="3200" dirty="0"/>
          </a:p>
        </p:txBody>
      </p:sp>
      <p:sp>
        <p:nvSpPr>
          <p:cNvPr id="3" name="role-Chair"/>
          <p:cNvSpPr/>
          <p:nvPr/>
        </p:nvSpPr>
        <p:spPr>
          <a:xfrm>
            <a:off x="548640" y="1417320"/>
            <a:ext cx="2194560" cy="731520"/>
          </a:xfrm>
          <a:prstGeom prst="roundRect">
            <a:avLst>
              <a:gd name="adj" fmla="val 12500"/>
            </a:avLst>
          </a:prstGeom>
          <a:solidFill>
            <a:schemeClr val="accent1"/>
          </a:solidFill>
          <a:ln w="12700">
            <a:solidFill>
              <a:schemeClr val="accent1"/>
            </a:solidFill>
            <a:prstDash val="solid"/>
          </a:ln>
        </p:spPr>
      </p:sp>
      <p:sp>
        <p:nvSpPr>
          <p:cNvPr id="4" name="Text 2"/>
          <p:cNvSpPr txBox="1"/>
          <p:nvPr/>
        </p:nvSpPr>
        <p:spPr>
          <a:xfrm>
            <a:off x="548640" y="1417320"/>
            <a:ext cx="2194560" cy="731520"/>
          </a:xfrm>
          <a:prstGeom prst="rect">
            <a:avLst/>
          </a:prstGeom>
          <a:noFill/>
          <a:ln/>
        </p:spPr>
        <p:txBody>
          <a:bodyPr wrap="square" lIns="0" tIns="0" rIns="0" bIns="0" rtlCol="0" anchor="ctr"/>
          <a:lstStyle/>
          <a:p>
            <a:pPr algn="ctr" indent="0" marL="0">
              <a:buNone/>
            </a:pPr>
            <a:r>
              <a:rPr lang="en-US" sz="1800" b="1" dirty="0">
                <a:solidFill>
                  <a:schemeClr val="bg1"/>
                </a:solidFill>
              </a:rPr>
              <a:t>Chair</a:t>
            </a:r>
            <a:endParaRPr lang="en-US" sz="1800" dirty="0"/>
          </a:p>
        </p:txBody>
      </p:sp>
      <p:sp>
        <p:nvSpPr>
          <p:cNvPr id="5" name="Text 3"/>
          <p:cNvSpPr txBox="1"/>
          <p:nvPr/>
        </p:nvSpPr>
        <p:spPr>
          <a:xfrm>
            <a:off x="2971800" y="1417320"/>
            <a:ext cx="3840480" cy="731520"/>
          </a:xfrm>
          <a:prstGeom prst="rect">
            <a:avLst/>
          </a:prstGeom>
          <a:noFill/>
          <a:ln/>
        </p:spPr>
        <p:txBody>
          <a:bodyPr wrap="square" lIns="0" tIns="0" rIns="0" bIns="0" rtlCol="0" anchor="ctr"/>
          <a:lstStyle/>
          <a:p>
            <a:pPr indent="0" marL="0">
              <a:buNone/>
            </a:pPr>
            <a:r>
              <a:rPr lang="en-US" sz="1600" dirty="0">
                <a:solidFill>
                  <a:schemeClr val="tx1"/>
                </a:solidFill>
              </a:rPr>
              <a:t>Opens Pipelines → Screen for this week</a:t>
            </a:r>
            <a:endParaRPr lang="en-US" sz="1600" dirty="0"/>
          </a:p>
        </p:txBody>
      </p:sp>
      <p:sp>
        <p:nvSpPr>
          <p:cNvPr id="6" name="role-Presenter"/>
          <p:cNvSpPr/>
          <p:nvPr/>
        </p:nvSpPr>
        <p:spPr>
          <a:xfrm>
            <a:off x="548640" y="2331720"/>
            <a:ext cx="2194560" cy="731520"/>
          </a:xfrm>
          <a:prstGeom prst="roundRect">
            <a:avLst>
              <a:gd name="adj" fmla="val 12500"/>
            </a:avLst>
          </a:prstGeom>
          <a:solidFill>
            <a:schemeClr val="accent1"/>
          </a:solidFill>
          <a:ln w="12700">
            <a:solidFill>
              <a:schemeClr val="accent1"/>
            </a:solidFill>
            <a:prstDash val="solid"/>
          </a:ln>
        </p:spPr>
      </p:sp>
      <p:sp>
        <p:nvSpPr>
          <p:cNvPr id="7" name="Text 5"/>
          <p:cNvSpPr txBox="1"/>
          <p:nvPr/>
        </p:nvSpPr>
        <p:spPr>
          <a:xfrm>
            <a:off x="548640" y="2331720"/>
            <a:ext cx="2194560" cy="731520"/>
          </a:xfrm>
          <a:prstGeom prst="rect">
            <a:avLst/>
          </a:prstGeom>
          <a:noFill/>
          <a:ln/>
        </p:spPr>
        <p:txBody>
          <a:bodyPr wrap="square" lIns="0" tIns="0" rIns="0" bIns="0" rtlCol="0" anchor="ctr"/>
          <a:lstStyle/>
          <a:p>
            <a:pPr algn="ctr" indent="0" marL="0">
              <a:buNone/>
            </a:pPr>
            <a:r>
              <a:rPr lang="en-US" sz="1800" b="1" dirty="0">
                <a:solidFill>
                  <a:schemeClr val="bg1"/>
                </a:solidFill>
              </a:rPr>
              <a:t>Presenter</a:t>
            </a:r>
            <a:endParaRPr lang="en-US" sz="1800" dirty="0"/>
          </a:p>
        </p:txBody>
      </p:sp>
      <p:sp>
        <p:nvSpPr>
          <p:cNvPr id="8" name="Text 6"/>
          <p:cNvSpPr txBox="1"/>
          <p:nvPr/>
        </p:nvSpPr>
        <p:spPr>
          <a:xfrm>
            <a:off x="2971800" y="2331720"/>
            <a:ext cx="3840480" cy="731520"/>
          </a:xfrm>
          <a:prstGeom prst="rect">
            <a:avLst/>
          </a:prstGeom>
          <a:noFill/>
          <a:ln/>
        </p:spPr>
        <p:txBody>
          <a:bodyPr wrap="square" lIns="0" tIns="0" rIns="0" bIns="0" rtlCol="0" anchor="ctr"/>
          <a:lstStyle/>
          <a:p>
            <a:pPr indent="0" marL="0">
              <a:buNone/>
            </a:pPr>
            <a:r>
              <a:rPr lang="en-US" sz="1600" dirty="0">
                <a:solidFill>
                  <a:schemeClr val="tx1"/>
                </a:solidFill>
              </a:rPr>
              <a:t>Walks through each RFP on the Review tab</a:t>
            </a:r>
            <a:endParaRPr lang="en-US" sz="1600" dirty="0"/>
          </a:p>
        </p:txBody>
      </p:sp>
      <p:sp>
        <p:nvSpPr>
          <p:cNvPr id="9" name="role-Team"/>
          <p:cNvSpPr/>
          <p:nvPr/>
        </p:nvSpPr>
        <p:spPr>
          <a:xfrm>
            <a:off x="548640" y="3246120"/>
            <a:ext cx="2194560" cy="731520"/>
          </a:xfrm>
          <a:prstGeom prst="roundRect">
            <a:avLst>
              <a:gd name="adj" fmla="val 12500"/>
            </a:avLst>
          </a:prstGeom>
          <a:solidFill>
            <a:schemeClr val="accent1"/>
          </a:solidFill>
          <a:ln w="12700">
            <a:solidFill>
              <a:schemeClr val="accent1"/>
            </a:solidFill>
            <a:prstDash val="solid"/>
          </a:ln>
        </p:spPr>
      </p:sp>
      <p:sp>
        <p:nvSpPr>
          <p:cNvPr id="10" name="Text 8"/>
          <p:cNvSpPr txBox="1"/>
          <p:nvPr/>
        </p:nvSpPr>
        <p:spPr>
          <a:xfrm>
            <a:off x="548640" y="3246120"/>
            <a:ext cx="2194560" cy="731520"/>
          </a:xfrm>
          <a:prstGeom prst="rect">
            <a:avLst/>
          </a:prstGeom>
          <a:noFill/>
          <a:ln/>
        </p:spPr>
        <p:txBody>
          <a:bodyPr wrap="square" lIns="0" tIns="0" rIns="0" bIns="0" rtlCol="0" anchor="ctr"/>
          <a:lstStyle/>
          <a:p>
            <a:pPr algn="ctr" indent="0" marL="0">
              <a:buNone/>
            </a:pPr>
            <a:r>
              <a:rPr lang="en-US" sz="1800" b="1" dirty="0">
                <a:solidFill>
                  <a:schemeClr val="bg1"/>
                </a:solidFill>
              </a:rPr>
              <a:t>Team</a:t>
            </a:r>
            <a:endParaRPr lang="en-US" sz="1800" dirty="0"/>
          </a:p>
        </p:txBody>
      </p:sp>
      <p:sp>
        <p:nvSpPr>
          <p:cNvPr id="11" name="Text 9"/>
          <p:cNvSpPr txBox="1"/>
          <p:nvPr/>
        </p:nvSpPr>
        <p:spPr>
          <a:xfrm>
            <a:off x="2971800" y="3246120"/>
            <a:ext cx="3840480" cy="731520"/>
          </a:xfrm>
          <a:prstGeom prst="rect">
            <a:avLst/>
          </a:prstGeom>
          <a:noFill/>
          <a:ln/>
        </p:spPr>
        <p:txBody>
          <a:bodyPr wrap="square" lIns="0" tIns="0" rIns="0" bIns="0" rtlCol="0" anchor="ctr"/>
          <a:lstStyle/>
          <a:p>
            <a:pPr indent="0" marL="0">
              <a:buNone/>
            </a:pPr>
            <a:r>
              <a:rPr lang="en-US" sz="1600" dirty="0">
                <a:solidFill>
                  <a:schemeClr val="tx1"/>
                </a:solidFill>
              </a:rPr>
              <a:t>Agrees the decision → ✏ Update Decision</a:t>
            </a:r>
            <a:endParaRPr lang="en-US" sz="1600" dirty="0"/>
          </a:p>
        </p:txBody>
      </p:sp>
      <p:sp>
        <p:nvSpPr>
          <p:cNvPr id="12" name="role-Note-taker"/>
          <p:cNvSpPr/>
          <p:nvPr/>
        </p:nvSpPr>
        <p:spPr>
          <a:xfrm>
            <a:off x="548640" y="4160520"/>
            <a:ext cx="2194560" cy="731520"/>
          </a:xfrm>
          <a:prstGeom prst="roundRect">
            <a:avLst>
              <a:gd name="adj" fmla="val 12500"/>
            </a:avLst>
          </a:prstGeom>
          <a:solidFill>
            <a:schemeClr val="accent1"/>
          </a:solidFill>
          <a:ln w="12700">
            <a:solidFill>
              <a:schemeClr val="accent1"/>
            </a:solidFill>
            <a:prstDash val="solid"/>
          </a:ln>
        </p:spPr>
      </p:sp>
      <p:sp>
        <p:nvSpPr>
          <p:cNvPr id="13" name="Text 11"/>
          <p:cNvSpPr txBox="1"/>
          <p:nvPr/>
        </p:nvSpPr>
        <p:spPr>
          <a:xfrm>
            <a:off x="548640" y="4160520"/>
            <a:ext cx="2194560" cy="731520"/>
          </a:xfrm>
          <a:prstGeom prst="rect">
            <a:avLst/>
          </a:prstGeom>
          <a:noFill/>
          <a:ln/>
        </p:spPr>
        <p:txBody>
          <a:bodyPr wrap="square" lIns="0" tIns="0" rIns="0" bIns="0" rtlCol="0" anchor="ctr"/>
          <a:lstStyle/>
          <a:p>
            <a:pPr algn="ctr" indent="0" marL="0">
              <a:buNone/>
            </a:pPr>
            <a:r>
              <a:rPr lang="en-US" sz="1800" b="1" dirty="0">
                <a:solidFill>
                  <a:schemeClr val="bg1"/>
                </a:solidFill>
              </a:rPr>
              <a:t>Note-taker</a:t>
            </a:r>
            <a:endParaRPr lang="en-US" sz="1800" dirty="0"/>
          </a:p>
        </p:txBody>
      </p:sp>
      <p:sp>
        <p:nvSpPr>
          <p:cNvPr id="14" name="Text 12"/>
          <p:cNvSpPr txBox="1"/>
          <p:nvPr/>
        </p:nvSpPr>
        <p:spPr>
          <a:xfrm>
            <a:off x="2971800" y="4160520"/>
            <a:ext cx="3840480" cy="731520"/>
          </a:xfrm>
          <a:prstGeom prst="rect">
            <a:avLst/>
          </a:prstGeom>
          <a:noFill/>
          <a:ln/>
        </p:spPr>
        <p:txBody>
          <a:bodyPr wrap="square" lIns="0" tIns="0" rIns="0" bIns="0" rtlCol="0" anchor="ctr"/>
          <a:lstStyle/>
          <a:p>
            <a:pPr indent="0" marL="0">
              <a:buNone/>
            </a:pPr>
            <a:r>
              <a:rPr lang="en-US" sz="1600" dirty="0">
                <a:solidFill>
                  <a:schemeClr val="tx1"/>
                </a:solidFill>
              </a:rPr>
              <a:t>➕ Add a note for every agreed action</a:t>
            </a:r>
            <a:endParaRPr lang="en-US" sz="1600" dirty="0"/>
          </a:p>
        </p:txBody>
      </p:sp>
      <p:sp>
        <p:nvSpPr>
          <p:cNvPr id="15" name="role-Everyone"/>
          <p:cNvSpPr/>
          <p:nvPr/>
        </p:nvSpPr>
        <p:spPr>
          <a:xfrm>
            <a:off x="548640" y="5074920"/>
            <a:ext cx="2194560" cy="731520"/>
          </a:xfrm>
          <a:prstGeom prst="roundRect">
            <a:avLst>
              <a:gd name="adj" fmla="val 12500"/>
            </a:avLst>
          </a:prstGeom>
          <a:solidFill>
            <a:schemeClr val="accent1"/>
          </a:solidFill>
          <a:ln w="12700">
            <a:solidFill>
              <a:schemeClr val="accent1"/>
            </a:solidFill>
            <a:prstDash val="solid"/>
          </a:ln>
        </p:spPr>
      </p:sp>
      <p:sp>
        <p:nvSpPr>
          <p:cNvPr id="16" name="Text 14"/>
          <p:cNvSpPr txBox="1"/>
          <p:nvPr/>
        </p:nvSpPr>
        <p:spPr>
          <a:xfrm>
            <a:off x="548640" y="5074920"/>
            <a:ext cx="2194560" cy="731520"/>
          </a:xfrm>
          <a:prstGeom prst="rect">
            <a:avLst/>
          </a:prstGeom>
          <a:noFill/>
          <a:ln/>
        </p:spPr>
        <p:txBody>
          <a:bodyPr wrap="square" lIns="0" tIns="0" rIns="0" bIns="0" rtlCol="0" anchor="ctr"/>
          <a:lstStyle/>
          <a:p>
            <a:pPr algn="ctr" indent="0" marL="0">
              <a:buNone/>
            </a:pPr>
            <a:r>
              <a:rPr lang="en-US" sz="1800" b="1" dirty="0">
                <a:solidFill>
                  <a:schemeClr val="bg1"/>
                </a:solidFill>
              </a:rPr>
              <a:t>Everyone</a:t>
            </a:r>
            <a:endParaRPr lang="en-US" sz="1800" dirty="0"/>
          </a:p>
        </p:txBody>
      </p:sp>
      <p:sp>
        <p:nvSpPr>
          <p:cNvPr id="17" name="Text 15"/>
          <p:cNvSpPr txBox="1"/>
          <p:nvPr/>
        </p:nvSpPr>
        <p:spPr>
          <a:xfrm>
            <a:off x="2971800" y="5074920"/>
            <a:ext cx="3840480" cy="731520"/>
          </a:xfrm>
          <a:prstGeom prst="rect">
            <a:avLst/>
          </a:prstGeom>
          <a:noFill/>
          <a:ln/>
        </p:spPr>
        <p:txBody>
          <a:bodyPr wrap="square" lIns="0" tIns="0" rIns="0" bIns="0" rtlCol="0" anchor="ctr"/>
          <a:lstStyle/>
          <a:p>
            <a:pPr indent="0" marL="0">
              <a:buNone/>
            </a:pPr>
            <a:r>
              <a:rPr lang="en-US" sz="1600" dirty="0">
                <a:solidFill>
                  <a:schemeClr val="tx1"/>
                </a:solidFill>
              </a:rPr>
              <a:t>Before closing: Actions → Pending, resolve what's done</a:t>
            </a:r>
            <a:endParaRPr lang="en-US" sz="1600" dirty="0"/>
          </a:p>
        </p:txBody>
      </p:sp>
      <p:sp>
        <p:nvSpPr>
          <p:cNvPr id="18" name="frame-22-meetings"/>
          <p:cNvSpPr/>
          <p:nvPr/>
        </p:nvSpPr>
        <p:spPr>
          <a:xfrm>
            <a:off x="7022592" y="1399032"/>
            <a:ext cx="4608576" cy="2894076"/>
          </a:xfrm>
          <a:prstGeom prst="rect">
            <a:avLst/>
          </a:prstGeom>
          <a:solidFill>
            <a:schemeClr val="bg1"/>
          </a:solidFill>
          <a:ln w="12700">
            <a:solidFill>
              <a:srgbClr val="D5DBE2"/>
            </a:solidFill>
            <a:prstDash val="solid"/>
          </a:ln>
          <a:effectLst>
            <a:outerShdw sx="100000" sy="100000" kx="0" ky="0" algn="bl" rotWithShape="0" blurRad="127000" dist="38100" dir="5400000">
              <a:srgbClr val="14254F">
                <a:alpha val="18000"/>
              </a:srgbClr>
            </a:outerShdw>
          </a:effectLst>
        </p:spPr>
      </p:sp>
      <p:pic>
        <p:nvPicPr>
          <p:cNvPr id="19" name="shot-22-meetings" descr="Actions → Meetings: this week's rota and notes">    </p:cNvPr>
          <p:cNvPicPr>
            <a:picLocks noChangeAspect="1"/>
          </p:cNvPicPr>
          <p:nvPr/>
        </p:nvPicPr>
        <p:blipFill>
          <a:blip r:embed="rId1"/>
          <a:stretch>
            <a:fillRect/>
          </a:stretch>
        </p:blipFill>
        <p:spPr>
          <a:xfrm>
            <a:off x="7040880" y="1417320"/>
            <a:ext cx="4572000" cy="2857500"/>
          </a:xfrm>
          <a:prstGeom prst="rect">
            <a:avLst/>
          </a:prstGeom>
        </p:spPr>
      </p:pic>
      <p:sp>
        <p:nvSpPr>
          <p:cNvPr id="20" name="Text 17"/>
          <p:cNvSpPr txBox="1"/>
          <p:nvPr/>
        </p:nvSpPr>
        <p:spPr>
          <a:xfrm>
            <a:off x="7040880" y="4347972"/>
            <a:ext cx="4572000" cy="274320"/>
          </a:xfrm>
          <a:prstGeom prst="rect">
            <a:avLst/>
          </a:prstGeom>
          <a:noFill/>
          <a:ln/>
        </p:spPr>
        <p:txBody>
          <a:bodyPr wrap="square" lIns="0" tIns="0" rIns="0" bIns="0" rtlCol="0" anchor="ctr"/>
          <a:lstStyle/>
          <a:p>
            <a:pPr algn="ctr" indent="0" marL="0">
              <a:buNone/>
            </a:pPr>
            <a:r>
              <a:rPr lang="en-US" sz="1100" i="1" dirty="0">
                <a:solidFill>
                  <a:srgbClr val="5B6573"/>
                </a:solidFill>
              </a:rPr>
              <a:t>Actions → Meetings: this week's rota and notes</a:t>
            </a:r>
            <a:endParaRPr lang="en-US" sz="11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rPr>
              <a:t>Capture a meeting note</a:t>
            </a:r>
            <a:endParaRPr lang="en-US" sz="3200" dirty="0"/>
          </a:p>
        </p:txBody>
      </p:sp>
      <p:sp>
        <p:nvSpPr>
          <p:cNvPr id="3" name="Shape 1"/>
          <p:cNvSpPr/>
          <p:nvPr/>
        </p:nvSpPr>
        <p:spPr>
          <a:xfrm>
            <a:off x="10195560" y="548640"/>
            <a:ext cx="1417320" cy="310896"/>
          </a:xfrm>
          <a:prstGeom prst="roundRect">
            <a:avLst>
              <a:gd name="adj" fmla="val 50000"/>
            </a:avLst>
          </a:prstGeom>
          <a:solidFill>
            <a:srgbClr val="FFF4E0"/>
          </a:solidFill>
          <a:ln w="12700">
            <a:solidFill>
              <a:srgbClr val="FFF4E0"/>
            </a:solidFill>
            <a:prstDash val="solid"/>
          </a:ln>
        </p:spPr>
      </p:sp>
      <p:sp>
        <p:nvSpPr>
          <p:cNvPr id="4" name="Text 2"/>
          <p:cNvSpPr txBox="1"/>
          <p:nvPr/>
        </p:nvSpPr>
        <p:spPr>
          <a:xfrm>
            <a:off x="10195560" y="548640"/>
            <a:ext cx="1417320" cy="310896"/>
          </a:xfrm>
          <a:prstGeom prst="rect">
            <a:avLst/>
          </a:prstGeom>
          <a:noFill/>
          <a:ln/>
        </p:spPr>
        <p:txBody>
          <a:bodyPr wrap="square" lIns="0" tIns="0" rIns="0" bIns="0" rtlCol="0" anchor="ctr"/>
          <a:lstStyle/>
          <a:p>
            <a:pPr algn="ctr" indent="0" marL="0">
              <a:buNone/>
            </a:pPr>
            <a:r>
              <a:rPr lang="en-US" sz="1100" b="1" spc="100" kern="0" dirty="0">
                <a:solidFill>
                  <a:schemeClr val="accent4"/>
                </a:solidFill>
              </a:rPr>
              <a:t>REVIEWER+</a:t>
            </a:r>
            <a:endParaRPr lang="en-US" sz="1100" dirty="0"/>
          </a:p>
        </p:txBody>
      </p:sp>
      <p:sp>
        <p:nvSpPr>
          <p:cNvPr id="5" name="step-dot-1"/>
          <p:cNvSpPr/>
          <p:nvPr/>
        </p:nvSpPr>
        <p:spPr>
          <a:xfrm>
            <a:off x="548640" y="1463040"/>
            <a:ext cx="365760" cy="365760"/>
          </a:xfrm>
          <a:prstGeom prst="ellipse">
            <a:avLst/>
          </a:prstGeom>
          <a:solidFill>
            <a:schemeClr val="accent1"/>
          </a:solidFill>
          <a:ln w="12700">
            <a:solidFill>
              <a:schemeClr val="accent1"/>
            </a:solidFill>
            <a:prstDash val="solid"/>
          </a:ln>
        </p:spPr>
      </p:sp>
      <p:sp>
        <p:nvSpPr>
          <p:cNvPr id="6" name="Text 4"/>
          <p:cNvSpPr txBox="1"/>
          <p:nvPr/>
        </p:nvSpPr>
        <p:spPr>
          <a:xfrm>
            <a:off x="548640" y="1463040"/>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7" name="Text 5"/>
          <p:cNvSpPr txBox="1"/>
          <p:nvPr/>
        </p:nvSpPr>
        <p:spPr>
          <a:xfrm>
            <a:off x="1051560" y="1408176"/>
            <a:ext cx="4434840" cy="749808"/>
          </a:xfrm>
          <a:prstGeom prst="rect">
            <a:avLst/>
          </a:prstGeom>
          <a:noFill/>
          <a:ln/>
        </p:spPr>
        <p:txBody>
          <a:bodyPr wrap="square" lIns="0" tIns="0" rIns="0" bIns="0" rtlCol="0" anchor="t"/>
          <a:lstStyle/>
          <a:p>
            <a:pPr indent="0" marL="0">
              <a:buNone/>
            </a:pPr>
            <a:r>
              <a:rPr lang="en-US" sz="1500" dirty="0">
                <a:solidFill>
                  <a:schemeClr val="tx1"/>
                </a:solidFill>
              </a:rPr>
              <a:t>Actions → Meetings; check the Review week</a:t>
            </a:r>
            <a:endParaRPr lang="en-US" sz="1500" dirty="0"/>
          </a:p>
        </p:txBody>
      </p:sp>
      <p:sp>
        <p:nvSpPr>
          <p:cNvPr id="8" name="step-dot-2"/>
          <p:cNvSpPr/>
          <p:nvPr/>
        </p:nvSpPr>
        <p:spPr>
          <a:xfrm>
            <a:off x="548640" y="2212848"/>
            <a:ext cx="365760" cy="365760"/>
          </a:xfrm>
          <a:prstGeom prst="ellipse">
            <a:avLst/>
          </a:prstGeom>
          <a:solidFill>
            <a:schemeClr val="accent1"/>
          </a:solidFill>
          <a:ln w="12700">
            <a:solidFill>
              <a:schemeClr val="accent1"/>
            </a:solidFill>
            <a:prstDash val="solid"/>
          </a:ln>
        </p:spPr>
      </p:sp>
      <p:sp>
        <p:nvSpPr>
          <p:cNvPr id="9" name="Text 7"/>
          <p:cNvSpPr txBox="1"/>
          <p:nvPr/>
        </p:nvSpPr>
        <p:spPr>
          <a:xfrm>
            <a:off x="548640" y="2212848"/>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0" name="Text 8"/>
          <p:cNvSpPr txBox="1"/>
          <p:nvPr/>
        </p:nvSpPr>
        <p:spPr>
          <a:xfrm>
            <a:off x="1051560" y="2157984"/>
            <a:ext cx="4434840" cy="749808"/>
          </a:xfrm>
          <a:prstGeom prst="rect">
            <a:avLst/>
          </a:prstGeom>
          <a:noFill/>
          <a:ln/>
        </p:spPr>
        <p:txBody>
          <a:bodyPr wrap="square" lIns="0" tIns="0" rIns="0" bIns="0" rtlCol="0" anchor="t"/>
          <a:lstStyle/>
          <a:p>
            <a:pPr indent="0" marL="0">
              <a:buNone/>
            </a:pPr>
            <a:r>
              <a:rPr lang="en-US" sz="1500" dirty="0">
                <a:solidFill>
                  <a:schemeClr val="tx1"/>
                </a:solidFill>
              </a:rPr>
              <a:t>Click ➕ Add a note</a:t>
            </a:r>
            <a:endParaRPr lang="en-US" sz="1500" dirty="0"/>
          </a:p>
        </p:txBody>
      </p:sp>
      <p:sp>
        <p:nvSpPr>
          <p:cNvPr id="11" name="step-dot-3"/>
          <p:cNvSpPr/>
          <p:nvPr/>
        </p:nvSpPr>
        <p:spPr>
          <a:xfrm>
            <a:off x="548640" y="2962656"/>
            <a:ext cx="365760" cy="365760"/>
          </a:xfrm>
          <a:prstGeom prst="ellipse">
            <a:avLst/>
          </a:prstGeom>
          <a:solidFill>
            <a:schemeClr val="accent1"/>
          </a:solidFill>
          <a:ln w="12700">
            <a:solidFill>
              <a:schemeClr val="accent1"/>
            </a:solidFill>
            <a:prstDash val="solid"/>
          </a:ln>
        </p:spPr>
      </p:sp>
      <p:sp>
        <p:nvSpPr>
          <p:cNvPr id="12" name="Text 10"/>
          <p:cNvSpPr txBox="1"/>
          <p:nvPr/>
        </p:nvSpPr>
        <p:spPr>
          <a:xfrm>
            <a:off x="548640" y="2962656"/>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3" name="Text 11"/>
          <p:cNvSpPr txBox="1"/>
          <p:nvPr/>
        </p:nvSpPr>
        <p:spPr>
          <a:xfrm>
            <a:off x="1051560" y="2907792"/>
            <a:ext cx="4434840" cy="749808"/>
          </a:xfrm>
          <a:prstGeom prst="rect">
            <a:avLst/>
          </a:prstGeom>
          <a:noFill/>
          <a:ln/>
        </p:spPr>
        <p:txBody>
          <a:bodyPr wrap="square" lIns="0" tIns="0" rIns="0" bIns="0" rtlCol="0" anchor="t"/>
          <a:lstStyle/>
          <a:p>
            <a:pPr indent="0" marL="0">
              <a:buNone/>
            </a:pPr>
            <a:r>
              <a:rPr lang="en-US" sz="1500" dirty="0">
                <a:solidFill>
                  <a:schemeClr val="tx1"/>
                </a:solidFill>
              </a:rPr>
              <a:t>Linked RFP (Proceed only), Issues, Actions / recommendations</a:t>
            </a:r>
            <a:endParaRPr lang="en-US" sz="1500" dirty="0"/>
          </a:p>
        </p:txBody>
      </p:sp>
      <p:sp>
        <p:nvSpPr>
          <p:cNvPr id="14" name="step-dot-4"/>
          <p:cNvSpPr/>
          <p:nvPr/>
        </p:nvSpPr>
        <p:spPr>
          <a:xfrm>
            <a:off x="548640" y="3712464"/>
            <a:ext cx="365760" cy="365760"/>
          </a:xfrm>
          <a:prstGeom prst="ellipse">
            <a:avLst/>
          </a:prstGeom>
          <a:solidFill>
            <a:schemeClr val="accent1"/>
          </a:solidFill>
          <a:ln w="12700">
            <a:solidFill>
              <a:schemeClr val="accent1"/>
            </a:solidFill>
            <a:prstDash val="solid"/>
          </a:ln>
        </p:spPr>
      </p:sp>
      <p:sp>
        <p:nvSpPr>
          <p:cNvPr id="15" name="Text 13"/>
          <p:cNvSpPr txBox="1"/>
          <p:nvPr/>
        </p:nvSpPr>
        <p:spPr>
          <a:xfrm>
            <a:off x="548640" y="3712464"/>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16" name="Text 14"/>
          <p:cNvSpPr txBox="1"/>
          <p:nvPr/>
        </p:nvSpPr>
        <p:spPr>
          <a:xfrm>
            <a:off x="1051560" y="3657600"/>
            <a:ext cx="4434840" cy="749808"/>
          </a:xfrm>
          <a:prstGeom prst="rect">
            <a:avLst/>
          </a:prstGeom>
          <a:noFill/>
          <a:ln/>
        </p:spPr>
        <p:txBody>
          <a:bodyPr wrap="square" lIns="0" tIns="0" rIns="0" bIns="0" rtlCol="0" anchor="t"/>
          <a:lstStyle/>
          <a:p>
            <a:pPr indent="0" marL="0">
              <a:buNone/>
            </a:pPr>
            <a:r>
              <a:rPr lang="en-US" sz="1500" dirty="0">
                <a:solidFill>
                  <a:schemeClr val="tx1"/>
                </a:solidFill>
              </a:rPr>
              <a:t>Owner and Due Date (defaults to next Monday)</a:t>
            </a:r>
            <a:endParaRPr lang="en-US" sz="1500" dirty="0"/>
          </a:p>
        </p:txBody>
      </p:sp>
      <p:sp>
        <p:nvSpPr>
          <p:cNvPr id="17" name="step-dot-5"/>
          <p:cNvSpPr/>
          <p:nvPr/>
        </p:nvSpPr>
        <p:spPr>
          <a:xfrm>
            <a:off x="548640" y="4462272"/>
            <a:ext cx="365760" cy="365760"/>
          </a:xfrm>
          <a:prstGeom prst="ellipse">
            <a:avLst/>
          </a:prstGeom>
          <a:solidFill>
            <a:schemeClr val="accent1"/>
          </a:solidFill>
          <a:ln w="12700">
            <a:solidFill>
              <a:schemeClr val="accent1"/>
            </a:solidFill>
            <a:prstDash val="solid"/>
          </a:ln>
        </p:spPr>
      </p:sp>
      <p:sp>
        <p:nvSpPr>
          <p:cNvPr id="18" name="Text 16"/>
          <p:cNvSpPr txBox="1"/>
          <p:nvPr/>
        </p:nvSpPr>
        <p:spPr>
          <a:xfrm>
            <a:off x="548640" y="4462272"/>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rPr>
              <a:t>5</a:t>
            </a:r>
            <a:endParaRPr lang="en-US" sz="1400" dirty="0"/>
          </a:p>
        </p:txBody>
      </p:sp>
      <p:sp>
        <p:nvSpPr>
          <p:cNvPr id="19" name="Text 17"/>
          <p:cNvSpPr txBox="1"/>
          <p:nvPr/>
        </p:nvSpPr>
        <p:spPr>
          <a:xfrm>
            <a:off x="1051560" y="4407408"/>
            <a:ext cx="4434840" cy="749808"/>
          </a:xfrm>
          <a:prstGeom prst="rect">
            <a:avLst/>
          </a:prstGeom>
          <a:noFill/>
          <a:ln/>
        </p:spPr>
        <p:txBody>
          <a:bodyPr wrap="square" lIns="0" tIns="0" rIns="0" bIns="0" rtlCol="0" anchor="t"/>
          <a:lstStyle/>
          <a:p>
            <a:pPr indent="0" marL="0">
              <a:buNone/>
            </a:pPr>
            <a:r>
              <a:rPr lang="en-US" sz="1500" dirty="0">
                <a:solidFill>
                  <a:schemeClr val="tx1"/>
                </a:solidFill>
              </a:rPr>
              <a:t>💾 Save note — then Not Resolved → ✓ Resolved when done</a:t>
            </a:r>
            <a:endParaRPr lang="en-US" sz="1500" dirty="0"/>
          </a:p>
        </p:txBody>
      </p:sp>
      <p:sp>
        <p:nvSpPr>
          <p:cNvPr id="20" name="step-dot-6"/>
          <p:cNvSpPr/>
          <p:nvPr/>
        </p:nvSpPr>
        <p:spPr>
          <a:xfrm>
            <a:off x="548640" y="5212080"/>
            <a:ext cx="365760" cy="365760"/>
          </a:xfrm>
          <a:prstGeom prst="ellipse">
            <a:avLst/>
          </a:prstGeom>
          <a:solidFill>
            <a:schemeClr val="accent1"/>
          </a:solidFill>
          <a:ln w="12700">
            <a:solidFill>
              <a:schemeClr val="accent1"/>
            </a:solidFill>
            <a:prstDash val="solid"/>
          </a:ln>
        </p:spPr>
      </p:sp>
      <p:sp>
        <p:nvSpPr>
          <p:cNvPr id="21" name="Text 19"/>
          <p:cNvSpPr txBox="1"/>
          <p:nvPr/>
        </p:nvSpPr>
        <p:spPr>
          <a:xfrm>
            <a:off x="548640" y="5212080"/>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rPr>
              <a:t>6</a:t>
            </a:r>
            <a:endParaRPr lang="en-US" sz="1400" dirty="0"/>
          </a:p>
        </p:txBody>
      </p:sp>
      <p:sp>
        <p:nvSpPr>
          <p:cNvPr id="22" name="Text 20"/>
          <p:cNvSpPr txBox="1"/>
          <p:nvPr/>
        </p:nvSpPr>
        <p:spPr>
          <a:xfrm>
            <a:off x="1051560" y="5157216"/>
            <a:ext cx="4434840" cy="749808"/>
          </a:xfrm>
          <a:prstGeom prst="rect">
            <a:avLst/>
          </a:prstGeom>
          <a:noFill/>
          <a:ln/>
        </p:spPr>
        <p:txBody>
          <a:bodyPr wrap="square" lIns="0" tIns="0" rIns="0" bIns="0" rtlCol="0" anchor="t"/>
          <a:lstStyle/>
          <a:p>
            <a:pPr indent="0" marL="0">
              <a:buNone/>
            </a:pPr>
            <a:r>
              <a:rPr lang="en-US" sz="1500" dirty="0">
                <a:solidFill>
                  <a:schemeClr val="tx1"/>
                </a:solidFill>
              </a:rPr>
              <a:t>⬇ Download the week's notes as CSV for the minutes</a:t>
            </a:r>
            <a:endParaRPr lang="en-US" sz="1500" dirty="0"/>
          </a:p>
        </p:txBody>
      </p:sp>
      <p:sp>
        <p:nvSpPr>
          <p:cNvPr id="23" name="frame-23-add-note"/>
          <p:cNvSpPr/>
          <p:nvPr/>
        </p:nvSpPr>
        <p:spPr>
          <a:xfrm>
            <a:off x="5833872" y="1399032"/>
            <a:ext cx="5797296" cy="3637026"/>
          </a:xfrm>
          <a:prstGeom prst="rect">
            <a:avLst/>
          </a:prstGeom>
          <a:solidFill>
            <a:schemeClr val="bg1"/>
          </a:solidFill>
          <a:ln w="12700">
            <a:solidFill>
              <a:srgbClr val="D5DBE2"/>
            </a:solidFill>
            <a:prstDash val="solid"/>
          </a:ln>
          <a:effectLst>
            <a:outerShdw sx="100000" sy="100000" kx="0" ky="0" algn="bl" rotWithShape="0" blurRad="127000" dist="38100" dir="5400000">
              <a:srgbClr val="14254F">
                <a:alpha val="18000"/>
              </a:srgbClr>
            </a:outerShdw>
          </a:effectLst>
        </p:spPr>
      </p:sp>
      <p:pic>
        <p:nvPicPr>
          <p:cNvPr id="24" name="shot-23-add-note" descr="➕ Add a note">    </p:cNvPr>
          <p:cNvPicPr>
            <a:picLocks noChangeAspect="1"/>
          </p:cNvPicPr>
          <p:nvPr/>
        </p:nvPicPr>
        <p:blipFill>
          <a:blip r:embed="rId1"/>
          <a:stretch>
            <a:fillRect/>
          </a:stretch>
        </p:blipFill>
        <p:spPr>
          <a:xfrm>
            <a:off x="5852160" y="1417320"/>
            <a:ext cx="5760720" cy="3600450"/>
          </a:xfrm>
          <a:prstGeom prst="rect">
            <a:avLst/>
          </a:prstGeom>
        </p:spPr>
      </p:pic>
      <p:sp>
        <p:nvSpPr>
          <p:cNvPr id="25" name="Text 22"/>
          <p:cNvSpPr txBox="1"/>
          <p:nvPr/>
        </p:nvSpPr>
        <p:spPr>
          <a:xfrm>
            <a:off x="5852160" y="5090922"/>
            <a:ext cx="5760720" cy="274320"/>
          </a:xfrm>
          <a:prstGeom prst="rect">
            <a:avLst/>
          </a:prstGeom>
          <a:noFill/>
          <a:ln/>
        </p:spPr>
        <p:txBody>
          <a:bodyPr wrap="square" lIns="0" tIns="0" rIns="0" bIns="0" rtlCol="0" anchor="ctr"/>
          <a:lstStyle/>
          <a:p>
            <a:pPr algn="ctr" indent="0" marL="0">
              <a:buNone/>
            </a:pPr>
            <a:r>
              <a:rPr lang="en-US" sz="1100" i="1" dirty="0">
                <a:solidFill>
                  <a:srgbClr val="5B6573"/>
                </a:solidFill>
              </a:rPr>
              <a:t>➕ Add a note</a:t>
            </a:r>
            <a:endParaRPr lang="en-US" sz="1100" dirty="0"/>
          </a:p>
        </p:txBody>
      </p:sp>
      <p:sp>
        <p:nvSpPr>
          <p:cNvPr id="26" name="callout-amber"/>
          <p:cNvSpPr/>
          <p:nvPr/>
        </p:nvSpPr>
        <p:spPr>
          <a:xfrm>
            <a:off x="548640" y="5715000"/>
            <a:ext cx="4937760" cy="640080"/>
          </a:xfrm>
          <a:prstGeom prst="roundRect">
            <a:avLst>
              <a:gd name="adj" fmla="val 17143"/>
            </a:avLst>
          </a:prstGeom>
          <a:solidFill>
            <a:srgbClr val="FFF4E0"/>
          </a:solidFill>
          <a:ln w="12700">
            <a:solidFill>
              <a:srgbClr val="F3D9A8"/>
            </a:solidFill>
            <a:prstDash val="solid"/>
          </a:ln>
        </p:spPr>
      </p:sp>
      <p:sp>
        <p:nvSpPr>
          <p:cNvPr id="27" name="Text 24"/>
          <p:cNvSpPr txBox="1"/>
          <p:nvPr/>
        </p:nvSpPr>
        <p:spPr>
          <a:xfrm>
            <a:off x="731520" y="5824728"/>
            <a:ext cx="4572000" cy="420624"/>
          </a:xfrm>
          <a:prstGeom prst="rect">
            <a:avLst/>
          </a:prstGeom>
          <a:noFill/>
          <a:ln/>
        </p:spPr>
        <p:txBody>
          <a:bodyPr wrap="square" lIns="0" tIns="0" rIns="0" bIns="0" rtlCol="0" anchor="t"/>
          <a:lstStyle/>
          <a:p>
            <a:pPr indent="0" marL="0">
              <a:spcAft>
                <a:spcPts val="400"/>
              </a:spcAft>
              <a:buNone/>
            </a:pPr>
            <a:r>
              <a:rPr lang="en-US" sz="1400" b="1" dirty="0">
                <a:solidFill>
                  <a:schemeClr val="accent4"/>
                </a:solidFill>
              </a:rPr>
              <a:t>Contributor?</a:t>
            </a:r>
            <a:endParaRPr lang="en-US" sz="1400" dirty="0"/>
          </a:p>
          <a:p>
            <a:pPr indent="0" marL="0">
              <a:spcAft>
                <a:spcPts val="400"/>
              </a:spcAft>
              <a:buNone/>
            </a:pPr>
            <a:r>
              <a:rPr lang="en-US" sz="1400" dirty="0">
                <a:solidFill>
                  <a:schemeClr val="tx1"/>
                </a:solidFill>
              </a:rPr>
              <a:t>Adding notes needs Reviewer or above — ask your admin.</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rPr>
              <a:t>Engagements and pending actions</a:t>
            </a:r>
            <a:endParaRPr lang="en-US" sz="3200" dirty="0"/>
          </a:p>
        </p:txBody>
      </p:sp>
      <p:sp>
        <p:nvSpPr>
          <p:cNvPr id="3" name="frame-24-engagements"/>
          <p:cNvSpPr/>
          <p:nvPr/>
        </p:nvSpPr>
        <p:spPr>
          <a:xfrm>
            <a:off x="530352" y="1353312"/>
            <a:ext cx="5431536" cy="3408426"/>
          </a:xfrm>
          <a:prstGeom prst="rect">
            <a:avLst/>
          </a:prstGeom>
          <a:solidFill>
            <a:schemeClr val="bg1"/>
          </a:solidFill>
          <a:ln w="12700">
            <a:solidFill>
              <a:srgbClr val="D5DBE2"/>
            </a:solidFill>
            <a:prstDash val="solid"/>
          </a:ln>
          <a:effectLst>
            <a:outerShdw sx="100000" sy="100000" kx="0" ky="0" algn="bl" rotWithShape="0" blurRad="127000" dist="38100" dir="5400000">
              <a:srgbClr val="14254F">
                <a:alpha val="18000"/>
              </a:srgbClr>
            </a:outerShdw>
          </a:effectLst>
        </p:spPr>
      </p:sp>
      <p:pic>
        <p:nvPicPr>
          <p:cNvPr id="4" name="shot-24-engagements" descr="Engagements — log every donor touchpoint">    </p:cNvPr>
          <p:cNvPicPr>
            <a:picLocks noChangeAspect="1"/>
          </p:cNvPicPr>
          <p:nvPr/>
        </p:nvPicPr>
        <p:blipFill>
          <a:blip r:embed="rId1"/>
          <a:stretch>
            <a:fillRect/>
          </a:stretch>
        </p:blipFill>
        <p:spPr>
          <a:xfrm>
            <a:off x="548640" y="1371600"/>
            <a:ext cx="5394960" cy="3371850"/>
          </a:xfrm>
          <a:prstGeom prst="rect">
            <a:avLst/>
          </a:prstGeom>
        </p:spPr>
      </p:pic>
      <p:sp>
        <p:nvSpPr>
          <p:cNvPr id="5" name="Text 2"/>
          <p:cNvSpPr txBox="1"/>
          <p:nvPr/>
        </p:nvSpPr>
        <p:spPr>
          <a:xfrm>
            <a:off x="548640" y="4816602"/>
            <a:ext cx="5394960" cy="274320"/>
          </a:xfrm>
          <a:prstGeom prst="rect">
            <a:avLst/>
          </a:prstGeom>
          <a:noFill/>
          <a:ln/>
        </p:spPr>
        <p:txBody>
          <a:bodyPr wrap="square" lIns="0" tIns="0" rIns="0" bIns="0" rtlCol="0" anchor="ctr"/>
          <a:lstStyle/>
          <a:p>
            <a:pPr algn="ctr" indent="0" marL="0">
              <a:buNone/>
            </a:pPr>
            <a:r>
              <a:rPr lang="en-US" sz="1100" i="1" dirty="0">
                <a:solidFill>
                  <a:srgbClr val="5B6573"/>
                </a:solidFill>
              </a:rPr>
              <a:t>Engagements — log every donor touchpoint</a:t>
            </a:r>
            <a:endParaRPr lang="en-US" sz="1100" dirty="0"/>
          </a:p>
        </p:txBody>
      </p:sp>
      <p:sp>
        <p:nvSpPr>
          <p:cNvPr id="6" name="frame-25-pending"/>
          <p:cNvSpPr/>
          <p:nvPr/>
        </p:nvSpPr>
        <p:spPr>
          <a:xfrm>
            <a:off x="6199632" y="1353312"/>
            <a:ext cx="5431536" cy="3408426"/>
          </a:xfrm>
          <a:prstGeom prst="rect">
            <a:avLst/>
          </a:prstGeom>
          <a:solidFill>
            <a:schemeClr val="bg1"/>
          </a:solidFill>
          <a:ln w="12700">
            <a:solidFill>
              <a:srgbClr val="D5DBE2"/>
            </a:solidFill>
            <a:prstDash val="solid"/>
          </a:ln>
          <a:effectLst>
            <a:outerShdw sx="100000" sy="100000" kx="0" ky="0" algn="bl" rotWithShape="0" blurRad="127000" dist="38100" dir="5400000">
              <a:srgbClr val="14254F">
                <a:alpha val="18000"/>
              </a:srgbClr>
            </a:outerShdw>
          </a:effectLst>
        </p:spPr>
      </p:sp>
      <p:pic>
        <p:nvPicPr>
          <p:cNvPr id="7" name="shot-25-pending" descr="Pending — everything still open">    </p:cNvPr>
          <p:cNvPicPr>
            <a:picLocks noChangeAspect="1"/>
          </p:cNvPicPr>
          <p:nvPr/>
        </p:nvPicPr>
        <p:blipFill>
          <a:blip r:embed="rId2"/>
          <a:stretch>
            <a:fillRect/>
          </a:stretch>
        </p:blipFill>
        <p:spPr>
          <a:xfrm>
            <a:off x="6217920" y="1371600"/>
            <a:ext cx="5394960" cy="3371850"/>
          </a:xfrm>
          <a:prstGeom prst="rect">
            <a:avLst/>
          </a:prstGeom>
        </p:spPr>
      </p:pic>
      <p:sp>
        <p:nvSpPr>
          <p:cNvPr id="8" name="Text 4"/>
          <p:cNvSpPr txBox="1"/>
          <p:nvPr/>
        </p:nvSpPr>
        <p:spPr>
          <a:xfrm>
            <a:off x="6217920" y="4816602"/>
            <a:ext cx="5394960" cy="274320"/>
          </a:xfrm>
          <a:prstGeom prst="rect">
            <a:avLst/>
          </a:prstGeom>
          <a:noFill/>
          <a:ln/>
        </p:spPr>
        <p:txBody>
          <a:bodyPr wrap="square" lIns="0" tIns="0" rIns="0" bIns="0" rtlCol="0" anchor="ctr"/>
          <a:lstStyle/>
          <a:p>
            <a:pPr algn="ctr" indent="0" marL="0">
              <a:buNone/>
            </a:pPr>
            <a:r>
              <a:rPr lang="en-US" sz="1100" i="1" dirty="0">
                <a:solidFill>
                  <a:srgbClr val="5B6573"/>
                </a:solidFill>
              </a:rPr>
              <a:t>Pending — everything still open</a:t>
            </a:r>
            <a:endParaRPr lang="en-US" sz="1100" dirty="0"/>
          </a:p>
        </p:txBody>
      </p:sp>
      <p:sp>
        <p:nvSpPr>
          <p:cNvPr id="9" name="Text 5"/>
          <p:cNvSpPr txBox="1"/>
          <p:nvPr/>
        </p:nvSpPr>
        <p:spPr>
          <a:xfrm>
            <a:off x="548640" y="5120640"/>
            <a:ext cx="11064240" cy="1005840"/>
          </a:xfrm>
          <a:prstGeom prst="rect">
            <a:avLst/>
          </a:prstGeom>
          <a:noFill/>
          <a:ln/>
        </p:spPr>
        <p:txBody>
          <a:bodyPr wrap="square" lIns="0" tIns="0" rIns="0" bIns="0" rtlCol="0" anchor="ctr"/>
          <a:lstStyle/>
          <a:p>
            <a:pPr indent="0" marL="0">
              <a:spcAft>
                <a:spcPts val="600"/>
              </a:spcAft>
              <a:buNone/>
            </a:pPr>
            <a:r>
              <a:rPr lang="en-US" sz="1500" b="1" dirty="0">
                <a:solidFill>
                  <a:schemeClr val="tx2"/>
                </a:solidFill>
              </a:rPr>
              <a:t>Engagements: </a:t>
            </a:r>
            <a:pPr indent="0" marL="0">
              <a:spcAft>
                <a:spcPts val="600"/>
              </a:spcAft>
              <a:buNone/>
            </a:pPr>
            <a:r>
              <a:rPr lang="en-US" sz="1500" dirty="0">
                <a:solidFill>
                  <a:schemeClr val="tx1"/>
                </a:solidFill>
              </a:rPr>
              <a:t>date, type, donor, internal lead, purpose, outcome → 💾 Save engagement. Target: 2–4 a quarter.</a:t>
            </a:r>
            <a:endParaRPr lang="en-US" sz="1500" dirty="0"/>
          </a:p>
          <a:p>
            <a:pPr indent="0" marL="0">
              <a:spcAft>
                <a:spcPts val="600"/>
              </a:spcAft>
              <a:buNone/>
            </a:pPr>
            <a:r>
              <a:rPr lang="en-US" sz="1500" b="1" dirty="0">
                <a:solidFill>
                  <a:schemeClr val="tx2"/>
                </a:solidFill>
              </a:rPr>
              <a:t>Pending: </a:t>
            </a:r>
            <a:pPr indent="0" marL="0">
              <a:spcAft>
                <a:spcPts val="600"/>
              </a:spcAft>
              <a:buNone/>
            </a:pPr>
            <a:r>
              <a:rPr lang="en-US" sz="1500" dirty="0">
                <a:solidFill>
                  <a:schemeClr val="tx1"/>
                </a:solidFill>
              </a:rPr>
              <a:t>Filters → your name under Owner; click Not Resolved when an item is done.</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731520" y="2651760"/>
            <a:ext cx="10515600" cy="1097280"/>
          </a:xfrm>
          <a:prstGeom prst="rect">
            <a:avLst/>
          </a:prstGeom>
          <a:noFill/>
          <a:ln/>
        </p:spPr>
        <p:txBody>
          <a:bodyPr wrap="square" lIns="0" tIns="0" rIns="0" bIns="0" rtlCol="0"/>
          <a:lstStyle/>
          <a:p>
            <a:pPr algn="l" indent="0" marL="0">
              <a:buNone/>
            </a:pPr>
            <a:r>
              <a:rPr lang="en-US" sz="4000" b="1" dirty="0">
                <a:solidFill>
                  <a:schemeClr val="bg1"/>
                </a:solidFill>
              </a:rPr>
              <a:t>Reports &amp; help</a:t>
            </a:r>
            <a:endParaRPr lang="en-US" sz="4000" dirty="0"/>
          </a:p>
        </p:txBody>
      </p:sp>
      <p:sp>
        <p:nvSpPr>
          <p:cNvPr id="3" name="Text 0"/>
          <p:cNvSpPr/>
          <p:nvPr>
            <p:ph idx="101" type="body" hasCustomPrompt="1"/>
          </p:nvPr>
        </p:nvSpPr>
        <p:spPr>
          <a:xfrm>
            <a:off x="731520" y="3794760"/>
            <a:ext cx="10515600" cy="822960"/>
          </a:xfrm>
          <a:prstGeom prst="rect">
            <a:avLst/>
          </a:prstGeom>
          <a:noFill/>
          <a:ln/>
        </p:spPr>
        <p:txBody>
          <a:bodyPr wrap="square" lIns="0" tIns="0" rIns="0" bIns="0" rtlCol="0"/>
          <a:lstStyle/>
          <a:p>
            <a:pPr algn="l" indent="0" marL="0">
              <a:buNone/>
            </a:pPr>
            <a:r>
              <a:rPr lang="en-US" sz="2000" dirty="0">
                <a:solidFill>
                  <a:schemeClr val="bg1"/>
                </a:solidFill>
              </a:rPr>
              <a:t>Generate a report; where the manual lives</a:t>
            </a:r>
            <a:endParaRPr lang="en-US" sz="2000" dirty="0"/>
          </a:p>
        </p:txBody>
      </p:sp>
      <p:sp>
        <p:nvSpPr>
          <p:cNvPr id="4" name="ring-0"/>
          <p:cNvSpPr/>
          <p:nvPr/>
        </p:nvSpPr>
        <p:spPr>
          <a:xfrm>
            <a:off x="8778240" y="1965960"/>
            <a:ext cx="2926080" cy="2926080"/>
          </a:xfrm>
          <a:prstGeom prst="ellipse">
            <a:avLst/>
          </a:prstGeom>
          <a:ln w="19050">
            <a:solidFill>
              <a:schemeClr val="bg1">
                <a:alpha val="60000"/>
              </a:schemeClr>
            </a:solidFill>
            <a:prstDash val="solid"/>
          </a:ln>
        </p:spPr>
      </p:sp>
      <p:sp>
        <p:nvSpPr>
          <p:cNvPr id="5" name="ring-1"/>
          <p:cNvSpPr/>
          <p:nvPr/>
        </p:nvSpPr>
        <p:spPr>
          <a:xfrm>
            <a:off x="9144000" y="2331720"/>
            <a:ext cx="2194560" cy="2194560"/>
          </a:xfrm>
          <a:prstGeom prst="ellipse">
            <a:avLst/>
          </a:prstGeom>
          <a:ln w="19050">
            <a:solidFill>
              <a:schemeClr val="bg1">
                <a:alpha val="50000"/>
              </a:schemeClr>
            </a:solidFill>
            <a:prstDash val="solid"/>
          </a:ln>
        </p:spPr>
      </p:sp>
      <p:sp>
        <p:nvSpPr>
          <p:cNvPr id="6" name="ring-2"/>
          <p:cNvSpPr/>
          <p:nvPr/>
        </p:nvSpPr>
        <p:spPr>
          <a:xfrm>
            <a:off x="9509760" y="2697480"/>
            <a:ext cx="1463040" cy="1463040"/>
          </a:xfrm>
          <a:prstGeom prst="ellipse">
            <a:avLst/>
          </a:prstGeom>
          <a:ln w="19050">
            <a:solidFill>
              <a:schemeClr val="bg1">
                <a:alpha val="40000"/>
              </a:schemeClr>
            </a:solidFill>
            <a:prstDash val="solid"/>
          </a:ln>
        </p:spPr>
      </p:sp>
      <p:sp>
        <p:nvSpPr>
          <p:cNvPr id="7" name="ring-core"/>
          <p:cNvSpPr/>
          <p:nvPr/>
        </p:nvSpPr>
        <p:spPr>
          <a:xfrm>
            <a:off x="9875520" y="3063240"/>
            <a:ext cx="731520" cy="731520"/>
          </a:xfrm>
          <a:prstGeom prst="ellipse">
            <a:avLst/>
          </a:prstGeom>
          <a:solidFill>
            <a:schemeClr val="bg1">
              <a:alpha val="80000"/>
            </a:schemeClr>
          </a:solidFill>
          <a:ln w="12700">
            <a:solidFill>
              <a:schemeClr val="bg1">
                <a:alpha val="80000"/>
              </a:schemeClr>
            </a:solidFill>
            <a:prstDash val="solid"/>
          </a:ln>
        </p:spPr>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rPr>
              <a:t>Generate a report</a:t>
            </a:r>
            <a:endParaRPr lang="en-US" sz="3200" dirty="0"/>
          </a:p>
        </p:txBody>
      </p:sp>
      <p:sp>
        <p:nvSpPr>
          <p:cNvPr id="3" name="step-dot-1"/>
          <p:cNvSpPr/>
          <p:nvPr/>
        </p:nvSpPr>
        <p:spPr>
          <a:xfrm>
            <a:off x="548640" y="1463040"/>
            <a:ext cx="365760" cy="365760"/>
          </a:xfrm>
          <a:prstGeom prst="ellipse">
            <a:avLst/>
          </a:prstGeom>
          <a:solidFill>
            <a:schemeClr val="accent1"/>
          </a:solidFill>
          <a:ln w="12700">
            <a:solidFill>
              <a:schemeClr val="accent1"/>
            </a:solidFill>
            <a:prstDash val="solid"/>
          </a:ln>
        </p:spPr>
      </p:sp>
      <p:sp>
        <p:nvSpPr>
          <p:cNvPr id="4" name="Text 2"/>
          <p:cNvSpPr txBox="1"/>
          <p:nvPr/>
        </p:nvSpPr>
        <p:spPr>
          <a:xfrm>
            <a:off x="548640" y="1463040"/>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5" name="Text 3"/>
          <p:cNvSpPr txBox="1"/>
          <p:nvPr/>
        </p:nvSpPr>
        <p:spPr>
          <a:xfrm>
            <a:off x="1051560" y="1408176"/>
            <a:ext cx="4434840" cy="868680"/>
          </a:xfrm>
          <a:prstGeom prst="rect">
            <a:avLst/>
          </a:prstGeom>
          <a:noFill/>
          <a:ln/>
        </p:spPr>
        <p:txBody>
          <a:bodyPr wrap="square" lIns="0" tIns="0" rIns="0" bIns="0" rtlCol="0" anchor="t"/>
          <a:lstStyle/>
          <a:p>
            <a:pPr indent="0" marL="0">
              <a:buNone/>
            </a:pPr>
            <a:r>
              <a:rPr lang="en-US" sz="1500" dirty="0">
                <a:solidFill>
                  <a:schemeClr val="tx1"/>
                </a:solidFill>
              </a:rPr>
              <a:t>Sidebar → 📊 Report</a:t>
            </a:r>
            <a:endParaRPr lang="en-US" sz="1500" dirty="0"/>
          </a:p>
        </p:txBody>
      </p:sp>
      <p:sp>
        <p:nvSpPr>
          <p:cNvPr id="6" name="step-dot-2"/>
          <p:cNvSpPr/>
          <p:nvPr/>
        </p:nvSpPr>
        <p:spPr>
          <a:xfrm>
            <a:off x="548640" y="2331720"/>
            <a:ext cx="365760" cy="365760"/>
          </a:xfrm>
          <a:prstGeom prst="ellipse">
            <a:avLst/>
          </a:prstGeom>
          <a:solidFill>
            <a:schemeClr val="accent1"/>
          </a:solidFill>
          <a:ln w="12700">
            <a:solidFill>
              <a:schemeClr val="accent1"/>
            </a:solidFill>
            <a:prstDash val="solid"/>
          </a:ln>
        </p:spPr>
      </p:sp>
      <p:sp>
        <p:nvSpPr>
          <p:cNvPr id="7" name="Text 5"/>
          <p:cNvSpPr txBox="1"/>
          <p:nvPr/>
        </p:nvSpPr>
        <p:spPr>
          <a:xfrm>
            <a:off x="548640" y="2331720"/>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8" name="Text 6"/>
          <p:cNvSpPr txBox="1"/>
          <p:nvPr/>
        </p:nvSpPr>
        <p:spPr>
          <a:xfrm>
            <a:off x="1051560" y="2276856"/>
            <a:ext cx="4434840" cy="868680"/>
          </a:xfrm>
          <a:prstGeom prst="rect">
            <a:avLst/>
          </a:prstGeom>
          <a:noFill/>
          <a:ln/>
        </p:spPr>
        <p:txBody>
          <a:bodyPr wrap="square" lIns="0" tIns="0" rIns="0" bIns="0" rtlCol="0" anchor="t"/>
          <a:lstStyle/>
          <a:p>
            <a:pPr indent="0" marL="0">
              <a:buNone/>
            </a:pPr>
            <a:r>
              <a:rPr lang="en-US" sz="1500" dirty="0">
                <a:solidFill>
                  <a:schemeClr val="tx1"/>
                </a:solidFill>
              </a:rPr>
              <a:t>Choose the Period, Year and View by</a:t>
            </a:r>
            <a:endParaRPr lang="en-US" sz="1500" dirty="0"/>
          </a:p>
        </p:txBody>
      </p:sp>
      <p:sp>
        <p:nvSpPr>
          <p:cNvPr id="9" name="step-dot-3"/>
          <p:cNvSpPr/>
          <p:nvPr/>
        </p:nvSpPr>
        <p:spPr>
          <a:xfrm>
            <a:off x="548640" y="3200400"/>
            <a:ext cx="365760" cy="365760"/>
          </a:xfrm>
          <a:prstGeom prst="ellipse">
            <a:avLst/>
          </a:prstGeom>
          <a:solidFill>
            <a:schemeClr val="accent1"/>
          </a:solidFill>
          <a:ln w="12700">
            <a:solidFill>
              <a:schemeClr val="accent1"/>
            </a:solidFill>
            <a:prstDash val="solid"/>
          </a:ln>
        </p:spPr>
      </p:sp>
      <p:sp>
        <p:nvSpPr>
          <p:cNvPr id="10" name="Text 8"/>
          <p:cNvSpPr txBox="1"/>
          <p:nvPr/>
        </p:nvSpPr>
        <p:spPr>
          <a:xfrm>
            <a:off x="548640" y="3200400"/>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1" name="Text 9"/>
          <p:cNvSpPr txBox="1"/>
          <p:nvPr/>
        </p:nvSpPr>
        <p:spPr>
          <a:xfrm>
            <a:off x="1051560" y="3145536"/>
            <a:ext cx="4434840" cy="868680"/>
          </a:xfrm>
          <a:prstGeom prst="rect">
            <a:avLst/>
          </a:prstGeom>
          <a:noFill/>
          <a:ln/>
        </p:spPr>
        <p:txBody>
          <a:bodyPr wrap="square" lIns="0" tIns="0" rIns="0" bIns="0" rtlCol="0" anchor="t"/>
          <a:lstStyle/>
          <a:p>
            <a:pPr indent="0" marL="0">
              <a:buNone/>
            </a:pPr>
            <a:r>
              <a:rPr lang="en-US" sz="1500" dirty="0">
                <a:solidFill>
                  <a:schemeClr val="tx1"/>
                </a:solidFill>
              </a:rPr>
              <a:t>Optional: ⚙️ Advanced filter — sections and metrics</a:t>
            </a:r>
            <a:endParaRPr lang="en-US" sz="1500" dirty="0"/>
          </a:p>
        </p:txBody>
      </p:sp>
      <p:sp>
        <p:nvSpPr>
          <p:cNvPr id="12" name="step-dot-4"/>
          <p:cNvSpPr/>
          <p:nvPr/>
        </p:nvSpPr>
        <p:spPr>
          <a:xfrm>
            <a:off x="548640" y="4069080"/>
            <a:ext cx="365760" cy="365760"/>
          </a:xfrm>
          <a:prstGeom prst="ellipse">
            <a:avLst/>
          </a:prstGeom>
          <a:solidFill>
            <a:schemeClr val="accent1"/>
          </a:solidFill>
          <a:ln w="12700">
            <a:solidFill>
              <a:schemeClr val="accent1"/>
            </a:solidFill>
            <a:prstDash val="solid"/>
          </a:ln>
        </p:spPr>
      </p:sp>
      <p:sp>
        <p:nvSpPr>
          <p:cNvPr id="13" name="Text 11"/>
          <p:cNvSpPr txBox="1"/>
          <p:nvPr/>
        </p:nvSpPr>
        <p:spPr>
          <a:xfrm>
            <a:off x="548640" y="4069080"/>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14" name="Text 12"/>
          <p:cNvSpPr txBox="1"/>
          <p:nvPr/>
        </p:nvSpPr>
        <p:spPr>
          <a:xfrm>
            <a:off x="1051560" y="4014216"/>
            <a:ext cx="4434840" cy="868680"/>
          </a:xfrm>
          <a:prstGeom prst="rect">
            <a:avLst/>
          </a:prstGeom>
          <a:noFill/>
          <a:ln/>
        </p:spPr>
        <p:txBody>
          <a:bodyPr wrap="square" lIns="0" tIns="0" rIns="0" bIns="0" rtlCol="0" anchor="t"/>
          <a:lstStyle/>
          <a:p>
            <a:pPr indent="0" marL="0">
              <a:buNone/>
            </a:pPr>
            <a:r>
              <a:rPr lang="en-US" sz="1500" dirty="0">
                <a:solidFill>
                  <a:schemeClr val="tx1"/>
                </a:solidFill>
              </a:rPr>
              <a:t>Click ▶ Generate report (nothing loads before this)</a:t>
            </a:r>
            <a:endParaRPr lang="en-US" sz="1500" dirty="0"/>
          </a:p>
        </p:txBody>
      </p:sp>
      <p:sp>
        <p:nvSpPr>
          <p:cNvPr id="15" name="step-dot-5"/>
          <p:cNvSpPr/>
          <p:nvPr/>
        </p:nvSpPr>
        <p:spPr>
          <a:xfrm>
            <a:off x="548640" y="4937760"/>
            <a:ext cx="365760" cy="365760"/>
          </a:xfrm>
          <a:prstGeom prst="ellipse">
            <a:avLst/>
          </a:prstGeom>
          <a:solidFill>
            <a:schemeClr val="accent1"/>
          </a:solidFill>
          <a:ln w="12700">
            <a:solidFill>
              <a:schemeClr val="accent1"/>
            </a:solidFill>
            <a:prstDash val="solid"/>
          </a:ln>
        </p:spPr>
      </p:sp>
      <p:sp>
        <p:nvSpPr>
          <p:cNvPr id="16" name="Text 14"/>
          <p:cNvSpPr txBox="1"/>
          <p:nvPr/>
        </p:nvSpPr>
        <p:spPr>
          <a:xfrm>
            <a:off x="548640" y="4937760"/>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rPr>
              <a:t>5</a:t>
            </a:r>
            <a:endParaRPr lang="en-US" sz="1400" dirty="0"/>
          </a:p>
        </p:txBody>
      </p:sp>
      <p:sp>
        <p:nvSpPr>
          <p:cNvPr id="17" name="Text 15"/>
          <p:cNvSpPr txBox="1"/>
          <p:nvPr/>
        </p:nvSpPr>
        <p:spPr>
          <a:xfrm>
            <a:off x="1051560" y="4882896"/>
            <a:ext cx="4434840" cy="868680"/>
          </a:xfrm>
          <a:prstGeom prst="rect">
            <a:avLst/>
          </a:prstGeom>
          <a:noFill/>
          <a:ln/>
        </p:spPr>
        <p:txBody>
          <a:bodyPr wrap="square" lIns="0" tIns="0" rIns="0" bIns="0" rtlCol="0" anchor="t"/>
          <a:lstStyle/>
          <a:p>
            <a:pPr indent="0" marL="0">
              <a:buNone/>
            </a:pPr>
            <a:r>
              <a:rPr lang="en-US" sz="1500" dirty="0">
                <a:solidFill>
                  <a:schemeClr val="tx1"/>
                </a:solidFill>
              </a:rPr>
              <a:t>📄 Export Report → ⬇ Download PDF; 📥 Export Data for Excel</a:t>
            </a:r>
            <a:endParaRPr lang="en-US" sz="1500" dirty="0"/>
          </a:p>
        </p:txBody>
      </p:sp>
      <p:sp>
        <p:nvSpPr>
          <p:cNvPr id="18" name="frame-28-report-generated"/>
          <p:cNvSpPr/>
          <p:nvPr/>
        </p:nvSpPr>
        <p:spPr>
          <a:xfrm>
            <a:off x="5833872" y="1399032"/>
            <a:ext cx="5797296" cy="3637026"/>
          </a:xfrm>
          <a:prstGeom prst="rect">
            <a:avLst/>
          </a:prstGeom>
          <a:solidFill>
            <a:schemeClr val="bg1"/>
          </a:solidFill>
          <a:ln w="12700">
            <a:solidFill>
              <a:srgbClr val="D5DBE2"/>
            </a:solidFill>
            <a:prstDash val="solid"/>
          </a:ln>
          <a:effectLst>
            <a:outerShdw sx="100000" sy="100000" kx="0" ky="0" algn="bl" rotWithShape="0" blurRad="127000" dist="38100" dir="5400000">
              <a:srgbClr val="14254F">
                <a:alpha val="18000"/>
              </a:srgbClr>
            </a:outerShdw>
          </a:effectLst>
        </p:spPr>
      </p:sp>
      <p:pic>
        <p:nvPicPr>
          <p:cNvPr id="19" name="shot-28-report-generated" descr="📊 Your Activity Report">    </p:cNvPr>
          <p:cNvPicPr>
            <a:picLocks noChangeAspect="1"/>
          </p:cNvPicPr>
          <p:nvPr/>
        </p:nvPicPr>
        <p:blipFill>
          <a:blip r:embed="rId1"/>
          <a:stretch>
            <a:fillRect/>
          </a:stretch>
        </p:blipFill>
        <p:spPr>
          <a:xfrm>
            <a:off x="5852160" y="1417320"/>
            <a:ext cx="5760720" cy="3600450"/>
          </a:xfrm>
          <a:prstGeom prst="rect">
            <a:avLst/>
          </a:prstGeom>
        </p:spPr>
      </p:pic>
      <p:sp>
        <p:nvSpPr>
          <p:cNvPr id="20" name="Text 17"/>
          <p:cNvSpPr txBox="1"/>
          <p:nvPr/>
        </p:nvSpPr>
        <p:spPr>
          <a:xfrm>
            <a:off x="5852160" y="5090922"/>
            <a:ext cx="5760720" cy="274320"/>
          </a:xfrm>
          <a:prstGeom prst="rect">
            <a:avLst/>
          </a:prstGeom>
          <a:noFill/>
          <a:ln/>
        </p:spPr>
        <p:txBody>
          <a:bodyPr wrap="square" lIns="0" tIns="0" rIns="0" bIns="0" rtlCol="0" anchor="ctr"/>
          <a:lstStyle/>
          <a:p>
            <a:pPr algn="ctr" indent="0" marL="0">
              <a:buNone/>
            </a:pPr>
            <a:r>
              <a:rPr lang="en-US" sz="1100" i="1" dirty="0">
                <a:solidFill>
                  <a:srgbClr val="5B6573"/>
                </a:solidFill>
              </a:rPr>
              <a:t>📊 Your Activity Report</a:t>
            </a:r>
            <a:endParaRPr lang="en-US" sz="11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rPr>
              <a:t>Where to get help</a:t>
            </a:r>
            <a:endParaRPr lang="en-US" sz="3200" dirty="0"/>
          </a:p>
        </p:txBody>
      </p:sp>
      <p:sp>
        <p:nvSpPr>
          <p:cNvPr id="3" name="frame-33-help"/>
          <p:cNvSpPr/>
          <p:nvPr/>
        </p:nvSpPr>
        <p:spPr>
          <a:xfrm>
            <a:off x="530352" y="1353312"/>
            <a:ext cx="6803136" cy="4265676"/>
          </a:xfrm>
          <a:prstGeom prst="rect">
            <a:avLst/>
          </a:prstGeom>
          <a:solidFill>
            <a:schemeClr val="bg1"/>
          </a:solidFill>
          <a:ln w="12700">
            <a:solidFill>
              <a:srgbClr val="D5DBE2"/>
            </a:solidFill>
            <a:prstDash val="solid"/>
          </a:ln>
          <a:effectLst>
            <a:outerShdw sx="100000" sy="100000" kx="0" ky="0" algn="bl" rotWithShape="0" blurRad="127000" dist="38100" dir="5400000">
              <a:srgbClr val="14254F">
                <a:alpha val="18000"/>
              </a:srgbClr>
            </a:outerShdw>
          </a:effectLst>
        </p:spPr>
      </p:sp>
      <p:pic>
        <p:nvPicPr>
          <p:cNvPr id="4" name="shot-33-help" descr="👤 → Help">    </p:cNvPr>
          <p:cNvPicPr>
            <a:picLocks noChangeAspect="1"/>
          </p:cNvPicPr>
          <p:nvPr/>
        </p:nvPicPr>
        <p:blipFill>
          <a:blip r:embed="rId1"/>
          <a:stretch>
            <a:fillRect/>
          </a:stretch>
        </p:blipFill>
        <p:spPr>
          <a:xfrm>
            <a:off x="548640" y="1371600"/>
            <a:ext cx="6766560" cy="4229100"/>
          </a:xfrm>
          <a:prstGeom prst="rect">
            <a:avLst/>
          </a:prstGeom>
        </p:spPr>
      </p:pic>
      <p:sp>
        <p:nvSpPr>
          <p:cNvPr id="5" name="Text 2"/>
          <p:cNvSpPr txBox="1"/>
          <p:nvPr/>
        </p:nvSpPr>
        <p:spPr>
          <a:xfrm>
            <a:off x="548640" y="5673852"/>
            <a:ext cx="6766560" cy="274320"/>
          </a:xfrm>
          <a:prstGeom prst="rect">
            <a:avLst/>
          </a:prstGeom>
          <a:noFill/>
          <a:ln/>
        </p:spPr>
        <p:txBody>
          <a:bodyPr wrap="square" lIns="0" tIns="0" rIns="0" bIns="0" rtlCol="0" anchor="ctr"/>
          <a:lstStyle/>
          <a:p>
            <a:pPr algn="ctr" indent="0" marL="0">
              <a:buNone/>
            </a:pPr>
            <a:r>
              <a:rPr lang="en-US" sz="1100" i="1" dirty="0">
                <a:solidFill>
                  <a:srgbClr val="5B6573"/>
                </a:solidFill>
              </a:rPr>
              <a:t>👤 → Help</a:t>
            </a:r>
            <a:endParaRPr lang="en-US" sz="1100" dirty="0"/>
          </a:p>
        </p:txBody>
      </p:sp>
      <p:sp>
        <p:nvSpPr>
          <p:cNvPr id="6" name="callout-green"/>
          <p:cNvSpPr/>
          <p:nvPr/>
        </p:nvSpPr>
        <p:spPr>
          <a:xfrm>
            <a:off x="7680960" y="1371600"/>
            <a:ext cx="3931920" cy="1097280"/>
          </a:xfrm>
          <a:prstGeom prst="roundRect">
            <a:avLst>
              <a:gd name="adj" fmla="val 10000"/>
            </a:avLst>
          </a:prstGeom>
          <a:solidFill>
            <a:srgbClr val="E6F2EB"/>
          </a:solidFill>
          <a:ln w="12700">
            <a:solidFill>
              <a:srgbClr val="CFE6DA"/>
            </a:solidFill>
            <a:prstDash val="solid"/>
          </a:ln>
        </p:spPr>
      </p:sp>
      <p:sp>
        <p:nvSpPr>
          <p:cNvPr id="7" name="Text 4"/>
          <p:cNvSpPr txBox="1"/>
          <p:nvPr/>
        </p:nvSpPr>
        <p:spPr>
          <a:xfrm>
            <a:off x="7863840" y="1481328"/>
            <a:ext cx="3566160" cy="877824"/>
          </a:xfrm>
          <a:prstGeom prst="rect">
            <a:avLst/>
          </a:prstGeom>
          <a:noFill/>
          <a:ln/>
        </p:spPr>
        <p:txBody>
          <a:bodyPr wrap="square" lIns="0" tIns="0" rIns="0" bIns="0" rtlCol="0" anchor="t"/>
          <a:lstStyle/>
          <a:p>
            <a:pPr indent="0" marL="0">
              <a:spcAft>
                <a:spcPts val="400"/>
              </a:spcAft>
              <a:buNone/>
            </a:pPr>
            <a:r>
              <a:rPr lang="en-US" sz="1400" b="1" dirty="0">
                <a:solidFill>
                  <a:schemeClr val="tx2"/>
                </a:solidFill>
              </a:rPr>
              <a:t>The user manual</a:t>
            </a:r>
            <a:endParaRPr lang="en-US" sz="1400" dirty="0"/>
          </a:p>
          <a:p>
            <a:pPr indent="0" marL="0">
              <a:spcAft>
                <a:spcPts val="400"/>
              </a:spcAft>
              <a:buNone/>
            </a:pPr>
            <a:r>
              <a:rPr lang="en-US" sz="1400" dirty="0">
                <a:solidFill>
                  <a:schemeClr val="tx1"/>
                </a:solidFill>
              </a:rPr>
              <a:t>👤 → Help → ⬇ User manual (PDF). Also on the Home page.</a:t>
            </a:r>
            <a:endParaRPr lang="en-US" sz="1400" dirty="0"/>
          </a:p>
        </p:txBody>
      </p:sp>
      <p:sp>
        <p:nvSpPr>
          <p:cNvPr id="8" name="callout-green"/>
          <p:cNvSpPr/>
          <p:nvPr/>
        </p:nvSpPr>
        <p:spPr>
          <a:xfrm>
            <a:off x="7680960" y="2651760"/>
            <a:ext cx="3931920" cy="914400"/>
          </a:xfrm>
          <a:prstGeom prst="roundRect">
            <a:avLst>
              <a:gd name="adj" fmla="val 12000"/>
            </a:avLst>
          </a:prstGeom>
          <a:solidFill>
            <a:srgbClr val="E6F2EB"/>
          </a:solidFill>
          <a:ln w="12700">
            <a:solidFill>
              <a:srgbClr val="CFE6DA"/>
            </a:solidFill>
            <a:prstDash val="solid"/>
          </a:ln>
        </p:spPr>
      </p:sp>
      <p:sp>
        <p:nvSpPr>
          <p:cNvPr id="9" name="Text 6"/>
          <p:cNvSpPr txBox="1"/>
          <p:nvPr/>
        </p:nvSpPr>
        <p:spPr>
          <a:xfrm>
            <a:off x="7863840" y="2761488"/>
            <a:ext cx="3566160" cy="694944"/>
          </a:xfrm>
          <a:prstGeom prst="rect">
            <a:avLst/>
          </a:prstGeom>
          <a:noFill/>
          <a:ln/>
        </p:spPr>
        <p:txBody>
          <a:bodyPr wrap="square" lIns="0" tIns="0" rIns="0" bIns="0" rtlCol="0" anchor="t"/>
          <a:lstStyle/>
          <a:p>
            <a:pPr indent="0" marL="0">
              <a:spcAft>
                <a:spcPts val="400"/>
              </a:spcAft>
              <a:buNone/>
            </a:pPr>
            <a:r>
              <a:rPr lang="en-US" sz="1400" b="1" dirty="0">
                <a:solidFill>
                  <a:schemeClr val="tx2"/>
                </a:solidFill>
              </a:rPr>
              <a:t>These slides</a:t>
            </a:r>
            <a:endParaRPr lang="en-US" sz="1400" dirty="0"/>
          </a:p>
          <a:p>
            <a:pPr indent="0" marL="0">
              <a:spcAft>
                <a:spcPts val="400"/>
              </a:spcAft>
              <a:buNone/>
            </a:pPr>
            <a:r>
              <a:rPr lang="en-US" sz="1400" dirty="0">
                <a:solidFill>
                  <a:schemeClr val="tx1"/>
                </a:solidFill>
              </a:rPr>
              <a:t>👤 → Help → ⬇ Training slides (PPTX).</a:t>
            </a:r>
            <a:endParaRPr lang="en-US" sz="1400" dirty="0"/>
          </a:p>
        </p:txBody>
      </p:sp>
      <p:sp>
        <p:nvSpPr>
          <p:cNvPr id="10" name="callout-blue"/>
          <p:cNvSpPr/>
          <p:nvPr/>
        </p:nvSpPr>
        <p:spPr>
          <a:xfrm>
            <a:off x="7680960" y="3749040"/>
            <a:ext cx="3931920" cy="1097280"/>
          </a:xfrm>
          <a:prstGeom prst="roundRect">
            <a:avLst>
              <a:gd name="adj" fmla="val 10000"/>
            </a:avLst>
          </a:prstGeom>
          <a:solidFill>
            <a:srgbClr val="EEF3FB"/>
          </a:solidFill>
          <a:ln w="12700">
            <a:solidFill>
              <a:srgbClr val="D6E1F3"/>
            </a:solidFill>
            <a:prstDash val="solid"/>
          </a:ln>
        </p:spPr>
      </p:sp>
      <p:sp>
        <p:nvSpPr>
          <p:cNvPr id="11" name="Text 8"/>
          <p:cNvSpPr txBox="1"/>
          <p:nvPr/>
        </p:nvSpPr>
        <p:spPr>
          <a:xfrm>
            <a:off x="7863840" y="3858768"/>
            <a:ext cx="3566160" cy="877824"/>
          </a:xfrm>
          <a:prstGeom prst="rect">
            <a:avLst/>
          </a:prstGeom>
          <a:noFill/>
          <a:ln/>
        </p:spPr>
        <p:txBody>
          <a:bodyPr wrap="square" lIns="0" tIns="0" rIns="0" bIns="0" rtlCol="0" anchor="t"/>
          <a:lstStyle/>
          <a:p>
            <a:pPr indent="0" marL="0">
              <a:spcAft>
                <a:spcPts val="400"/>
              </a:spcAft>
              <a:buNone/>
            </a:pPr>
            <a:r>
              <a:rPr lang="en-US" sz="1400" b="1" dirty="0">
                <a:solidFill>
                  <a:schemeClr val="tx2"/>
                </a:solidFill>
              </a:rPr>
              <a:t>Still stuck?</a:t>
            </a:r>
            <a:endParaRPr lang="en-US" sz="1400" dirty="0"/>
          </a:p>
          <a:p>
            <a:pPr indent="0" marL="0">
              <a:spcAft>
                <a:spcPts val="400"/>
              </a:spcAft>
              <a:buNone/>
            </a:pPr>
            <a:r>
              <a:rPr lang="en-US" sz="1400" dirty="0">
                <a:solidFill>
                  <a:schemeClr val="tx1"/>
                </a:solidFill>
              </a:rPr>
              <a:t>Ask your administrator — the Help page shows who to contact.</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rPr>
              <a:t>Try it now: 10-minute exercise</a:t>
            </a:r>
            <a:endParaRPr lang="en-US" sz="3200" dirty="0"/>
          </a:p>
        </p:txBody>
      </p:sp>
      <p:sp>
        <p:nvSpPr>
          <p:cNvPr id="3" name="task-1"/>
          <p:cNvSpPr/>
          <p:nvPr/>
        </p:nvSpPr>
        <p:spPr>
          <a:xfrm>
            <a:off x="548640" y="1463040"/>
            <a:ext cx="5440680" cy="1234440"/>
          </a:xfrm>
          <a:prstGeom prst="roundRect">
            <a:avLst>
              <a:gd name="adj" fmla="val 8889"/>
            </a:avLst>
          </a:prstGeom>
          <a:solidFill>
            <a:schemeClr val="bg2"/>
          </a:solidFill>
          <a:ln w="12700">
            <a:solidFill>
              <a:srgbClr val="E3E7EC"/>
            </a:solidFill>
            <a:prstDash val="solid"/>
          </a:ln>
        </p:spPr>
      </p:sp>
      <p:sp>
        <p:nvSpPr>
          <p:cNvPr id="4" name="Shape 2"/>
          <p:cNvSpPr/>
          <p:nvPr/>
        </p:nvSpPr>
        <p:spPr>
          <a:xfrm>
            <a:off x="777240" y="1828800"/>
            <a:ext cx="502920" cy="502920"/>
          </a:xfrm>
          <a:prstGeom prst="ellipse">
            <a:avLst/>
          </a:prstGeom>
          <a:solidFill>
            <a:schemeClr val="accent1"/>
          </a:solidFill>
          <a:ln w="12700">
            <a:solidFill>
              <a:schemeClr val="accent1"/>
            </a:solidFill>
            <a:prstDash val="solid"/>
          </a:ln>
        </p:spPr>
      </p:sp>
      <p:sp>
        <p:nvSpPr>
          <p:cNvPr id="5" name="Text 3"/>
          <p:cNvSpPr txBox="1"/>
          <p:nvPr/>
        </p:nvSpPr>
        <p:spPr>
          <a:xfrm>
            <a:off x="777240" y="1828800"/>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6" name="Text 4"/>
          <p:cNvSpPr txBox="1"/>
          <p:nvPr/>
        </p:nvSpPr>
        <p:spPr>
          <a:xfrm>
            <a:off x="1463040" y="1463040"/>
            <a:ext cx="4343400" cy="1234440"/>
          </a:xfrm>
          <a:prstGeom prst="rect">
            <a:avLst/>
          </a:prstGeom>
          <a:noFill/>
          <a:ln/>
        </p:spPr>
        <p:txBody>
          <a:bodyPr wrap="square" lIns="0" tIns="0" rIns="0" bIns="0" rtlCol="0" anchor="ctr"/>
          <a:lstStyle/>
          <a:p>
            <a:pPr indent="0" marL="0">
              <a:buNone/>
            </a:pPr>
            <a:r>
              <a:rPr lang="en-US" sz="1700" dirty="0">
                <a:solidFill>
                  <a:schemeClr val="tx1"/>
                </a:solidFill>
              </a:rPr>
              <a:t>Open the bell. When is the next auto-scan?</a:t>
            </a:r>
            <a:endParaRPr lang="en-US" sz="1700" dirty="0"/>
          </a:p>
        </p:txBody>
      </p:sp>
      <p:sp>
        <p:nvSpPr>
          <p:cNvPr id="7" name="task-2"/>
          <p:cNvSpPr/>
          <p:nvPr/>
        </p:nvSpPr>
        <p:spPr>
          <a:xfrm>
            <a:off x="6172200" y="1463040"/>
            <a:ext cx="5440680" cy="1234440"/>
          </a:xfrm>
          <a:prstGeom prst="roundRect">
            <a:avLst>
              <a:gd name="adj" fmla="val 8889"/>
            </a:avLst>
          </a:prstGeom>
          <a:solidFill>
            <a:schemeClr val="bg2"/>
          </a:solidFill>
          <a:ln w="12700">
            <a:solidFill>
              <a:srgbClr val="E3E7EC"/>
            </a:solidFill>
            <a:prstDash val="solid"/>
          </a:ln>
        </p:spPr>
      </p:sp>
      <p:sp>
        <p:nvSpPr>
          <p:cNvPr id="8" name="Shape 6"/>
          <p:cNvSpPr/>
          <p:nvPr/>
        </p:nvSpPr>
        <p:spPr>
          <a:xfrm>
            <a:off x="6400800" y="1828800"/>
            <a:ext cx="502920" cy="502920"/>
          </a:xfrm>
          <a:prstGeom prst="ellipse">
            <a:avLst/>
          </a:prstGeom>
          <a:solidFill>
            <a:schemeClr val="accent1"/>
          </a:solidFill>
          <a:ln w="12700">
            <a:solidFill>
              <a:schemeClr val="accent1"/>
            </a:solidFill>
            <a:prstDash val="solid"/>
          </a:ln>
        </p:spPr>
      </p:sp>
      <p:sp>
        <p:nvSpPr>
          <p:cNvPr id="9" name="Text 7"/>
          <p:cNvSpPr txBox="1"/>
          <p:nvPr/>
        </p:nvSpPr>
        <p:spPr>
          <a:xfrm>
            <a:off x="6400800" y="1828800"/>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10" name="Text 8"/>
          <p:cNvSpPr txBox="1"/>
          <p:nvPr/>
        </p:nvSpPr>
        <p:spPr>
          <a:xfrm>
            <a:off x="7086600" y="1463040"/>
            <a:ext cx="4343400" cy="1234440"/>
          </a:xfrm>
          <a:prstGeom prst="rect">
            <a:avLst/>
          </a:prstGeom>
          <a:noFill/>
          <a:ln/>
        </p:spPr>
        <p:txBody>
          <a:bodyPr wrap="square" lIns="0" tIns="0" rIns="0" bIns="0" rtlCol="0" anchor="ctr"/>
          <a:lstStyle/>
          <a:p>
            <a:pPr indent="0" marL="0">
              <a:buNone/>
            </a:pPr>
            <a:r>
              <a:rPr lang="en-US" sz="1700" dirty="0">
                <a:solidFill>
                  <a:schemeClr val="tx1"/>
                </a:solidFill>
              </a:rPr>
              <a:t>Run the Eligibility Scan. How many were newly added?</a:t>
            </a:r>
            <a:endParaRPr lang="en-US" sz="1700" dirty="0"/>
          </a:p>
        </p:txBody>
      </p:sp>
      <p:sp>
        <p:nvSpPr>
          <p:cNvPr id="11" name="task-3"/>
          <p:cNvSpPr/>
          <p:nvPr/>
        </p:nvSpPr>
        <p:spPr>
          <a:xfrm>
            <a:off x="548640" y="2926080"/>
            <a:ext cx="5440680" cy="1234440"/>
          </a:xfrm>
          <a:prstGeom prst="roundRect">
            <a:avLst>
              <a:gd name="adj" fmla="val 8889"/>
            </a:avLst>
          </a:prstGeom>
          <a:solidFill>
            <a:schemeClr val="bg2"/>
          </a:solidFill>
          <a:ln w="12700">
            <a:solidFill>
              <a:srgbClr val="E3E7EC"/>
            </a:solidFill>
            <a:prstDash val="solid"/>
          </a:ln>
        </p:spPr>
      </p:sp>
      <p:sp>
        <p:nvSpPr>
          <p:cNvPr id="12" name="Shape 10"/>
          <p:cNvSpPr/>
          <p:nvPr/>
        </p:nvSpPr>
        <p:spPr>
          <a:xfrm>
            <a:off x="777240" y="3291840"/>
            <a:ext cx="502920" cy="502920"/>
          </a:xfrm>
          <a:prstGeom prst="ellipse">
            <a:avLst/>
          </a:prstGeom>
          <a:solidFill>
            <a:schemeClr val="accent1"/>
          </a:solidFill>
          <a:ln w="12700">
            <a:solidFill>
              <a:schemeClr val="accent1"/>
            </a:solidFill>
            <a:prstDash val="solid"/>
          </a:ln>
        </p:spPr>
      </p:sp>
      <p:sp>
        <p:nvSpPr>
          <p:cNvPr id="13" name="Text 11"/>
          <p:cNvSpPr txBox="1"/>
          <p:nvPr/>
        </p:nvSpPr>
        <p:spPr>
          <a:xfrm>
            <a:off x="777240" y="3291840"/>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14" name="Text 12"/>
          <p:cNvSpPr txBox="1"/>
          <p:nvPr/>
        </p:nvSpPr>
        <p:spPr>
          <a:xfrm>
            <a:off x="1463040" y="2926080"/>
            <a:ext cx="4343400" cy="1234440"/>
          </a:xfrm>
          <a:prstGeom prst="rect">
            <a:avLst/>
          </a:prstGeom>
          <a:noFill/>
          <a:ln/>
        </p:spPr>
        <p:txBody>
          <a:bodyPr wrap="square" lIns="0" tIns="0" rIns="0" bIns="0" rtlCol="0" anchor="ctr"/>
          <a:lstStyle/>
          <a:p>
            <a:pPr indent="0" marL="0">
              <a:buNone/>
            </a:pPr>
            <a:r>
              <a:rPr lang="en-US" sz="1700" dirty="0">
                <a:solidFill>
                  <a:schemeClr val="tx1"/>
                </a:solidFill>
              </a:rPr>
              <a:t>Open one RFP on Review. What is its Bid Strength?</a:t>
            </a:r>
            <a:endParaRPr lang="en-US" sz="1700" dirty="0"/>
          </a:p>
        </p:txBody>
      </p:sp>
      <p:sp>
        <p:nvSpPr>
          <p:cNvPr id="15" name="task-4"/>
          <p:cNvSpPr/>
          <p:nvPr/>
        </p:nvSpPr>
        <p:spPr>
          <a:xfrm>
            <a:off x="6172200" y="2926080"/>
            <a:ext cx="5440680" cy="1234440"/>
          </a:xfrm>
          <a:prstGeom prst="roundRect">
            <a:avLst>
              <a:gd name="adj" fmla="val 8889"/>
            </a:avLst>
          </a:prstGeom>
          <a:solidFill>
            <a:schemeClr val="bg2"/>
          </a:solidFill>
          <a:ln w="12700">
            <a:solidFill>
              <a:srgbClr val="E3E7EC"/>
            </a:solidFill>
            <a:prstDash val="solid"/>
          </a:ln>
        </p:spPr>
      </p:sp>
      <p:sp>
        <p:nvSpPr>
          <p:cNvPr id="16" name="Shape 14"/>
          <p:cNvSpPr/>
          <p:nvPr/>
        </p:nvSpPr>
        <p:spPr>
          <a:xfrm>
            <a:off x="6400800" y="3291840"/>
            <a:ext cx="502920" cy="502920"/>
          </a:xfrm>
          <a:prstGeom prst="ellipse">
            <a:avLst/>
          </a:prstGeom>
          <a:solidFill>
            <a:schemeClr val="accent1"/>
          </a:solidFill>
          <a:ln w="12700">
            <a:solidFill>
              <a:schemeClr val="accent1"/>
            </a:solidFill>
            <a:prstDash val="solid"/>
          </a:ln>
        </p:spPr>
      </p:sp>
      <p:sp>
        <p:nvSpPr>
          <p:cNvPr id="17" name="Text 15"/>
          <p:cNvSpPr txBox="1"/>
          <p:nvPr/>
        </p:nvSpPr>
        <p:spPr>
          <a:xfrm>
            <a:off x="6400800" y="3291840"/>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4</a:t>
            </a:r>
            <a:endParaRPr lang="en-US" sz="1800" dirty="0"/>
          </a:p>
        </p:txBody>
      </p:sp>
      <p:sp>
        <p:nvSpPr>
          <p:cNvPr id="18" name="Text 16"/>
          <p:cNvSpPr txBox="1"/>
          <p:nvPr/>
        </p:nvSpPr>
        <p:spPr>
          <a:xfrm>
            <a:off x="7086600" y="2926080"/>
            <a:ext cx="4343400" cy="1234440"/>
          </a:xfrm>
          <a:prstGeom prst="rect">
            <a:avLst/>
          </a:prstGeom>
          <a:noFill/>
          <a:ln/>
        </p:spPr>
        <p:txBody>
          <a:bodyPr wrap="square" lIns="0" tIns="0" rIns="0" bIns="0" rtlCol="0" anchor="ctr"/>
          <a:lstStyle/>
          <a:p>
            <a:pPr indent="0" marL="0">
              <a:buNone/>
            </a:pPr>
            <a:r>
              <a:rPr lang="en-US" sz="1700" dirty="0">
                <a:solidFill>
                  <a:schemeClr val="tx1"/>
                </a:solidFill>
              </a:rPr>
              <a:t>Search for a donor you know. Is it in RFPIS?</a:t>
            </a:r>
            <a:endParaRPr lang="en-US" sz="1700" dirty="0"/>
          </a:p>
        </p:txBody>
      </p:sp>
      <p:sp>
        <p:nvSpPr>
          <p:cNvPr id="19" name="task-5"/>
          <p:cNvSpPr/>
          <p:nvPr/>
        </p:nvSpPr>
        <p:spPr>
          <a:xfrm>
            <a:off x="548640" y="4389120"/>
            <a:ext cx="5440680" cy="1234440"/>
          </a:xfrm>
          <a:prstGeom prst="roundRect">
            <a:avLst>
              <a:gd name="adj" fmla="val 8889"/>
            </a:avLst>
          </a:prstGeom>
          <a:solidFill>
            <a:schemeClr val="bg2"/>
          </a:solidFill>
          <a:ln w="12700">
            <a:solidFill>
              <a:srgbClr val="E3E7EC"/>
            </a:solidFill>
            <a:prstDash val="solid"/>
          </a:ln>
        </p:spPr>
      </p:sp>
      <p:sp>
        <p:nvSpPr>
          <p:cNvPr id="20" name="Shape 18"/>
          <p:cNvSpPr/>
          <p:nvPr/>
        </p:nvSpPr>
        <p:spPr>
          <a:xfrm>
            <a:off x="777240" y="4754880"/>
            <a:ext cx="502920" cy="502920"/>
          </a:xfrm>
          <a:prstGeom prst="ellipse">
            <a:avLst/>
          </a:prstGeom>
          <a:solidFill>
            <a:schemeClr val="accent1"/>
          </a:solidFill>
          <a:ln w="12700">
            <a:solidFill>
              <a:schemeClr val="accent1"/>
            </a:solidFill>
            <a:prstDash val="solid"/>
          </a:ln>
        </p:spPr>
      </p:sp>
      <p:sp>
        <p:nvSpPr>
          <p:cNvPr id="21" name="Text 19"/>
          <p:cNvSpPr txBox="1"/>
          <p:nvPr/>
        </p:nvSpPr>
        <p:spPr>
          <a:xfrm>
            <a:off x="777240" y="4754880"/>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5</a:t>
            </a:r>
            <a:endParaRPr lang="en-US" sz="1800" dirty="0"/>
          </a:p>
        </p:txBody>
      </p:sp>
      <p:sp>
        <p:nvSpPr>
          <p:cNvPr id="22" name="Text 20"/>
          <p:cNvSpPr txBox="1"/>
          <p:nvPr/>
        </p:nvSpPr>
        <p:spPr>
          <a:xfrm>
            <a:off x="1463040" y="4389120"/>
            <a:ext cx="4343400" cy="1234440"/>
          </a:xfrm>
          <a:prstGeom prst="rect">
            <a:avLst/>
          </a:prstGeom>
          <a:noFill/>
          <a:ln/>
        </p:spPr>
        <p:txBody>
          <a:bodyPr wrap="square" lIns="0" tIns="0" rIns="0" bIns="0" rtlCol="0" anchor="ctr"/>
          <a:lstStyle/>
          <a:p>
            <a:pPr indent="0" marL="0">
              <a:buNone/>
            </a:pPr>
            <a:r>
              <a:rPr lang="en-US" sz="1700" dirty="0">
                <a:solidFill>
                  <a:schemeClr val="tx1"/>
                </a:solidFill>
              </a:rPr>
              <a:t>Open Actions → Pending and filter to your name</a:t>
            </a:r>
            <a:endParaRPr lang="en-US" sz="1700" dirty="0"/>
          </a:p>
        </p:txBody>
      </p:sp>
      <p:sp>
        <p:nvSpPr>
          <p:cNvPr id="23" name="task-6"/>
          <p:cNvSpPr/>
          <p:nvPr/>
        </p:nvSpPr>
        <p:spPr>
          <a:xfrm>
            <a:off x="6172200" y="4389120"/>
            <a:ext cx="5440680" cy="1234440"/>
          </a:xfrm>
          <a:prstGeom prst="roundRect">
            <a:avLst>
              <a:gd name="adj" fmla="val 8889"/>
            </a:avLst>
          </a:prstGeom>
          <a:solidFill>
            <a:schemeClr val="bg2"/>
          </a:solidFill>
          <a:ln w="12700">
            <a:solidFill>
              <a:srgbClr val="E3E7EC"/>
            </a:solidFill>
            <a:prstDash val="solid"/>
          </a:ln>
        </p:spPr>
      </p:sp>
      <p:sp>
        <p:nvSpPr>
          <p:cNvPr id="24" name="Shape 22"/>
          <p:cNvSpPr/>
          <p:nvPr/>
        </p:nvSpPr>
        <p:spPr>
          <a:xfrm>
            <a:off x="6400800" y="4754880"/>
            <a:ext cx="502920" cy="502920"/>
          </a:xfrm>
          <a:prstGeom prst="ellipse">
            <a:avLst/>
          </a:prstGeom>
          <a:solidFill>
            <a:schemeClr val="accent1"/>
          </a:solidFill>
          <a:ln w="12700">
            <a:solidFill>
              <a:schemeClr val="accent1"/>
            </a:solidFill>
            <a:prstDash val="solid"/>
          </a:ln>
        </p:spPr>
      </p:sp>
      <p:sp>
        <p:nvSpPr>
          <p:cNvPr id="25" name="Text 23"/>
          <p:cNvSpPr txBox="1"/>
          <p:nvPr/>
        </p:nvSpPr>
        <p:spPr>
          <a:xfrm>
            <a:off x="6400800" y="4754880"/>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6</a:t>
            </a:r>
            <a:endParaRPr lang="en-US" sz="1800" dirty="0"/>
          </a:p>
        </p:txBody>
      </p:sp>
      <p:sp>
        <p:nvSpPr>
          <p:cNvPr id="26" name="Text 24"/>
          <p:cNvSpPr txBox="1"/>
          <p:nvPr/>
        </p:nvSpPr>
        <p:spPr>
          <a:xfrm>
            <a:off x="7086600" y="4389120"/>
            <a:ext cx="4343400" cy="1234440"/>
          </a:xfrm>
          <a:prstGeom prst="rect">
            <a:avLst/>
          </a:prstGeom>
          <a:noFill/>
          <a:ln/>
        </p:spPr>
        <p:txBody>
          <a:bodyPr wrap="square" lIns="0" tIns="0" rIns="0" bIns="0" rtlCol="0" anchor="ctr"/>
          <a:lstStyle/>
          <a:p>
            <a:pPr indent="0" marL="0">
              <a:buNone/>
            </a:pPr>
            <a:r>
              <a:rPr lang="en-US" sz="1700" dirty="0">
                <a:solidFill>
                  <a:schemeClr val="tx1"/>
                </a:solidFill>
              </a:rPr>
              <a:t>Generate this year's report and export the PDF</a:t>
            </a:r>
            <a:endParaRPr lang="en-US" sz="17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title" hasCustomPrompt="1"/>
          </p:nvPr>
        </p:nvSpPr>
        <p:spPr>
          <a:xfrm>
            <a:off x="731520" y="2148840"/>
            <a:ext cx="8412480" cy="1371600"/>
          </a:xfrm>
          <a:prstGeom prst="rect">
            <a:avLst/>
          </a:prstGeom>
          <a:noFill/>
          <a:ln/>
        </p:spPr>
        <p:txBody>
          <a:bodyPr wrap="square" lIns="0" tIns="0" rIns="0" bIns="0" rtlCol="0" anchor="b"/>
          <a:lstStyle/>
          <a:p>
            <a:pPr algn="l" indent="0" marL="0">
              <a:buNone/>
            </a:pPr>
            <a:r>
              <a:rPr lang="en-US" sz="4800" b="1" dirty="0">
                <a:solidFill>
                  <a:schemeClr val="bg1"/>
                </a:solidFill>
              </a:rPr>
              <a:t>Thank you</a:t>
            </a:r>
            <a:endParaRPr lang="en-US" sz="4800" dirty="0"/>
          </a:p>
        </p:txBody>
      </p:sp>
      <p:sp>
        <p:nvSpPr>
          <p:cNvPr id="3" name="Text 0"/>
          <p:cNvSpPr/>
          <p:nvPr>
            <p:ph idx="101" type="body" hasCustomPrompt="1"/>
          </p:nvPr>
        </p:nvSpPr>
        <p:spPr>
          <a:xfrm>
            <a:off x="731520" y="3657600"/>
            <a:ext cx="8412480" cy="1280160"/>
          </a:xfrm>
          <a:prstGeom prst="rect">
            <a:avLst/>
          </a:prstGeom>
          <a:noFill/>
          <a:ln/>
        </p:spPr>
        <p:txBody>
          <a:bodyPr wrap="square" lIns="0" tIns="0" rIns="0" bIns="0" rtlCol="0" anchor="t"/>
          <a:lstStyle/>
          <a:p>
            <a:pPr algn="l" indent="0" marL="0">
              <a:buNone/>
            </a:pPr>
            <a:r>
              <a:rPr lang="en-US" sz="2000" dirty="0">
                <a:solidFill>
                  <a:schemeClr val="accent6"/>
                </a:solidFill>
              </a:rPr>
              <a:t>Scan on Friday · Screen &amp; submit at the weekend · Decide and take notes on Monday · Follow through mid-week.</a:t>
            </a:r>
            <a:endParaRPr lang="en-US" sz="2000" dirty="0"/>
          </a:p>
        </p:txBody>
      </p:sp>
      <p:sp>
        <p:nvSpPr>
          <p:cNvPr id="4" name="Text 2"/>
          <p:cNvSpPr txBox="1"/>
          <p:nvPr/>
        </p:nvSpPr>
        <p:spPr>
          <a:xfrm>
            <a:off x="731520" y="5852160"/>
            <a:ext cx="8229600" cy="365760"/>
          </a:xfrm>
          <a:prstGeom prst="rect">
            <a:avLst/>
          </a:prstGeom>
          <a:noFill/>
          <a:ln/>
        </p:spPr>
        <p:txBody>
          <a:bodyPr wrap="square" lIns="0" tIns="0" rIns="0" bIns="0" rtlCol="0" anchor="ctr"/>
          <a:lstStyle/>
          <a:p>
            <a:pPr indent="0" marL="0">
              <a:buNone/>
            </a:pPr>
            <a:r>
              <a:rPr lang="en-US" sz="1400" b="1" dirty="0">
                <a:solidFill>
                  <a:schemeClr val="accent6"/>
                </a:solidFill>
              </a:rPr>
              <a:t>User manual &amp; these slides: 👤 → Help</a:t>
            </a:r>
            <a:endParaRPr lang="en-US" sz="1400" dirty="0"/>
          </a:p>
        </p:txBody>
      </p:sp>
    </p:spTree>
  </p:cSld>
  <p:clrMapOvr>
    <a:masterClrMapping/>
  </p:clrMapOvr>
</p:sld>
</file>

<file path=ppt/theme/theme1.xml><?xml version="1.0" encoding="utf-8"?>
<a:theme xmlns:a="http://schemas.openxmlformats.org/drawingml/2006/main" name="RFPIS">
  <a:themeElements>
    <a:clrScheme name="RFPIS">
      <a:dk1>
        <a:srgbClr val="1B1F24"/>
      </a:dk1>
      <a:lt1>
        <a:srgbClr val="FFFFFF"/>
      </a:lt1>
      <a:dk2>
        <a:srgbClr val="14254F"/>
      </a:dk2>
      <a:lt2>
        <a:srgbClr val="F4F7F5"/>
      </a:lt2>
      <a:accent1>
        <a:srgbClr val="00703C"/>
      </a:accent1>
      <a:accent2>
        <a:srgbClr val="1F3A7A"/>
      </a:accent2>
      <a:accent3>
        <a:srgbClr val="E6F2EB"/>
      </a:accent3>
      <a:accent4>
        <a:srgbClr val="A15C00"/>
      </a:accent4>
      <a:accent5>
        <a:srgbClr val="A4262C"/>
      </a:accent5>
      <a:accent6>
        <a:srgbClr val="9FD8B8"/>
      </a:accent6>
      <a:hlink>
        <a:srgbClr val="00703C"/>
      </a:hlink>
      <a:folHlink>
        <a:srgbClr val="1F3A7A"/>
      </a:folHlink>
    </a:clrScheme>
    <a:fontScheme name="RFPIS">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27</Slides>
  <Notes>27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27</vt:i4>
      </vt:variant>
    </vt:vector>
  </HeadingPairs>
  <TitlesOfParts>
    <vt:vector size="3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RFPIS Team Training</dc:title>
  <dc:subject>PptxGenJS Presentation</dc:subject>
  <dc:creator>RFPIS</dc:creator>
  <cp:lastModifiedBy>RFPIS</cp:lastModifiedBy>
  <cp:revision>1</cp:revision>
  <dcterms:created xsi:type="dcterms:W3CDTF">2026-10-23T13:30:07Z</dcterms:created>
  <dcterms:modified xsi:type="dcterms:W3CDTF">2026-10-23T13:30:07Z</dcterms:modified>
</cp:coreProperties>
</file>